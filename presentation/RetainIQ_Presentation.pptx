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RetainIQ is a retention decision engine for subscription businesses with roughly 200 to 2,000 customers. The three numbers on the right are the whole argument of the project in one place. A gradient-boosted churn model reaches AUC 0.700 on customers it never saw (make killtest). Giving a retention offer to the top 20% it flags loses 22,823 units of value, which is worse than choosing customers at random (-17,035). Using the true treatment effects with abstention earns +8,610 on the same budget; that row is an oracle upper bound, not an achievable result, and it is labelled that way throughout. Paper DOI 10.5281/zenodo.22009470; software 10.5281/zenodo.22025879; data 10.5281/zenodo.22025123. Demo video link: see the 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matters: at 4.5% monthly voluntary churn a business keeps 0.955^12 = 57% of customers after a year, so it loses about 42%. Around 30% of churn is involuntary (failed payments). Both are the published SMB-SaaS benchmarks the simulator is calibrated to, and the calibration is enforced in CI. The quadrant is the core idea. A churn score finds people likely to leave, which mixes Persuadables with Lost Causes and Sleeping Dogs. Only Persuadables are worth paying for. Sleeping Dogs are made worse by contact. In the simulated business they make up 59.1% of the model's top predicted-risk decile against 5.3% of the bottom decile (25.7% overall), which is why risk-ranked targeting loses money. That risk targeting fails, and can raise churn, is prior work (Ascarza, JMR 2018) and is not claimed as new. The objectives are the four questions the system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(1) a billing export or the simulator; (2) preflight refuses unsafe files, for example Stripe amounts in cents, which would overstate every revenue figure 100x; (3) every fact carries occurred_at and available_at, and features only see what was available at decision time; (4) models; (5) the money layer and policy; (6) outputs and the holdout ledger. Datasets (Table 1 of the paper): Hillstrom 64,000; Criteo-UPLIFT v2.1 13,979,592; Lenta 687,029; Telco 7,043 loaded, 7,032 after cleaning; GBSG2 686; SubSim configurable. The three public RCTs have real randomised treatment, which is what allows causal evaluation; Hillstrom's two e-mail arms give four settings. SubSim exists because no public dataset contains individual ground-truth treatment effects. Sources: Hillstrom (2008); Diemert et al. (2018); scikit-uplift; IBM/Kaggle; Schumacher et al. (1994).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1: a discrete-time survival model on person-month rows, with voluntary and involuntary churn as competing risks (Allison 1982; compared with Cox 1972, Ishwaran et al. 2008, Katzman et al. 2018). Model 2: a hierarchical Bayesian conditional average treatment effect, logit P(churn) = alpha + x'beta + T(tau0 + x'gamma), so the effect on the log-odds scale is tau0 + x'gamma. The posterior is a Laplace approximation, checked against NUTS (D-053), with the shrinkage scale marginalised over a grid (Gelman et al., BDA 2013). Model 3 is the decision: convert the log-odds effect to a probability change, then to money, and treat only when the posterior probability of making money exceeds 70%. Training discipline is where most churn projects go wrong: a random split lets the model see the future. The leakage audit shows the size of that error, AUC 0.954 with leaky features against 0.603 honest (Kaufman et al. 2012). The red 'fix' is D-057: the decision rule multiplied a log-odds effect by customer value as if it were a probability. All 337 tests passed at the time because every test was a self-consistency check. The fix makes the error impossible to express: the rule now accepts money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classification metrics are computed from the kill-test model: HistGradientBoosting on 11 observable features, trained on 28,283 person-month rows before month 6 and evaluated on the 3,589 customers at month 6, which it never saw. AUC 0.700; average precision 0.118 against a 3.3% base rate, a 3.6x lift. At the threshold the policy uses (top 20% by predicted risk): TP 53, FP 665, FN 66, TN 2,805; recall 44.5%, precision 7.4%, F1 0.127. Accuracy is 79.6%, which is LOWER than the 96.7% you get by predicting that nobody churns. That is why accuracy is not reported as a headline metric: with a 3% event rate it rewards doing nothing. The strongest drivers are active seat ratio and champion departure. Survival benchmark (paper Table 6): our model's integrated Brier score 0.0824 against DeepSurv 0.0825 (a tie, not a win), Cox 0.0914, RSF 0.0964, Kaplan–Meier 0.1823. On GBSG2, the negative control with fixed covariates, our model loses, as predicted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from make killtest: with the same 20% budget, targeting by churn score loses 22,823, worse than random (-17,035); treating everyone loses 89,869 (bar truncated). The oracle rows use true effects and are upper bounds. Right, from make correlation-checks (D-074): the risk-lift correlation, which Ascarza (2018, Web Appendix A3.4) varied in a simulation, measured here from fitted models over thirty random splits of four settings from three public randomised experiments, and of a randomised trial of 60,000 simulated customers. Brackets are the 2.5th and 97.5th percentiles across splits. On the four real settings the uplift model's gain cannot be told from zero and the settings cannot be ordered. An earlier version of this table showed one split per row; the Hillstrom men's figure, +0.69, was the highest of the thirty. On the log-odds scale the real correlations are -0.46, +0.06, -0.22 and -0.05, so most of the positive correlation is the probability scale. In the simulated trial the uplift model wins on 30 of 30 splits; the simulator is configured to have a negative correlation. Bottom: at n = 500 on the real Hillstrom experiment the best of five methods beats random on 72.5% of 200 draws (exact 95% interval 66% to 79%; 84.5% at 1,000 and 95.5% at 2,000; the weakest method 62.5%), which is why win rate is reported instead of the mean. The abstention rule beats ranking on 93% of draws but does not beat doing nothing, because the break-even effect is four times the delivered effect. Against a re-implementation of Lemmens and Gupta's (2020) rule on 500 simulated pilots (make baseline, D-075) it is ahead on 78% of the draws that differ from 1,000 customers, on 26% at 250 and 47% at 500; it made money on 25 of the 139 draws on which it acted. The per-customer optimiser wins 58% of draws, CI [0.42, 0.72], which is chance. The holdout estimator is unbiased (88–98% interval coverage), but detecting the delivered lift of 0.0108 at 80% power needs about 119,500 customers with a 10% holdout (make holdout).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Screenshots are real outputs, generated by the commands named under them. The dashboard (make dashboard) runs the full Phase 5 path on a simulated tenant: a randomised multi-arm pilot, per-offer effect models, a rung per customer and a reason for each choice. It recommends contacting 142 of 472 customers and leaving 330 alone, and its first element is a warning that the engine beats one good offer on only 58% of tests. The Churn Autopsy (make sample) is the report a business receives from its own billing export; the sample is simulated and says so. The terminal shows the command-line path on a Stripe-shaped export (make demo-data): preflight blocks the raw file because Stripe amounts are cents, which would overstate revenue 100x, and runs once the units are corrected. Output is abridged. The code card is the D-057 fix: log-odds become a probability change, then money, in one function, and the decision rule accepts nothing else. CI runs four jobs on every push: the test suite on three Python versions, the calibration gates, the leakage gate and the kill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Takeaways: prediction quality and decision quality are different things; modelling the effect is not always worth its extra variance: on four public experiments, over thirty splits each, a plain model did as well (the correlation is Ascarza's, 2018; the measurement on public experiments is ours); and at small-business scale, reliability and measurability are the binding limits. Readiness is stated precisely because the evidence differs by component. Ready: the delivery path from a billing export to a report, the dashboard, and the engineering around them (tests on three Python versions, four CI gates, archived releases). Validated only on simulation and public RCTs: the survival model, the causal model with abstention and the offer ladder. Not yet demonstrated: a real client ROI figure, a policy that beats doing nothing, and an optimiser that beats one well-chosen offer. The next steps follow directly: a paying client, a live pilot with a permanent holdout, and pooling evidence across businesses because no single small business can measure the effect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PrashamJ17/PBL-Proj" TargetMode="External"/><Relationship Id="rId1"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hyperlink" Target="https://github.com/PrashamJ17/PBL-Proj" TargetMode="External"/><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3A"/>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274320"/>
          </a:xfrm>
          <a:prstGeom prst="rect">
            <a:avLst/>
          </a:prstGeom>
          <a:noFill/>
          <a:ln/>
        </p:spPr>
        <p:txBody>
          <a:bodyPr wrap="square" lIns="0" tIns="0" rIns="0" bIns="0" rtlCol="0" anchor="t"/>
          <a:lstStyle/>
          <a:p>
            <a:pPr indent="0" marL="0">
              <a:buNone/>
            </a:pPr>
            <a:r>
              <a:rPr lang="en-US" sz="1200" b="1" spc="200" kern="0" dirty="0">
                <a:solidFill>
                  <a:srgbClr val="43C6B1"/>
                </a:solidFill>
                <a:latin typeface="Calibri" pitchFamily="34" charset="0"/>
                <a:ea typeface="Calibri" pitchFamily="34" charset="-122"/>
                <a:cs typeface="Calibri" pitchFamily="34" charset="-120"/>
              </a:rPr>
              <a:t>PROJECT-BASED LEARNING  ·  B.TECH CSE  ·  V SEMESTER</a:t>
            </a:r>
            <a:endParaRPr lang="en-US" sz="1200" dirty="0"/>
          </a:p>
        </p:txBody>
      </p:sp>
      <p:sp>
        <p:nvSpPr>
          <p:cNvPr id="3" name="Text 1"/>
          <p:cNvSpPr txBox="1"/>
          <p:nvPr/>
        </p:nvSpPr>
        <p:spPr>
          <a:xfrm>
            <a:off x="548640" y="868680"/>
            <a:ext cx="7132320" cy="100584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RetainIQ</a:t>
            </a:r>
            <a:endParaRPr lang="en-US" sz="6000" dirty="0"/>
          </a:p>
        </p:txBody>
      </p:sp>
      <p:sp>
        <p:nvSpPr>
          <p:cNvPr id="4" name="Text 2"/>
          <p:cNvSpPr txBox="1"/>
          <p:nvPr/>
        </p:nvSpPr>
        <p:spPr>
          <a:xfrm>
            <a:off x="548640" y="1920240"/>
            <a:ext cx="6949440" cy="868680"/>
          </a:xfrm>
          <a:prstGeom prst="rect">
            <a:avLst/>
          </a:prstGeom>
          <a:noFill/>
          <a:ln/>
        </p:spPr>
        <p:txBody>
          <a:bodyPr wrap="square" lIns="0" tIns="0" rIns="0" bIns="0" rtlCol="0" anchor="t"/>
          <a:lstStyle/>
          <a:p>
            <a:pPr indent="0" marL="0">
              <a:buNone/>
            </a:pPr>
            <a:r>
              <a:rPr lang="en-US" sz="2200" dirty="0">
                <a:solidFill>
                  <a:srgbClr val="C9D6E3"/>
                </a:solidFill>
                <a:latin typeface="Calibri" pitchFamily="34" charset="0"/>
                <a:ea typeface="Calibri" pitchFamily="34" charset="-122"/>
                <a:cs typeface="Calibri" pitchFamily="34" charset="-120"/>
              </a:rPr>
              <a:t>Deciding who to save: causal retention decisioning for small subscription businesses</a:t>
            </a:r>
            <a:endParaRPr lang="en-US" sz="2200" dirty="0"/>
          </a:p>
        </p:txBody>
      </p:sp>
      <p:sp>
        <p:nvSpPr>
          <p:cNvPr id="5" name="Text 3"/>
          <p:cNvSpPr txBox="1"/>
          <p:nvPr/>
        </p:nvSpPr>
        <p:spPr>
          <a:xfrm>
            <a:off x="548640" y="3063240"/>
            <a:ext cx="7132320" cy="1188720"/>
          </a:xfrm>
          <a:prstGeom prst="rect">
            <a:avLst/>
          </a:prstGeom>
          <a:noFill/>
          <a:ln/>
        </p:spPr>
        <p:txBody>
          <a:bodyPr wrap="square" lIns="0" tIns="0" rIns="0" bIns="0" rtlCol="0" anchor="t"/>
          <a:lstStyle/>
          <a:p>
            <a:pPr indent="0" marL="0">
              <a:spcAft>
                <a:spcPts val="600"/>
              </a:spcAft>
              <a:buNone/>
            </a:pPr>
            <a:r>
              <a:rPr lang="en-US" sz="1600" b="1" dirty="0">
                <a:solidFill>
                  <a:srgbClr val="FFFFFF"/>
                </a:solidFill>
                <a:latin typeface="Calibri" pitchFamily="34" charset="0"/>
                <a:ea typeface="Calibri" pitchFamily="34" charset="-122"/>
                <a:cs typeface="Calibri" pitchFamily="34" charset="-120"/>
              </a:rPr>
              <a:t>Prasham Jain  ·  Reg. No. 2427030155</a:t>
            </a:r>
            <a:endParaRPr lang="en-US" sz="1600" dirty="0"/>
          </a:p>
          <a:p>
            <a:pPr indent="0" marL="0">
              <a:spcAft>
                <a:spcPts val="600"/>
              </a:spcAft>
              <a:buNone/>
            </a:pPr>
            <a:r>
              <a:rPr lang="en-US" sz="1500" dirty="0">
                <a:solidFill>
                  <a:srgbClr val="C9D6E3"/>
                </a:solidFill>
                <a:latin typeface="Calibri" pitchFamily="34" charset="0"/>
                <a:ea typeface="Calibri" pitchFamily="34" charset="-122"/>
                <a:cs typeface="Calibri" pitchFamily="34" charset="-120"/>
              </a:rPr>
              <a:t>Mentor: Dr. Rishi Gupta</a:t>
            </a:r>
            <a:endParaRPr lang="en-US" sz="1600" dirty="0"/>
          </a:p>
          <a:p>
            <a:pPr indent="0" marL="0">
              <a:spcAft>
                <a:spcPts val="600"/>
              </a:spcAft>
              <a:buNone/>
            </a:pPr>
            <a:r>
              <a:rPr lang="en-US" sz="1500" dirty="0">
                <a:solidFill>
                  <a:srgbClr val="C9D6E3"/>
                </a:solidFill>
                <a:latin typeface="Calibri" pitchFamily="34" charset="0"/>
                <a:ea typeface="Calibri" pitchFamily="34" charset="-122"/>
                <a:cs typeface="Calibri" pitchFamily="34" charset="-120"/>
              </a:rPr>
              <a:t>Department of Computer Science and Engineering, Manipal University Jaipur</a:t>
            </a:r>
            <a:endParaRPr lang="en-US" sz="1600" dirty="0"/>
          </a:p>
        </p:txBody>
      </p:sp>
      <p:sp>
        <p:nvSpPr>
          <p:cNvPr id="6" name="Shape 4"/>
          <p:cNvSpPr/>
          <p:nvPr/>
        </p:nvSpPr>
        <p:spPr>
          <a:xfrm>
            <a:off x="548640" y="4617720"/>
            <a:ext cx="3017520" cy="585216"/>
          </a:xfrm>
          <a:prstGeom prst="roundRect">
            <a:avLst>
              <a:gd name="adj" fmla="val 12500"/>
            </a:avLst>
          </a:prstGeom>
          <a:solidFill>
            <a:srgbClr val="0F9D8A"/>
          </a:solidFill>
          <a:ln/>
        </p:spPr>
      </p:sp>
      <p:pic>
        <p:nvPicPr>
          <p:cNvPr id="7" name="Image 0" descr="preencoded.png">    </p:cNvPr>
          <p:cNvPicPr>
            <a:picLocks noChangeAspect="1"/>
          </p:cNvPicPr>
          <p:nvPr/>
        </p:nvPicPr>
        <p:blipFill>
          <a:blip r:embed="rId1"/>
          <a:stretch>
            <a:fillRect/>
          </a:stretch>
        </p:blipFill>
        <p:spPr>
          <a:xfrm>
            <a:off x="777240" y="4782312"/>
            <a:ext cx="256032" cy="256032"/>
          </a:xfrm>
          <a:prstGeom prst="rect">
            <a:avLst/>
          </a:prstGeom>
        </p:spPr>
      </p:pic>
      <p:sp>
        <p:nvSpPr>
          <p:cNvPr id="8" name="Text 5"/>
          <p:cNvSpPr txBox="1"/>
          <p:nvPr/>
        </p:nvSpPr>
        <p:spPr>
          <a:xfrm>
            <a:off x="1170432" y="4617720"/>
            <a:ext cx="2331720" cy="58521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Watch the demo video</a:t>
            </a:r>
            <a:endParaRPr lang="en-US" sz="1600" dirty="0"/>
          </a:p>
        </p:txBody>
      </p:sp>
      <p:sp>
        <p:nvSpPr>
          <p:cNvPr id="9" name="Text 6"/>
          <p:cNvSpPr txBox="1"/>
          <p:nvPr/>
        </p:nvSpPr>
        <p:spPr>
          <a:xfrm>
            <a:off x="3749040" y="4617720"/>
            <a:ext cx="4023360" cy="585216"/>
          </a:xfrm>
          <a:prstGeom prst="rect">
            <a:avLst/>
          </a:prstGeom>
          <a:noFill/>
          <a:ln/>
        </p:spPr>
        <p:txBody>
          <a:bodyPr wrap="square" lIns="0" tIns="0" rIns="0" bIns="0" rtlCol="0" anchor="ctr"/>
          <a:lstStyle/>
          <a:p>
            <a:pPr indent="0" marL="0">
              <a:buNone/>
            </a:pPr>
            <a:r>
              <a:rPr lang="en-US" sz="1300" i="1" dirty="0">
                <a:solidFill>
                  <a:srgbClr val="F2A541"/>
                </a:solidFill>
                <a:latin typeface="Calibri" pitchFamily="34" charset="0"/>
                <a:ea typeface="Calibri" pitchFamily="34" charset="-122"/>
                <a:cs typeface="Calibri" pitchFamily="34" charset="-120"/>
              </a:rPr>
              <a:t>Paste the Google Drive link here</a:t>
            </a:r>
            <a:endParaRPr lang="en-US" sz="1300" dirty="0"/>
          </a:p>
        </p:txBody>
      </p:sp>
      <p:sp>
        <p:nvSpPr>
          <p:cNvPr id="10" name="Text 7"/>
          <p:cNvSpPr txBox="1"/>
          <p:nvPr/>
        </p:nvSpPr>
        <p:spPr>
          <a:xfrm>
            <a:off x="548640" y="5623560"/>
            <a:ext cx="7498080" cy="640080"/>
          </a:xfrm>
          <a:prstGeom prst="rect">
            <a:avLst/>
          </a:prstGeom>
          <a:noFill/>
          <a:ln/>
        </p:spPr>
        <p:txBody>
          <a:bodyPr wrap="square" lIns="0" tIns="0" rIns="0" bIns="0" rtlCol="0" anchor="t"/>
          <a:lstStyle/>
          <a:p>
            <a:pPr indent="0" marL="0">
              <a:spcAft>
                <a:spcPts val="400"/>
              </a:spcAft>
              <a:buNone/>
            </a:pPr>
            <a:r>
              <a:rPr lang="en-US" sz="1150" dirty="0">
                <a:solidFill>
                  <a:srgbClr val="8FA3B8"/>
                </a:solidFill>
                <a:latin typeface="Calibri" pitchFamily="34" charset="0"/>
                <a:ea typeface="Calibri" pitchFamily="34" charset="-122"/>
                <a:cs typeface="Calibri" pitchFamily="34" charset="-120"/>
              </a:rPr>
              <a:t>Code  </a:t>
            </a:r>
            <a:pPr indent="0" marL="0">
              <a:spcAft>
                <a:spcPts val="400"/>
              </a:spcAft>
              <a:buNone/>
            </a:pPr>
            <a:r>
              <a:rPr lang="en-US" sz="1150" u="sng" dirty="0">
                <a:solidFill>
                  <a:srgbClr val="C9D6E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github.com/PrashamJ17/PBL-Proj</a:t>
            </a:r>
            <a:endParaRPr lang="en-US" sz="1150" dirty="0"/>
          </a:p>
          <a:p>
            <a:pPr indent="0" marL="0">
              <a:spcAft>
                <a:spcPts val="400"/>
              </a:spcAft>
              <a:buNone/>
            </a:pPr>
            <a:r>
              <a:rPr lang="en-US" sz="1150" dirty="0">
                <a:solidFill>
                  <a:srgbClr val="8FA3B8"/>
                </a:solidFill>
                <a:latin typeface="Calibri" pitchFamily="34" charset="0"/>
                <a:ea typeface="Calibri" pitchFamily="34" charset="-122"/>
                <a:cs typeface="Calibri" pitchFamily="34" charset="-120"/>
              </a:rPr>
              <a:t>DOIs  </a:t>
            </a:r>
            <a:pPr indent="0" marL="0">
              <a:spcAft>
                <a:spcPts val="400"/>
              </a:spcAft>
              <a:buNone/>
            </a:pPr>
            <a:r>
              <a:rPr lang="en-US" sz="1150" dirty="0">
                <a:solidFill>
                  <a:srgbClr val="C9D6E3"/>
                </a:solidFill>
                <a:latin typeface="Calibri" pitchFamily="34" charset="0"/>
                <a:ea typeface="Calibri" pitchFamily="34" charset="-122"/>
                <a:cs typeface="Calibri" pitchFamily="34" charset="-120"/>
              </a:rPr>
              <a:t>paper 10.5281/zenodo.22009470  ·  software 10.5281/zenodo.22025879  ·  data 10.5281/zenodo.22025123</a:t>
            </a:r>
            <a:endParaRPr lang="en-US" sz="1150" dirty="0"/>
          </a:p>
        </p:txBody>
      </p:sp>
      <p:sp>
        <p:nvSpPr>
          <p:cNvPr id="11" name="Shape 8"/>
          <p:cNvSpPr/>
          <p:nvPr/>
        </p:nvSpPr>
        <p:spPr>
          <a:xfrm>
            <a:off x="8092440" y="868680"/>
            <a:ext cx="3566160" cy="1417320"/>
          </a:xfrm>
          <a:prstGeom prst="roundRect">
            <a:avLst>
              <a:gd name="adj" fmla="val 5161"/>
            </a:avLst>
          </a:prstGeom>
          <a:solidFill>
            <a:srgbClr val="1D3651"/>
          </a:solidFill>
          <a:ln/>
        </p:spPr>
      </p:sp>
      <p:sp>
        <p:nvSpPr>
          <p:cNvPr id="12" name="Text 9"/>
          <p:cNvSpPr txBox="1"/>
          <p:nvPr/>
        </p:nvSpPr>
        <p:spPr>
          <a:xfrm>
            <a:off x="8366760" y="1033272"/>
            <a:ext cx="3108960" cy="658368"/>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0.700</a:t>
            </a:r>
            <a:endParaRPr lang="en-US" sz="3600" dirty="0"/>
          </a:p>
        </p:txBody>
      </p:sp>
      <p:sp>
        <p:nvSpPr>
          <p:cNvPr id="13" name="Text 10"/>
          <p:cNvSpPr txBox="1"/>
          <p:nvPr/>
        </p:nvSpPr>
        <p:spPr>
          <a:xfrm>
            <a:off x="8366760" y="1691640"/>
            <a:ext cx="3154680" cy="502920"/>
          </a:xfrm>
          <a:prstGeom prst="rect">
            <a:avLst/>
          </a:prstGeom>
          <a:noFill/>
          <a:ln/>
        </p:spPr>
        <p:txBody>
          <a:bodyPr wrap="square" lIns="0" tIns="0" rIns="0" bIns="0" rtlCol="0" anchor="t"/>
          <a:lstStyle/>
          <a:p>
            <a:pPr indent="0" marL="0">
              <a:buNone/>
            </a:pPr>
            <a:r>
              <a:rPr lang="en-US" sz="1250" dirty="0">
                <a:solidFill>
                  <a:srgbClr val="C9D6E3"/>
                </a:solidFill>
                <a:latin typeface="Calibri" pitchFamily="34" charset="0"/>
                <a:ea typeface="Calibri" pitchFamily="34" charset="-122"/>
                <a:cs typeface="Calibri" pitchFamily="34" charset="-120"/>
              </a:rPr>
              <a:t>AUC of the churn model on customers it had never seen</a:t>
            </a:r>
            <a:endParaRPr lang="en-US" sz="1250" dirty="0"/>
          </a:p>
        </p:txBody>
      </p:sp>
      <p:sp>
        <p:nvSpPr>
          <p:cNvPr id="14" name="Shape 11"/>
          <p:cNvSpPr/>
          <p:nvPr/>
        </p:nvSpPr>
        <p:spPr>
          <a:xfrm>
            <a:off x="8092440" y="2441448"/>
            <a:ext cx="3566160" cy="1417320"/>
          </a:xfrm>
          <a:prstGeom prst="roundRect">
            <a:avLst>
              <a:gd name="adj" fmla="val 5161"/>
            </a:avLst>
          </a:prstGeom>
          <a:solidFill>
            <a:srgbClr val="1D3651"/>
          </a:solidFill>
          <a:ln/>
        </p:spPr>
      </p:sp>
      <p:sp>
        <p:nvSpPr>
          <p:cNvPr id="15" name="Text 12"/>
          <p:cNvSpPr txBox="1"/>
          <p:nvPr/>
        </p:nvSpPr>
        <p:spPr>
          <a:xfrm>
            <a:off x="8366760" y="2606040"/>
            <a:ext cx="3108960" cy="658368"/>
          </a:xfrm>
          <a:prstGeom prst="rect">
            <a:avLst/>
          </a:prstGeom>
          <a:noFill/>
          <a:ln/>
        </p:spPr>
        <p:txBody>
          <a:bodyPr wrap="square" lIns="0" tIns="0" rIns="0" bIns="0" rtlCol="0" anchor="ctr"/>
          <a:lstStyle/>
          <a:p>
            <a:pPr indent="0" marL="0">
              <a:buNone/>
            </a:pPr>
            <a:r>
              <a:rPr lang="en-US" sz="3600" b="1" dirty="0">
                <a:solidFill>
                  <a:srgbClr val="FF8A66"/>
                </a:solidFill>
                <a:latin typeface="Cambria" pitchFamily="34" charset="0"/>
                <a:ea typeface="Cambria" pitchFamily="34" charset="-122"/>
                <a:cs typeface="Cambria" pitchFamily="34" charset="-120"/>
              </a:rPr>
              <a:t>−22,823</a:t>
            </a:r>
            <a:endParaRPr lang="en-US" sz="3600" dirty="0"/>
          </a:p>
        </p:txBody>
      </p:sp>
      <p:sp>
        <p:nvSpPr>
          <p:cNvPr id="16" name="Text 13"/>
          <p:cNvSpPr txBox="1"/>
          <p:nvPr/>
        </p:nvSpPr>
        <p:spPr>
          <a:xfrm>
            <a:off x="8366760" y="3264408"/>
            <a:ext cx="3154680" cy="502920"/>
          </a:xfrm>
          <a:prstGeom prst="rect">
            <a:avLst/>
          </a:prstGeom>
          <a:noFill/>
          <a:ln/>
        </p:spPr>
        <p:txBody>
          <a:bodyPr wrap="square" lIns="0" tIns="0" rIns="0" bIns="0" rtlCol="0" anchor="t"/>
          <a:lstStyle/>
          <a:p>
            <a:pPr indent="0" marL="0">
              <a:buNone/>
            </a:pPr>
            <a:r>
              <a:rPr lang="en-US" sz="1250" dirty="0">
                <a:solidFill>
                  <a:srgbClr val="C9D6E3"/>
                </a:solidFill>
                <a:latin typeface="Calibri" pitchFamily="34" charset="0"/>
                <a:ea typeface="Calibri" pitchFamily="34" charset="-122"/>
                <a:cs typeface="Calibri" pitchFamily="34" charset="-120"/>
              </a:rPr>
              <a:t>value lost by giving an offer to that model's top 20%</a:t>
            </a:r>
            <a:endParaRPr lang="en-US" sz="1250" dirty="0"/>
          </a:p>
        </p:txBody>
      </p:sp>
      <p:sp>
        <p:nvSpPr>
          <p:cNvPr id="17" name="Shape 14"/>
          <p:cNvSpPr/>
          <p:nvPr/>
        </p:nvSpPr>
        <p:spPr>
          <a:xfrm>
            <a:off x="8092440" y="4014216"/>
            <a:ext cx="3566160" cy="1417320"/>
          </a:xfrm>
          <a:prstGeom prst="roundRect">
            <a:avLst>
              <a:gd name="adj" fmla="val 5161"/>
            </a:avLst>
          </a:prstGeom>
          <a:solidFill>
            <a:srgbClr val="1D3651"/>
          </a:solidFill>
          <a:ln/>
        </p:spPr>
      </p:sp>
      <p:sp>
        <p:nvSpPr>
          <p:cNvPr id="18" name="Text 15"/>
          <p:cNvSpPr txBox="1"/>
          <p:nvPr/>
        </p:nvSpPr>
        <p:spPr>
          <a:xfrm>
            <a:off x="8366760" y="4178808"/>
            <a:ext cx="3108960" cy="658368"/>
          </a:xfrm>
          <a:prstGeom prst="rect">
            <a:avLst/>
          </a:prstGeom>
          <a:noFill/>
          <a:ln/>
        </p:spPr>
        <p:txBody>
          <a:bodyPr wrap="square" lIns="0" tIns="0" rIns="0" bIns="0" rtlCol="0" anchor="ctr"/>
          <a:lstStyle/>
          <a:p>
            <a:pPr indent="0" marL="0">
              <a:buNone/>
            </a:pPr>
            <a:r>
              <a:rPr lang="en-US" sz="3600" b="1" dirty="0">
                <a:solidFill>
                  <a:srgbClr val="43C6B1"/>
                </a:solidFill>
                <a:latin typeface="Cambria" pitchFamily="34" charset="0"/>
                <a:ea typeface="Cambria" pitchFamily="34" charset="-122"/>
                <a:cs typeface="Cambria" pitchFamily="34" charset="-120"/>
              </a:rPr>
              <a:t>+8,610</a:t>
            </a:r>
            <a:endParaRPr lang="en-US" sz="3600" dirty="0"/>
          </a:p>
        </p:txBody>
      </p:sp>
      <p:sp>
        <p:nvSpPr>
          <p:cNvPr id="19" name="Text 16"/>
          <p:cNvSpPr txBox="1"/>
          <p:nvPr/>
        </p:nvSpPr>
        <p:spPr>
          <a:xfrm>
            <a:off x="8366760" y="4837176"/>
            <a:ext cx="3154680" cy="502920"/>
          </a:xfrm>
          <a:prstGeom prst="rect">
            <a:avLst/>
          </a:prstGeom>
          <a:noFill/>
          <a:ln/>
        </p:spPr>
        <p:txBody>
          <a:bodyPr wrap="square" lIns="0" tIns="0" rIns="0" bIns="0" rtlCol="0" anchor="t"/>
          <a:lstStyle/>
          <a:p>
            <a:pPr indent="0" marL="0">
              <a:buNone/>
            </a:pPr>
            <a:r>
              <a:rPr lang="en-US" sz="1250" dirty="0">
                <a:solidFill>
                  <a:srgbClr val="C9D6E3"/>
                </a:solidFill>
                <a:latin typeface="Calibri" pitchFamily="34" charset="0"/>
                <a:ea typeface="Calibri" pitchFamily="34" charset="-122"/>
                <a:cs typeface="Calibri" pitchFamily="34" charset="-120"/>
              </a:rPr>
              <a:t>same data: causal targeting that abstains (oracle upper bound)</a:t>
            </a:r>
            <a:endParaRPr lang="en-US" sz="1250" dirty="0"/>
          </a:p>
        </p:txBody>
      </p:sp>
      <p:sp>
        <p:nvSpPr>
          <p:cNvPr id="20" name="Text 17"/>
          <p:cNvSpPr txBox="1"/>
          <p:nvPr/>
        </p:nvSpPr>
        <p:spPr>
          <a:xfrm>
            <a:off x="8092440" y="5623560"/>
            <a:ext cx="3566160" cy="502920"/>
          </a:xfrm>
          <a:prstGeom prst="rect">
            <a:avLst/>
          </a:prstGeom>
          <a:noFill/>
          <a:ln/>
        </p:spPr>
        <p:txBody>
          <a:bodyPr wrap="square" lIns="0" tIns="0" rIns="0" bIns="0" rtlCol="0" anchor="t"/>
          <a:lstStyle/>
          <a:p>
            <a:pPr indent="0" marL="0">
              <a:buNone/>
            </a:pPr>
            <a:r>
              <a:rPr lang="en-US" sz="1050" i="1" dirty="0">
                <a:solidFill>
                  <a:srgbClr val="8FA3B8"/>
                </a:solidFill>
                <a:latin typeface="Calibri" pitchFamily="34" charset="0"/>
                <a:ea typeface="Calibri" pitchFamily="34" charset="-122"/>
                <a:cs typeface="Calibri" pitchFamily="34" charset="-120"/>
              </a:rPr>
              <a:t>Simulated subscription business, 3,589 customers; the loss holds on 6 of 6 seeds.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274320"/>
          </a:xfrm>
          <a:prstGeom prst="rect">
            <a:avLst/>
          </a:prstGeom>
          <a:noFill/>
          <a:ln/>
        </p:spPr>
        <p:txBody>
          <a:bodyPr wrap="square" lIns="0" tIns="0" rIns="0" bIns="0" rtlCol="0" anchor="t"/>
          <a:lstStyle/>
          <a:p>
            <a:pPr indent="0" marL="0">
              <a:buNone/>
            </a:pPr>
            <a:r>
              <a:rPr lang="en-US" sz="1100" b="1" spc="200" kern="0" dirty="0">
                <a:solidFill>
                  <a:srgbClr val="0F9D8A"/>
                </a:solidFill>
                <a:latin typeface="Calibri" pitchFamily="34" charset="0"/>
                <a:ea typeface="Calibri" pitchFamily="34" charset="-122"/>
                <a:cs typeface="Calibri" pitchFamily="34" charset="-120"/>
              </a:rPr>
              <a:t>01  ·  CONTEXT AND OBJECTIVES</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ctr"/>
          <a:lstStyle/>
          <a:p>
            <a:pPr indent="0" marL="0">
              <a:buNone/>
            </a:pPr>
            <a:r>
              <a:rPr lang="en-US" sz="3000" b="1" dirty="0">
                <a:solidFill>
                  <a:srgbClr val="12263A"/>
                </a:solidFill>
                <a:latin typeface="Cambria" pitchFamily="34" charset="0"/>
                <a:ea typeface="Cambria" pitchFamily="34" charset="-122"/>
                <a:cs typeface="Cambria" pitchFamily="34" charset="-120"/>
              </a:rPr>
              <a:t>Why churn prediction is the wrong question</a:t>
            </a:r>
            <a:endParaRPr lang="en-US" sz="3000" dirty="0"/>
          </a:p>
        </p:txBody>
      </p:sp>
      <p:sp>
        <p:nvSpPr>
          <p:cNvPr id="4" name="Text 2"/>
          <p:cNvSpPr txBox="1"/>
          <p:nvPr/>
        </p:nvSpPr>
        <p:spPr>
          <a:xfrm>
            <a:off x="548640" y="1325880"/>
            <a:ext cx="2468880" cy="685800"/>
          </a:xfrm>
          <a:prstGeom prst="rect">
            <a:avLst/>
          </a:prstGeom>
          <a:noFill/>
          <a:ln/>
        </p:spPr>
        <p:txBody>
          <a:bodyPr wrap="square" lIns="0" tIns="0" rIns="0" bIns="0" rtlCol="0" anchor="ctr"/>
          <a:lstStyle/>
          <a:p>
            <a:pPr indent="0" marL="0">
              <a:buNone/>
            </a:pPr>
            <a:r>
              <a:rPr lang="en-US" sz="4000" b="1" dirty="0">
                <a:solidFill>
                  <a:srgbClr val="12263A"/>
                </a:solidFill>
                <a:latin typeface="Cambria" pitchFamily="34" charset="0"/>
                <a:ea typeface="Cambria" pitchFamily="34" charset="-122"/>
                <a:cs typeface="Cambria" pitchFamily="34" charset="-120"/>
              </a:rPr>
              <a:t>~42%</a:t>
            </a:r>
            <a:endParaRPr lang="en-US" sz="4000" dirty="0"/>
          </a:p>
        </p:txBody>
      </p:sp>
      <p:sp>
        <p:nvSpPr>
          <p:cNvPr id="5" name="Text 3"/>
          <p:cNvSpPr txBox="1"/>
          <p:nvPr/>
        </p:nvSpPr>
        <p:spPr>
          <a:xfrm>
            <a:off x="548640" y="2011680"/>
            <a:ext cx="2697480" cy="731520"/>
          </a:xfrm>
          <a:prstGeom prst="rect">
            <a:avLst/>
          </a:prstGeom>
          <a:noFill/>
          <a:ln/>
        </p:spPr>
        <p:txBody>
          <a:bodyPr wrap="square" lIns="0" tIns="0" rIns="0" bIns="0" rtlCol="0" anchor="t"/>
          <a:lstStyle/>
          <a:p>
            <a:pPr indent="0" marL="0">
              <a:buNone/>
            </a:pPr>
            <a:r>
              <a:rPr lang="en-US" sz="1200" dirty="0">
                <a:solidFill>
                  <a:srgbClr val="5F6F80"/>
                </a:solidFill>
                <a:latin typeface="Calibri" pitchFamily="34" charset="0"/>
                <a:ea typeface="Calibri" pitchFamily="34" charset="-122"/>
                <a:cs typeface="Calibri" pitchFamily="34" charset="-120"/>
              </a:rPr>
              <a:t>of customers lost in a year at 4.5% monthly voluntary churn, the benchmark SubSim is calibrated to</a:t>
            </a:r>
            <a:endParaRPr lang="en-US" sz="1200" dirty="0"/>
          </a:p>
        </p:txBody>
      </p:sp>
      <p:sp>
        <p:nvSpPr>
          <p:cNvPr id="6" name="Text 4"/>
          <p:cNvSpPr txBox="1"/>
          <p:nvPr/>
        </p:nvSpPr>
        <p:spPr>
          <a:xfrm>
            <a:off x="3520440" y="1325880"/>
            <a:ext cx="2468880" cy="685800"/>
          </a:xfrm>
          <a:prstGeom prst="rect">
            <a:avLst/>
          </a:prstGeom>
          <a:noFill/>
          <a:ln/>
        </p:spPr>
        <p:txBody>
          <a:bodyPr wrap="square" lIns="0" tIns="0" rIns="0" bIns="0" rtlCol="0" anchor="ctr"/>
          <a:lstStyle/>
          <a:p>
            <a:pPr indent="0" marL="0">
              <a:buNone/>
            </a:pPr>
            <a:r>
              <a:rPr lang="en-US" sz="4000" b="1" dirty="0">
                <a:solidFill>
                  <a:srgbClr val="12263A"/>
                </a:solidFill>
                <a:latin typeface="Cambria" pitchFamily="34" charset="0"/>
                <a:ea typeface="Cambria" pitchFamily="34" charset="-122"/>
                <a:cs typeface="Cambria" pitchFamily="34" charset="-120"/>
              </a:rPr>
              <a:t>30%</a:t>
            </a:r>
            <a:endParaRPr lang="en-US" sz="4000" dirty="0"/>
          </a:p>
        </p:txBody>
      </p:sp>
      <p:sp>
        <p:nvSpPr>
          <p:cNvPr id="7" name="Text 5"/>
          <p:cNvSpPr txBox="1"/>
          <p:nvPr/>
        </p:nvSpPr>
        <p:spPr>
          <a:xfrm>
            <a:off x="3520440" y="2011680"/>
            <a:ext cx="2697480" cy="731520"/>
          </a:xfrm>
          <a:prstGeom prst="rect">
            <a:avLst/>
          </a:prstGeom>
          <a:noFill/>
          <a:ln/>
        </p:spPr>
        <p:txBody>
          <a:bodyPr wrap="square" lIns="0" tIns="0" rIns="0" bIns="0" rtlCol="0" anchor="t"/>
          <a:lstStyle/>
          <a:p>
            <a:pPr indent="0" marL="0">
              <a:buNone/>
            </a:pPr>
            <a:r>
              <a:rPr lang="en-US" sz="1200" dirty="0">
                <a:solidFill>
                  <a:srgbClr val="5F6F80"/>
                </a:solidFill>
                <a:latin typeface="Calibri" pitchFamily="34" charset="0"/>
                <a:ea typeface="Calibri" pitchFamily="34" charset="-122"/>
                <a:cs typeface="Calibri" pitchFamily="34" charset="-120"/>
              </a:rPr>
              <a:t>of all churn is involuntary: failed payments, not a customer's decision</a:t>
            </a:r>
            <a:endParaRPr lang="en-US" sz="1200" dirty="0"/>
          </a:p>
        </p:txBody>
      </p:sp>
      <p:sp>
        <p:nvSpPr>
          <p:cNvPr id="8" name="Text 6"/>
          <p:cNvSpPr txBox="1"/>
          <p:nvPr/>
        </p:nvSpPr>
        <p:spPr>
          <a:xfrm>
            <a:off x="548640" y="2880360"/>
            <a:ext cx="5715000" cy="1600200"/>
          </a:xfrm>
          <a:prstGeom prst="rect">
            <a:avLst/>
          </a:prstGeom>
          <a:noFill/>
          <a:ln/>
        </p:spPr>
        <p:txBody>
          <a:bodyPr wrap="square" lIns="0" tIns="0" rIns="0" bIns="0" rtlCol="0" anchor="t"/>
          <a:lstStyle/>
          <a:p>
            <a:pPr indent="0" marL="0">
              <a:spcAft>
                <a:spcPts val="400"/>
              </a:spcAft>
              <a:buNone/>
            </a:pPr>
            <a:r>
              <a:rPr lang="en-US" sz="1500" b="1" dirty="0">
                <a:solidFill>
                  <a:srgbClr val="12263A"/>
                </a:solidFill>
                <a:latin typeface="Calibri" pitchFamily="34" charset="0"/>
                <a:ea typeface="Calibri" pitchFamily="34" charset="-122"/>
                <a:cs typeface="Calibri" pitchFamily="34" charset="-120"/>
              </a:rPr>
              <a:t>What most tools do</a:t>
            </a:r>
            <a:endParaRPr lang="en-US" sz="1500" dirty="0"/>
          </a:p>
          <a:p>
            <a:pPr indent="0" marL="0">
              <a:spcAft>
                <a:spcPts val="400"/>
              </a:spcAft>
              <a:buNone/>
            </a:pPr>
            <a:r>
              <a:rPr lang="en-US" sz="1350" dirty="0">
                <a:solidFill>
                  <a:srgbClr val="1B2733"/>
                </a:solidFill>
                <a:latin typeface="Calibri" pitchFamily="34" charset="0"/>
                <a:ea typeface="Calibri" pitchFamily="34" charset="-122"/>
                <a:cs typeface="Calibri" pitchFamily="34" charset="-120"/>
              </a:rPr>
              <a:t>Score every customer's churn risk, then send the riskiest ones a discount.</a:t>
            </a:r>
            <a:endParaRPr lang="en-US" sz="1500" dirty="0"/>
          </a:p>
          <a:p>
            <a:pPr indent="0" marL="0">
              <a:spcAft>
                <a:spcPts val="400"/>
              </a:spcAft>
              <a:buNone/>
            </a:pPr>
            <a:r>
              <a:rPr lang="en-US" sz="1500" b="1" dirty="0">
                <a:solidFill>
                  <a:srgbClr val="12263A"/>
                </a:solidFill>
                <a:latin typeface="Calibri" pitchFamily="34" charset="0"/>
                <a:ea typeface="Calibri" pitchFamily="34" charset="-122"/>
                <a:cs typeface="Calibri" pitchFamily="34" charset="-120"/>
              </a:rPr>
              <a:t>Why that fails</a:t>
            </a:r>
            <a:endParaRPr lang="en-US" sz="1500" dirty="0"/>
          </a:p>
          <a:p>
            <a:pPr indent="0" marL="0">
              <a:spcAft>
                <a:spcPts val="400"/>
              </a:spcAft>
              <a:buNone/>
            </a:pPr>
            <a:r>
              <a:rPr lang="en-US" sz="1350" dirty="0">
                <a:solidFill>
                  <a:srgbClr val="1B2733"/>
                </a:solidFill>
                <a:latin typeface="Calibri" pitchFamily="34" charset="0"/>
                <a:ea typeface="Calibri" pitchFamily="34" charset="-122"/>
                <a:cs typeface="Calibri" pitchFamily="34" charset="-120"/>
              </a:rPr>
              <a:t>Risk is not responsiveness. In field experiments, contact has raised churn (Ascarza et al., 2016; Ascarza, 2018): an offer can remind a dormant payer to cancel.</a:t>
            </a:r>
            <a:endParaRPr lang="en-US" sz="1500" dirty="0"/>
          </a:p>
        </p:txBody>
      </p:sp>
      <p:sp>
        <p:nvSpPr>
          <p:cNvPr id="9" name="Text 7"/>
          <p:cNvSpPr txBox="1"/>
          <p:nvPr/>
        </p:nvSpPr>
        <p:spPr>
          <a:xfrm>
            <a:off x="548640" y="4572000"/>
            <a:ext cx="5669280" cy="292608"/>
          </a:xfrm>
          <a:prstGeom prst="rect">
            <a:avLst/>
          </a:prstGeom>
          <a:noFill/>
          <a:ln/>
        </p:spPr>
        <p:txBody>
          <a:bodyPr wrap="square" lIns="0" tIns="0" rIns="0" bIns="0" rtlCol="0" anchor="t"/>
          <a:lstStyle/>
          <a:p>
            <a:pPr indent="0" marL="0">
              <a:buNone/>
            </a:pPr>
            <a:r>
              <a:rPr lang="en-US" sz="1500" b="1" dirty="0">
                <a:solidFill>
                  <a:srgbClr val="12263A"/>
                </a:solidFill>
                <a:latin typeface="Calibri" pitchFamily="34" charset="0"/>
                <a:ea typeface="Calibri" pitchFamily="34" charset="-122"/>
                <a:cs typeface="Calibri" pitchFamily="34" charset="-120"/>
              </a:rPr>
              <a:t>Project objectives</a:t>
            </a:r>
            <a:endParaRPr lang="en-US" sz="1500" dirty="0"/>
          </a:p>
        </p:txBody>
      </p:sp>
      <p:sp>
        <p:nvSpPr>
          <p:cNvPr id="10" name="Shape 8"/>
          <p:cNvSpPr/>
          <p:nvPr/>
        </p:nvSpPr>
        <p:spPr>
          <a:xfrm>
            <a:off x="548640" y="4992624"/>
            <a:ext cx="420624" cy="420624"/>
          </a:xfrm>
          <a:prstGeom prst="ellipse">
            <a:avLst/>
          </a:prstGeom>
          <a:solidFill>
            <a:srgbClr val="12263A"/>
          </a:solidFill>
          <a:ln/>
        </p:spPr>
      </p:sp>
      <p:pic>
        <p:nvPicPr>
          <p:cNvPr id="11" name="Image 0" descr="preencoded.png">    </p:cNvPr>
          <p:cNvPicPr>
            <a:picLocks noChangeAspect="1"/>
          </p:cNvPicPr>
          <p:nvPr/>
        </p:nvPicPr>
        <p:blipFill>
          <a:blip r:embed="rId1"/>
          <a:stretch>
            <a:fillRect/>
          </a:stretch>
        </p:blipFill>
        <p:spPr>
          <a:xfrm>
            <a:off x="653796" y="5097780"/>
            <a:ext cx="210312" cy="210312"/>
          </a:xfrm>
          <a:prstGeom prst="rect">
            <a:avLst/>
          </a:prstGeom>
        </p:spPr>
      </p:pic>
      <p:sp>
        <p:nvSpPr>
          <p:cNvPr id="12" name="Text 9"/>
          <p:cNvSpPr txBox="1"/>
          <p:nvPr/>
        </p:nvSpPr>
        <p:spPr>
          <a:xfrm>
            <a:off x="1097280" y="4956048"/>
            <a:ext cx="2286000" cy="274320"/>
          </a:xfrm>
          <a:prstGeom prst="rect">
            <a:avLst/>
          </a:prstGeom>
          <a:noFill/>
          <a:ln/>
        </p:spPr>
        <p:txBody>
          <a:bodyPr wrap="square" lIns="0" tIns="0" rIns="0" bIns="0" rtlCol="0" anchor="t"/>
          <a:lstStyle/>
          <a:p>
            <a:pPr indent="0" marL="0">
              <a:buNone/>
            </a:pPr>
            <a:r>
              <a:rPr lang="en-US" sz="1350" b="1" dirty="0">
                <a:solidFill>
                  <a:srgbClr val="12263A"/>
                </a:solidFill>
                <a:latin typeface="Calibri" pitchFamily="34" charset="0"/>
                <a:ea typeface="Calibri" pitchFamily="34" charset="-122"/>
                <a:cs typeface="Calibri" pitchFamily="34" charset="-120"/>
              </a:rPr>
              <a:t>Who to treat</a:t>
            </a:r>
            <a:endParaRPr lang="en-US" sz="1350" dirty="0"/>
          </a:p>
        </p:txBody>
      </p:sp>
      <p:sp>
        <p:nvSpPr>
          <p:cNvPr id="13" name="Text 10"/>
          <p:cNvSpPr txBox="1"/>
          <p:nvPr/>
        </p:nvSpPr>
        <p:spPr>
          <a:xfrm>
            <a:off x="1097280" y="5230368"/>
            <a:ext cx="2331720" cy="320040"/>
          </a:xfrm>
          <a:prstGeom prst="rect">
            <a:avLst/>
          </a:prstGeom>
          <a:noFill/>
          <a:ln/>
        </p:spPr>
        <p:txBody>
          <a:bodyPr wrap="square" lIns="0" tIns="0" rIns="0" bIns="0" rtlCol="0" anchor="t"/>
          <a:lstStyle/>
          <a:p>
            <a:pPr indent="0" marL="0">
              <a:buNone/>
            </a:pPr>
            <a:r>
              <a:rPr lang="en-US" sz="1150" dirty="0">
                <a:solidFill>
                  <a:srgbClr val="5F6F80"/>
                </a:solidFill>
                <a:latin typeface="Calibri" pitchFamily="34" charset="0"/>
                <a:ea typeface="Calibri" pitchFamily="34" charset="-122"/>
                <a:cs typeface="Calibri" pitchFamily="34" charset="-120"/>
              </a:rPr>
              <a:t>rank by the offer's effect, not by risk</a:t>
            </a:r>
            <a:endParaRPr lang="en-US" sz="1150" dirty="0"/>
          </a:p>
        </p:txBody>
      </p:sp>
      <p:sp>
        <p:nvSpPr>
          <p:cNvPr id="14" name="Shape 11"/>
          <p:cNvSpPr/>
          <p:nvPr/>
        </p:nvSpPr>
        <p:spPr>
          <a:xfrm>
            <a:off x="3474720" y="4992624"/>
            <a:ext cx="420624" cy="420624"/>
          </a:xfrm>
          <a:prstGeom prst="ellipse">
            <a:avLst/>
          </a:prstGeom>
          <a:solidFill>
            <a:srgbClr val="12263A"/>
          </a:solidFill>
          <a:ln/>
        </p:spPr>
      </p:sp>
      <p:pic>
        <p:nvPicPr>
          <p:cNvPr id="15" name="Image 1" descr="preencoded.png">    </p:cNvPr>
          <p:cNvPicPr>
            <a:picLocks noChangeAspect="1"/>
          </p:cNvPicPr>
          <p:nvPr/>
        </p:nvPicPr>
        <p:blipFill>
          <a:blip r:embed="rId2"/>
          <a:stretch>
            <a:fillRect/>
          </a:stretch>
        </p:blipFill>
        <p:spPr>
          <a:xfrm>
            <a:off x="3579876" y="5097780"/>
            <a:ext cx="210312" cy="210312"/>
          </a:xfrm>
          <a:prstGeom prst="rect">
            <a:avLst/>
          </a:prstGeom>
        </p:spPr>
      </p:pic>
      <p:sp>
        <p:nvSpPr>
          <p:cNvPr id="16" name="Text 12"/>
          <p:cNvSpPr txBox="1"/>
          <p:nvPr/>
        </p:nvSpPr>
        <p:spPr>
          <a:xfrm>
            <a:off x="4023360" y="4956048"/>
            <a:ext cx="2286000" cy="274320"/>
          </a:xfrm>
          <a:prstGeom prst="rect">
            <a:avLst/>
          </a:prstGeom>
          <a:noFill/>
          <a:ln/>
        </p:spPr>
        <p:txBody>
          <a:bodyPr wrap="square" lIns="0" tIns="0" rIns="0" bIns="0" rtlCol="0" anchor="t"/>
          <a:lstStyle/>
          <a:p>
            <a:pPr indent="0" marL="0">
              <a:buNone/>
            </a:pPr>
            <a:r>
              <a:rPr lang="en-US" sz="1350" b="1" dirty="0">
                <a:solidFill>
                  <a:srgbClr val="12263A"/>
                </a:solidFill>
                <a:latin typeface="Calibri" pitchFamily="34" charset="0"/>
                <a:ea typeface="Calibri" pitchFamily="34" charset="-122"/>
                <a:cs typeface="Calibri" pitchFamily="34" charset="-120"/>
              </a:rPr>
              <a:t>Which offer</a:t>
            </a:r>
            <a:endParaRPr lang="en-US" sz="1350" dirty="0"/>
          </a:p>
        </p:txBody>
      </p:sp>
      <p:sp>
        <p:nvSpPr>
          <p:cNvPr id="17" name="Text 13"/>
          <p:cNvSpPr txBox="1"/>
          <p:nvPr/>
        </p:nvSpPr>
        <p:spPr>
          <a:xfrm>
            <a:off x="4023360" y="5230368"/>
            <a:ext cx="2331720" cy="320040"/>
          </a:xfrm>
          <a:prstGeom prst="rect">
            <a:avLst/>
          </a:prstGeom>
          <a:noFill/>
          <a:ln/>
        </p:spPr>
        <p:txBody>
          <a:bodyPr wrap="square" lIns="0" tIns="0" rIns="0" bIns="0" rtlCol="0" anchor="t"/>
          <a:lstStyle/>
          <a:p>
            <a:pPr indent="0" marL="0">
              <a:buNone/>
            </a:pPr>
            <a:r>
              <a:rPr lang="en-US" sz="1150" dirty="0">
                <a:solidFill>
                  <a:srgbClr val="5F6F80"/>
                </a:solidFill>
                <a:latin typeface="Calibri" pitchFamily="34" charset="0"/>
                <a:ea typeface="Calibri" pitchFamily="34" charset="-122"/>
                <a:cs typeface="Calibri" pitchFamily="34" charset="-120"/>
              </a:rPr>
              <a:t>the cheapest rung that still pays</a:t>
            </a:r>
            <a:endParaRPr lang="en-US" sz="1150" dirty="0"/>
          </a:p>
        </p:txBody>
      </p:sp>
      <p:sp>
        <p:nvSpPr>
          <p:cNvPr id="18" name="Shape 14"/>
          <p:cNvSpPr/>
          <p:nvPr/>
        </p:nvSpPr>
        <p:spPr>
          <a:xfrm>
            <a:off x="548640" y="5705856"/>
            <a:ext cx="420624" cy="420624"/>
          </a:xfrm>
          <a:prstGeom prst="ellipse">
            <a:avLst/>
          </a:prstGeom>
          <a:solidFill>
            <a:srgbClr val="12263A"/>
          </a:solidFill>
          <a:ln/>
        </p:spPr>
      </p:sp>
      <p:pic>
        <p:nvPicPr>
          <p:cNvPr id="19" name="Image 2" descr="preencoded.png">    </p:cNvPr>
          <p:cNvPicPr>
            <a:picLocks noChangeAspect="1"/>
          </p:cNvPicPr>
          <p:nvPr/>
        </p:nvPicPr>
        <p:blipFill>
          <a:blip r:embed="rId3"/>
          <a:stretch>
            <a:fillRect/>
          </a:stretch>
        </p:blipFill>
        <p:spPr>
          <a:xfrm>
            <a:off x="653796" y="5811012"/>
            <a:ext cx="210312" cy="210312"/>
          </a:xfrm>
          <a:prstGeom prst="rect">
            <a:avLst/>
          </a:prstGeom>
        </p:spPr>
      </p:pic>
      <p:sp>
        <p:nvSpPr>
          <p:cNvPr id="20" name="Text 15"/>
          <p:cNvSpPr txBox="1"/>
          <p:nvPr/>
        </p:nvSpPr>
        <p:spPr>
          <a:xfrm>
            <a:off x="1097280" y="5669280"/>
            <a:ext cx="2286000" cy="274320"/>
          </a:xfrm>
          <a:prstGeom prst="rect">
            <a:avLst/>
          </a:prstGeom>
          <a:noFill/>
          <a:ln/>
        </p:spPr>
        <p:txBody>
          <a:bodyPr wrap="square" lIns="0" tIns="0" rIns="0" bIns="0" rtlCol="0" anchor="t"/>
          <a:lstStyle/>
          <a:p>
            <a:pPr indent="0" marL="0">
              <a:buNone/>
            </a:pPr>
            <a:r>
              <a:rPr lang="en-US" sz="1350" b="1" dirty="0">
                <a:solidFill>
                  <a:srgbClr val="12263A"/>
                </a:solidFill>
                <a:latin typeface="Calibri" pitchFamily="34" charset="0"/>
                <a:ea typeface="Calibri" pitchFamily="34" charset="-122"/>
                <a:cs typeface="Calibri" pitchFamily="34" charset="-120"/>
              </a:rPr>
              <a:t>At what cost</a:t>
            </a:r>
            <a:endParaRPr lang="en-US" sz="1350" dirty="0"/>
          </a:p>
        </p:txBody>
      </p:sp>
      <p:sp>
        <p:nvSpPr>
          <p:cNvPr id="21" name="Text 16"/>
          <p:cNvSpPr txBox="1"/>
          <p:nvPr/>
        </p:nvSpPr>
        <p:spPr>
          <a:xfrm>
            <a:off x="1097280" y="5943600"/>
            <a:ext cx="2331720" cy="320040"/>
          </a:xfrm>
          <a:prstGeom prst="rect">
            <a:avLst/>
          </a:prstGeom>
          <a:noFill/>
          <a:ln/>
        </p:spPr>
        <p:txBody>
          <a:bodyPr wrap="square" lIns="0" tIns="0" rIns="0" bIns="0" rtlCol="0" anchor="t"/>
          <a:lstStyle/>
          <a:p>
            <a:pPr indent="0" marL="0">
              <a:buNone/>
            </a:pPr>
            <a:r>
              <a:rPr lang="en-US" sz="1150" dirty="0">
                <a:solidFill>
                  <a:srgbClr val="5F6F80"/>
                </a:solidFill>
                <a:latin typeface="Calibri" pitchFamily="34" charset="0"/>
                <a:ea typeface="Calibri" pitchFamily="34" charset="-122"/>
                <a:cs typeface="Calibri" pitchFamily="34" charset="-120"/>
              </a:rPr>
              <a:t>decide in money, with uncertainty</a:t>
            </a:r>
            <a:endParaRPr lang="en-US" sz="1150" dirty="0"/>
          </a:p>
        </p:txBody>
      </p:sp>
      <p:sp>
        <p:nvSpPr>
          <p:cNvPr id="22" name="Shape 17"/>
          <p:cNvSpPr/>
          <p:nvPr/>
        </p:nvSpPr>
        <p:spPr>
          <a:xfrm>
            <a:off x="3474720" y="5705856"/>
            <a:ext cx="420624" cy="420624"/>
          </a:xfrm>
          <a:prstGeom prst="ellipse">
            <a:avLst/>
          </a:prstGeom>
          <a:solidFill>
            <a:srgbClr val="12263A"/>
          </a:solidFill>
          <a:ln/>
        </p:spPr>
      </p:sp>
      <p:pic>
        <p:nvPicPr>
          <p:cNvPr id="23" name="Image 3" descr="preencoded.png">    </p:cNvPr>
          <p:cNvPicPr>
            <a:picLocks noChangeAspect="1"/>
          </p:cNvPicPr>
          <p:nvPr/>
        </p:nvPicPr>
        <p:blipFill>
          <a:blip r:embed="rId4"/>
          <a:stretch>
            <a:fillRect/>
          </a:stretch>
        </p:blipFill>
        <p:spPr>
          <a:xfrm>
            <a:off x="3579876" y="5811012"/>
            <a:ext cx="210312" cy="210312"/>
          </a:xfrm>
          <a:prstGeom prst="rect">
            <a:avLst/>
          </a:prstGeom>
        </p:spPr>
      </p:pic>
      <p:sp>
        <p:nvSpPr>
          <p:cNvPr id="24" name="Text 18"/>
          <p:cNvSpPr txBox="1"/>
          <p:nvPr/>
        </p:nvSpPr>
        <p:spPr>
          <a:xfrm>
            <a:off x="4023360" y="5669280"/>
            <a:ext cx="2286000" cy="274320"/>
          </a:xfrm>
          <a:prstGeom prst="rect">
            <a:avLst/>
          </a:prstGeom>
          <a:noFill/>
          <a:ln/>
        </p:spPr>
        <p:txBody>
          <a:bodyPr wrap="square" lIns="0" tIns="0" rIns="0" bIns="0" rtlCol="0" anchor="t"/>
          <a:lstStyle/>
          <a:p>
            <a:pPr indent="0" marL="0">
              <a:buNone/>
            </a:pPr>
            <a:r>
              <a:rPr lang="en-US" sz="1350" b="1" dirty="0">
                <a:solidFill>
                  <a:srgbClr val="12263A"/>
                </a:solidFill>
                <a:latin typeface="Calibri" pitchFamily="34" charset="0"/>
                <a:ea typeface="Calibri" pitchFamily="34" charset="-122"/>
                <a:cs typeface="Calibri" pitchFamily="34" charset="-120"/>
              </a:rPr>
              <a:t>Did it work</a:t>
            </a:r>
            <a:endParaRPr lang="en-US" sz="1350" dirty="0"/>
          </a:p>
        </p:txBody>
      </p:sp>
      <p:sp>
        <p:nvSpPr>
          <p:cNvPr id="25" name="Text 19"/>
          <p:cNvSpPr txBox="1"/>
          <p:nvPr/>
        </p:nvSpPr>
        <p:spPr>
          <a:xfrm>
            <a:off x="4023360" y="5943600"/>
            <a:ext cx="2331720" cy="320040"/>
          </a:xfrm>
          <a:prstGeom prst="rect">
            <a:avLst/>
          </a:prstGeom>
          <a:noFill/>
          <a:ln/>
        </p:spPr>
        <p:txBody>
          <a:bodyPr wrap="square" lIns="0" tIns="0" rIns="0" bIns="0" rtlCol="0" anchor="t"/>
          <a:lstStyle/>
          <a:p>
            <a:pPr indent="0" marL="0">
              <a:buNone/>
            </a:pPr>
            <a:r>
              <a:rPr lang="en-US" sz="1150" dirty="0">
                <a:solidFill>
                  <a:srgbClr val="5F6F80"/>
                </a:solidFill>
                <a:latin typeface="Calibri" pitchFamily="34" charset="0"/>
                <a:ea typeface="Calibri" pitchFamily="34" charset="-122"/>
                <a:cs typeface="Calibri" pitchFamily="34" charset="-120"/>
              </a:rPr>
              <a:t>measure against a randomised holdout</a:t>
            </a:r>
            <a:endParaRPr lang="en-US" sz="1150" dirty="0"/>
          </a:p>
        </p:txBody>
      </p:sp>
      <p:sp>
        <p:nvSpPr>
          <p:cNvPr id="26" name="Text 20"/>
          <p:cNvSpPr txBox="1"/>
          <p:nvPr/>
        </p:nvSpPr>
        <p:spPr>
          <a:xfrm>
            <a:off x="7863840" y="1298448"/>
            <a:ext cx="3794760" cy="274320"/>
          </a:xfrm>
          <a:prstGeom prst="rect">
            <a:avLst/>
          </a:prstGeom>
          <a:noFill/>
          <a:ln/>
        </p:spPr>
        <p:txBody>
          <a:bodyPr wrap="square" lIns="0" tIns="0" rIns="0" bIns="0" rtlCol="0" anchor="t"/>
          <a:lstStyle/>
          <a:p>
            <a:pPr algn="ctr" indent="0" marL="0">
              <a:buNone/>
            </a:pPr>
            <a:r>
              <a:rPr lang="en-US" sz="1200" b="1" dirty="0">
                <a:solidFill>
                  <a:srgbClr val="5F6F80"/>
                </a:solidFill>
                <a:latin typeface="Calibri" pitchFamily="34" charset="0"/>
                <a:ea typeface="Calibri" pitchFamily="34" charset="-122"/>
                <a:cs typeface="Calibri" pitchFamily="34" charset="-120"/>
              </a:rPr>
              <a:t>If contacted</a:t>
            </a:r>
            <a:endParaRPr lang="en-US" sz="1200" dirty="0"/>
          </a:p>
        </p:txBody>
      </p:sp>
      <p:sp>
        <p:nvSpPr>
          <p:cNvPr id="27" name="Text 21"/>
          <p:cNvSpPr txBox="1"/>
          <p:nvPr/>
        </p:nvSpPr>
        <p:spPr>
          <a:xfrm>
            <a:off x="7863840" y="1572768"/>
            <a:ext cx="1847088" cy="256032"/>
          </a:xfrm>
          <a:prstGeom prst="rect">
            <a:avLst/>
          </a:prstGeom>
          <a:noFill/>
          <a:ln/>
        </p:spPr>
        <p:txBody>
          <a:bodyPr wrap="square" lIns="0" tIns="0" rIns="0" bIns="0" rtlCol="0" anchor="t"/>
          <a:lstStyle/>
          <a:p>
            <a:pPr algn="ctr" indent="0" marL="0">
              <a:buNone/>
            </a:pPr>
            <a:r>
              <a:rPr lang="en-US" sz="1150" dirty="0">
                <a:solidFill>
                  <a:srgbClr val="5F6F80"/>
                </a:solidFill>
                <a:latin typeface="Calibri" pitchFamily="34" charset="0"/>
                <a:ea typeface="Calibri" pitchFamily="34" charset="-122"/>
                <a:cs typeface="Calibri" pitchFamily="34" charset="-120"/>
              </a:rPr>
              <a:t>stays</a:t>
            </a:r>
            <a:endParaRPr lang="en-US" sz="1150" dirty="0"/>
          </a:p>
        </p:txBody>
      </p:sp>
      <p:sp>
        <p:nvSpPr>
          <p:cNvPr id="28" name="Text 22"/>
          <p:cNvSpPr txBox="1"/>
          <p:nvPr/>
        </p:nvSpPr>
        <p:spPr>
          <a:xfrm>
            <a:off x="9811512" y="1572768"/>
            <a:ext cx="1847088" cy="256032"/>
          </a:xfrm>
          <a:prstGeom prst="rect">
            <a:avLst/>
          </a:prstGeom>
          <a:noFill/>
          <a:ln/>
        </p:spPr>
        <p:txBody>
          <a:bodyPr wrap="square" lIns="0" tIns="0" rIns="0" bIns="0" rtlCol="0" anchor="t"/>
          <a:lstStyle/>
          <a:p>
            <a:pPr algn="ctr" indent="0" marL="0">
              <a:buNone/>
            </a:pPr>
            <a:r>
              <a:rPr lang="en-US" sz="1150" dirty="0">
                <a:solidFill>
                  <a:srgbClr val="5F6F80"/>
                </a:solidFill>
                <a:latin typeface="Calibri" pitchFamily="34" charset="0"/>
                <a:ea typeface="Calibri" pitchFamily="34" charset="-122"/>
                <a:cs typeface="Calibri" pitchFamily="34" charset="-120"/>
              </a:rPr>
              <a:t>churns</a:t>
            </a:r>
            <a:endParaRPr lang="en-US" sz="1150" dirty="0"/>
          </a:p>
        </p:txBody>
      </p:sp>
      <p:sp>
        <p:nvSpPr>
          <p:cNvPr id="29" name="Text 23"/>
          <p:cNvSpPr txBox="1"/>
          <p:nvPr/>
        </p:nvSpPr>
        <p:spPr>
          <a:xfrm>
            <a:off x="6537960" y="1572768"/>
            <a:ext cx="1234440" cy="256032"/>
          </a:xfrm>
          <a:prstGeom prst="rect">
            <a:avLst/>
          </a:prstGeom>
          <a:noFill/>
          <a:ln/>
        </p:spPr>
        <p:txBody>
          <a:bodyPr wrap="square" lIns="0" tIns="0" rIns="0" bIns="0" rtlCol="0" anchor="t"/>
          <a:lstStyle/>
          <a:p>
            <a:pPr algn="r" indent="0" marL="0">
              <a:buNone/>
            </a:pPr>
            <a:r>
              <a:rPr lang="en-US" sz="1200" b="1" dirty="0">
                <a:solidFill>
                  <a:srgbClr val="5F6F80"/>
                </a:solidFill>
                <a:latin typeface="Calibri" pitchFamily="34" charset="0"/>
                <a:ea typeface="Calibri" pitchFamily="34" charset="-122"/>
                <a:cs typeface="Calibri" pitchFamily="34" charset="-120"/>
              </a:rPr>
              <a:t>If left alone</a:t>
            </a:r>
            <a:endParaRPr lang="en-US" sz="1200" dirty="0"/>
          </a:p>
        </p:txBody>
      </p:sp>
      <p:sp>
        <p:nvSpPr>
          <p:cNvPr id="30" name="Text 24"/>
          <p:cNvSpPr txBox="1"/>
          <p:nvPr/>
        </p:nvSpPr>
        <p:spPr>
          <a:xfrm>
            <a:off x="6537960" y="1874520"/>
            <a:ext cx="1188720" cy="1737360"/>
          </a:xfrm>
          <a:prstGeom prst="rect">
            <a:avLst/>
          </a:prstGeom>
          <a:noFill/>
          <a:ln/>
        </p:spPr>
        <p:txBody>
          <a:bodyPr wrap="square" lIns="0" tIns="0" rIns="0" bIns="0" rtlCol="0" anchor="ctr"/>
          <a:lstStyle/>
          <a:p>
            <a:pPr algn="r" indent="0" marL="0">
              <a:buNone/>
            </a:pPr>
            <a:r>
              <a:rPr lang="en-US" sz="1150" dirty="0">
                <a:solidFill>
                  <a:srgbClr val="5F6F80"/>
                </a:solidFill>
                <a:latin typeface="Calibri" pitchFamily="34" charset="0"/>
                <a:ea typeface="Calibri" pitchFamily="34" charset="-122"/>
                <a:cs typeface="Calibri" pitchFamily="34" charset="-120"/>
              </a:rPr>
              <a:t>stays</a:t>
            </a:r>
            <a:endParaRPr lang="en-US" sz="1150" dirty="0"/>
          </a:p>
        </p:txBody>
      </p:sp>
      <p:sp>
        <p:nvSpPr>
          <p:cNvPr id="31" name="Text 25"/>
          <p:cNvSpPr txBox="1"/>
          <p:nvPr/>
        </p:nvSpPr>
        <p:spPr>
          <a:xfrm>
            <a:off x="6537960" y="3703320"/>
            <a:ext cx="1188720" cy="1737360"/>
          </a:xfrm>
          <a:prstGeom prst="rect">
            <a:avLst/>
          </a:prstGeom>
          <a:noFill/>
          <a:ln/>
        </p:spPr>
        <p:txBody>
          <a:bodyPr wrap="square" lIns="0" tIns="0" rIns="0" bIns="0" rtlCol="0" anchor="ctr"/>
          <a:lstStyle/>
          <a:p>
            <a:pPr algn="r" indent="0" marL="0">
              <a:buNone/>
            </a:pPr>
            <a:r>
              <a:rPr lang="en-US" sz="1150" dirty="0">
                <a:solidFill>
                  <a:srgbClr val="5F6F80"/>
                </a:solidFill>
                <a:latin typeface="Calibri" pitchFamily="34" charset="0"/>
                <a:ea typeface="Calibri" pitchFamily="34" charset="-122"/>
                <a:cs typeface="Calibri" pitchFamily="34" charset="-120"/>
              </a:rPr>
              <a:t>churns</a:t>
            </a:r>
            <a:endParaRPr lang="en-US" sz="1150" dirty="0"/>
          </a:p>
        </p:txBody>
      </p:sp>
      <p:sp>
        <p:nvSpPr>
          <p:cNvPr id="32" name="Shape 26"/>
          <p:cNvSpPr/>
          <p:nvPr/>
        </p:nvSpPr>
        <p:spPr>
          <a:xfrm>
            <a:off x="7863840" y="1874520"/>
            <a:ext cx="1847088" cy="1737360"/>
          </a:xfrm>
          <a:prstGeom prst="roundRect">
            <a:avLst>
              <a:gd name="adj" fmla="val 4211"/>
            </a:avLst>
          </a:prstGeom>
          <a:solidFill>
            <a:srgbClr val="E6ECF2"/>
          </a:solidFill>
          <a:ln/>
        </p:spPr>
      </p:sp>
      <p:sp>
        <p:nvSpPr>
          <p:cNvPr id="33" name="Text 27"/>
          <p:cNvSpPr txBox="1"/>
          <p:nvPr/>
        </p:nvSpPr>
        <p:spPr>
          <a:xfrm>
            <a:off x="8028432" y="2039112"/>
            <a:ext cx="1554480" cy="347472"/>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Sure Thing</a:t>
            </a:r>
            <a:endParaRPr lang="en-US" sz="1600" dirty="0"/>
          </a:p>
        </p:txBody>
      </p:sp>
      <p:sp>
        <p:nvSpPr>
          <p:cNvPr id="34" name="Text 28"/>
          <p:cNvSpPr txBox="1"/>
          <p:nvPr/>
        </p:nvSpPr>
        <p:spPr>
          <a:xfrm>
            <a:off x="8028432" y="2441448"/>
            <a:ext cx="1554480" cy="1051560"/>
          </a:xfrm>
          <a:prstGeom prst="rect">
            <a:avLst/>
          </a:prstGeom>
          <a:noFill/>
          <a:ln/>
        </p:spPr>
        <p:txBody>
          <a:bodyPr wrap="square" lIns="0" tIns="0" rIns="0" bIns="0" rtlCol="0" anchor="t"/>
          <a:lstStyle/>
          <a:p>
            <a:pPr indent="0" marL="0">
              <a:buNone/>
            </a:pPr>
            <a:r>
              <a:rPr lang="en-US" sz="1200" dirty="0">
                <a:solidFill>
                  <a:srgbClr val="1B2733"/>
                </a:solidFill>
                <a:latin typeface="Calibri" pitchFamily="34" charset="0"/>
                <a:ea typeface="Calibri" pitchFamily="34" charset="-122"/>
                <a:cs typeface="Calibri" pitchFamily="34" charset="-120"/>
              </a:rPr>
              <a:t>Stays either way. The offer is wasted money.</a:t>
            </a:r>
            <a:endParaRPr lang="en-US" sz="1200" dirty="0"/>
          </a:p>
        </p:txBody>
      </p:sp>
      <p:sp>
        <p:nvSpPr>
          <p:cNvPr id="35" name="Shape 29"/>
          <p:cNvSpPr/>
          <p:nvPr/>
        </p:nvSpPr>
        <p:spPr>
          <a:xfrm>
            <a:off x="9811512" y="1874520"/>
            <a:ext cx="1847088" cy="1737360"/>
          </a:xfrm>
          <a:prstGeom prst="roundRect">
            <a:avLst>
              <a:gd name="adj" fmla="val 4211"/>
            </a:avLst>
          </a:prstGeom>
          <a:solidFill>
            <a:srgbClr val="FBE2D8"/>
          </a:solidFill>
          <a:ln/>
        </p:spPr>
      </p:sp>
      <p:sp>
        <p:nvSpPr>
          <p:cNvPr id="36" name="Text 30"/>
          <p:cNvSpPr txBox="1"/>
          <p:nvPr/>
        </p:nvSpPr>
        <p:spPr>
          <a:xfrm>
            <a:off x="9976104" y="2039112"/>
            <a:ext cx="1554480" cy="347472"/>
          </a:xfrm>
          <a:prstGeom prst="rect">
            <a:avLst/>
          </a:prstGeom>
          <a:noFill/>
          <a:ln/>
        </p:spPr>
        <p:txBody>
          <a:bodyPr wrap="square" lIns="0" tIns="0" rIns="0" bIns="0" rtlCol="0" anchor="t"/>
          <a:lstStyle/>
          <a:p>
            <a:pPr indent="0" marL="0">
              <a:buNone/>
            </a:pPr>
            <a:r>
              <a:rPr lang="en-US" sz="1600" b="1" dirty="0">
                <a:solidFill>
                  <a:srgbClr val="D9480F"/>
                </a:solidFill>
                <a:latin typeface="Cambria" pitchFamily="34" charset="0"/>
                <a:ea typeface="Cambria" pitchFamily="34" charset="-122"/>
                <a:cs typeface="Cambria" pitchFamily="34" charset="-120"/>
              </a:rPr>
              <a:t>Sleeping Dog</a:t>
            </a:r>
            <a:endParaRPr lang="en-US" sz="1600" dirty="0"/>
          </a:p>
        </p:txBody>
      </p:sp>
      <p:sp>
        <p:nvSpPr>
          <p:cNvPr id="37" name="Text 31"/>
          <p:cNvSpPr txBox="1"/>
          <p:nvPr/>
        </p:nvSpPr>
        <p:spPr>
          <a:xfrm>
            <a:off x="9976104" y="2441448"/>
            <a:ext cx="1554480" cy="1051560"/>
          </a:xfrm>
          <a:prstGeom prst="rect">
            <a:avLst/>
          </a:prstGeom>
          <a:noFill/>
          <a:ln/>
        </p:spPr>
        <p:txBody>
          <a:bodyPr wrap="square" lIns="0" tIns="0" rIns="0" bIns="0" rtlCol="0" anchor="t"/>
          <a:lstStyle/>
          <a:p>
            <a:pPr indent="0" marL="0">
              <a:buNone/>
            </a:pPr>
            <a:r>
              <a:rPr lang="en-US" sz="1200" dirty="0">
                <a:solidFill>
                  <a:srgbClr val="1B2733"/>
                </a:solidFill>
                <a:latin typeface="Calibri" pitchFamily="34" charset="0"/>
                <a:ea typeface="Calibri" pitchFamily="34" charset="-122"/>
                <a:cs typeface="Calibri" pitchFamily="34" charset="-120"/>
              </a:rPr>
              <a:t>Would have stayed; leaves because contacted. The offer destroys value.</a:t>
            </a:r>
            <a:endParaRPr lang="en-US" sz="1200" dirty="0"/>
          </a:p>
        </p:txBody>
      </p:sp>
      <p:sp>
        <p:nvSpPr>
          <p:cNvPr id="38" name="Shape 32"/>
          <p:cNvSpPr/>
          <p:nvPr/>
        </p:nvSpPr>
        <p:spPr>
          <a:xfrm>
            <a:off x="7863840" y="3703320"/>
            <a:ext cx="1847088" cy="1737360"/>
          </a:xfrm>
          <a:prstGeom prst="roundRect">
            <a:avLst>
              <a:gd name="adj" fmla="val 4211"/>
            </a:avLst>
          </a:prstGeom>
          <a:solidFill>
            <a:srgbClr val="D6F0EB"/>
          </a:solidFill>
          <a:ln/>
        </p:spPr>
      </p:sp>
      <p:sp>
        <p:nvSpPr>
          <p:cNvPr id="39" name="Text 33"/>
          <p:cNvSpPr txBox="1"/>
          <p:nvPr/>
        </p:nvSpPr>
        <p:spPr>
          <a:xfrm>
            <a:off x="8028432" y="3867912"/>
            <a:ext cx="1554480" cy="347472"/>
          </a:xfrm>
          <a:prstGeom prst="rect">
            <a:avLst/>
          </a:prstGeom>
          <a:noFill/>
          <a:ln/>
        </p:spPr>
        <p:txBody>
          <a:bodyPr wrap="square" lIns="0" tIns="0" rIns="0" bIns="0" rtlCol="0" anchor="t"/>
          <a:lstStyle/>
          <a:p>
            <a:pPr indent="0" marL="0">
              <a:buNone/>
            </a:pPr>
            <a:r>
              <a:rPr lang="en-US" sz="1600" b="1" dirty="0">
                <a:solidFill>
                  <a:srgbClr val="0B7A6B"/>
                </a:solidFill>
                <a:latin typeface="Cambria" pitchFamily="34" charset="0"/>
                <a:ea typeface="Cambria" pitchFamily="34" charset="-122"/>
                <a:cs typeface="Cambria" pitchFamily="34" charset="-120"/>
              </a:rPr>
              <a:t>Persuadable</a:t>
            </a:r>
            <a:endParaRPr lang="en-US" sz="1600" dirty="0"/>
          </a:p>
        </p:txBody>
      </p:sp>
      <p:sp>
        <p:nvSpPr>
          <p:cNvPr id="40" name="Text 34"/>
          <p:cNvSpPr txBox="1"/>
          <p:nvPr/>
        </p:nvSpPr>
        <p:spPr>
          <a:xfrm>
            <a:off x="8028432" y="4270248"/>
            <a:ext cx="1554480" cy="1051560"/>
          </a:xfrm>
          <a:prstGeom prst="rect">
            <a:avLst/>
          </a:prstGeom>
          <a:noFill/>
          <a:ln/>
        </p:spPr>
        <p:txBody>
          <a:bodyPr wrap="square" lIns="0" tIns="0" rIns="0" bIns="0" rtlCol="0" anchor="t"/>
          <a:lstStyle/>
          <a:p>
            <a:pPr indent="0" marL="0">
              <a:buNone/>
            </a:pPr>
            <a:r>
              <a:rPr lang="en-US" sz="1200" dirty="0">
                <a:solidFill>
                  <a:srgbClr val="1B2733"/>
                </a:solidFill>
                <a:latin typeface="Calibri" pitchFamily="34" charset="0"/>
                <a:ea typeface="Calibri" pitchFamily="34" charset="-122"/>
                <a:cs typeface="Calibri" pitchFamily="34" charset="-120"/>
              </a:rPr>
              <a:t>Would have left; stays if contacted. The only customer worth paying for.</a:t>
            </a:r>
            <a:endParaRPr lang="en-US" sz="1200" dirty="0"/>
          </a:p>
        </p:txBody>
      </p:sp>
      <p:sp>
        <p:nvSpPr>
          <p:cNvPr id="41" name="Shape 35"/>
          <p:cNvSpPr/>
          <p:nvPr/>
        </p:nvSpPr>
        <p:spPr>
          <a:xfrm>
            <a:off x="9811512" y="3703320"/>
            <a:ext cx="1847088" cy="1737360"/>
          </a:xfrm>
          <a:prstGeom prst="roundRect">
            <a:avLst>
              <a:gd name="adj" fmla="val 4211"/>
            </a:avLst>
          </a:prstGeom>
          <a:solidFill>
            <a:srgbClr val="ECEFF2"/>
          </a:solidFill>
          <a:ln/>
        </p:spPr>
      </p:sp>
      <p:sp>
        <p:nvSpPr>
          <p:cNvPr id="42" name="Text 36"/>
          <p:cNvSpPr txBox="1"/>
          <p:nvPr/>
        </p:nvSpPr>
        <p:spPr>
          <a:xfrm>
            <a:off x="9976104" y="3867912"/>
            <a:ext cx="1554480" cy="347472"/>
          </a:xfrm>
          <a:prstGeom prst="rect">
            <a:avLst/>
          </a:prstGeom>
          <a:noFill/>
          <a:ln/>
        </p:spPr>
        <p:txBody>
          <a:bodyPr wrap="square" lIns="0" tIns="0" rIns="0" bIns="0" rtlCol="0" anchor="t"/>
          <a:lstStyle/>
          <a:p>
            <a:pPr indent="0" marL="0">
              <a:buNone/>
            </a:pPr>
            <a:r>
              <a:rPr lang="en-US" sz="1600" b="1" dirty="0">
                <a:solidFill>
                  <a:srgbClr val="5B7A99"/>
                </a:solidFill>
                <a:latin typeface="Cambria" pitchFamily="34" charset="0"/>
                <a:ea typeface="Cambria" pitchFamily="34" charset="-122"/>
                <a:cs typeface="Cambria" pitchFamily="34" charset="-120"/>
              </a:rPr>
              <a:t>Lost Cause</a:t>
            </a:r>
            <a:endParaRPr lang="en-US" sz="1600" dirty="0"/>
          </a:p>
        </p:txBody>
      </p:sp>
      <p:sp>
        <p:nvSpPr>
          <p:cNvPr id="43" name="Text 37"/>
          <p:cNvSpPr txBox="1"/>
          <p:nvPr/>
        </p:nvSpPr>
        <p:spPr>
          <a:xfrm>
            <a:off x="9976104" y="4270248"/>
            <a:ext cx="1554480" cy="1051560"/>
          </a:xfrm>
          <a:prstGeom prst="rect">
            <a:avLst/>
          </a:prstGeom>
          <a:noFill/>
          <a:ln/>
        </p:spPr>
        <p:txBody>
          <a:bodyPr wrap="square" lIns="0" tIns="0" rIns="0" bIns="0" rtlCol="0" anchor="t"/>
          <a:lstStyle/>
          <a:p>
            <a:pPr indent="0" marL="0">
              <a:buNone/>
            </a:pPr>
            <a:r>
              <a:rPr lang="en-US" sz="1200" dirty="0">
                <a:solidFill>
                  <a:srgbClr val="1B2733"/>
                </a:solidFill>
                <a:latin typeface="Calibri" pitchFamily="34" charset="0"/>
                <a:ea typeface="Calibri" pitchFamily="34" charset="-122"/>
                <a:cs typeface="Calibri" pitchFamily="34" charset="-120"/>
              </a:rPr>
              <a:t>Leaves either way. Let them go.</a:t>
            </a:r>
            <a:endParaRPr lang="en-US" sz="1200" dirty="0"/>
          </a:p>
        </p:txBody>
      </p:sp>
      <p:sp>
        <p:nvSpPr>
          <p:cNvPr id="44" name="Shape 38"/>
          <p:cNvSpPr/>
          <p:nvPr/>
        </p:nvSpPr>
        <p:spPr>
          <a:xfrm>
            <a:off x="6537960" y="5596128"/>
            <a:ext cx="5120640" cy="749808"/>
          </a:xfrm>
          <a:prstGeom prst="roundRect">
            <a:avLst>
              <a:gd name="adj" fmla="val 9756"/>
            </a:avLst>
          </a:prstGeom>
          <a:solidFill>
            <a:srgbClr val="F2F5F8"/>
          </a:solidFill>
          <a:ln/>
        </p:spPr>
      </p:sp>
      <p:pic>
        <p:nvPicPr>
          <p:cNvPr id="45" name="Image 4" descr="preencoded.png">    </p:cNvPr>
          <p:cNvPicPr>
            <a:picLocks noChangeAspect="1"/>
          </p:cNvPicPr>
          <p:nvPr/>
        </p:nvPicPr>
        <p:blipFill>
          <a:blip r:embed="rId5"/>
          <a:stretch>
            <a:fillRect/>
          </a:stretch>
        </p:blipFill>
        <p:spPr>
          <a:xfrm>
            <a:off x="6720840" y="5806440"/>
            <a:ext cx="310896" cy="310896"/>
          </a:xfrm>
          <a:prstGeom prst="rect">
            <a:avLst/>
          </a:prstGeom>
        </p:spPr>
      </p:pic>
      <p:sp>
        <p:nvSpPr>
          <p:cNvPr id="46" name="Text 39"/>
          <p:cNvSpPr txBox="1"/>
          <p:nvPr/>
        </p:nvSpPr>
        <p:spPr>
          <a:xfrm>
            <a:off x="7178040" y="5596128"/>
            <a:ext cx="4343400" cy="749808"/>
          </a:xfrm>
          <a:prstGeom prst="rect">
            <a:avLst/>
          </a:prstGeom>
          <a:noFill/>
          <a:ln/>
        </p:spPr>
        <p:txBody>
          <a:bodyPr wrap="square" lIns="0" tIns="0" rIns="0" bIns="0" rtlCol="0" anchor="ctr"/>
          <a:lstStyle/>
          <a:p>
            <a:pPr indent="0" marL="0">
              <a:buNone/>
            </a:pPr>
            <a:r>
              <a:rPr lang="en-US" sz="1250" dirty="0">
                <a:solidFill>
                  <a:srgbClr val="1B2733"/>
                </a:solidFill>
                <a:latin typeface="Calibri" pitchFamily="34" charset="0"/>
                <a:ea typeface="Calibri" pitchFamily="34" charset="-122"/>
                <a:cs typeface="Calibri" pitchFamily="34" charset="-120"/>
              </a:rPr>
              <a:t>In the simulated business, Sleeping Dogs are </a:t>
            </a:r>
            <a:pPr indent="0" marL="0">
              <a:buNone/>
            </a:pPr>
            <a:r>
              <a:rPr lang="en-US" sz="1250" b="1" dirty="0">
                <a:solidFill>
                  <a:srgbClr val="D9480F"/>
                </a:solidFill>
                <a:latin typeface="Calibri" pitchFamily="34" charset="0"/>
                <a:ea typeface="Calibri" pitchFamily="34" charset="-122"/>
                <a:cs typeface="Calibri" pitchFamily="34" charset="-120"/>
              </a:rPr>
              <a:t>59.1%</a:t>
            </a:r>
            <a:pPr indent="0" marL="0">
              <a:buNone/>
            </a:pPr>
            <a:r>
              <a:rPr lang="en-US" sz="1250" dirty="0">
                <a:solidFill>
                  <a:srgbClr val="1B2733"/>
                </a:solidFill>
                <a:latin typeface="Calibri" pitchFamily="34" charset="0"/>
                <a:ea typeface="Calibri" pitchFamily="34" charset="-122"/>
                <a:cs typeface="Calibri" pitchFamily="34" charset="-120"/>
              </a:rPr>
              <a:t> of the churn model's highest-risk decile but only </a:t>
            </a:r>
            <a:pPr indent="0" marL="0">
              <a:buNone/>
            </a:pPr>
            <a:r>
              <a:rPr lang="en-US" sz="1250" b="1" dirty="0">
                <a:solidFill>
                  <a:srgbClr val="1B2733"/>
                </a:solidFill>
                <a:latin typeface="Calibri" pitchFamily="34" charset="0"/>
                <a:ea typeface="Calibri" pitchFamily="34" charset="-122"/>
                <a:cs typeface="Calibri" pitchFamily="34" charset="-120"/>
              </a:rPr>
              <a:t>5.3%</a:t>
            </a:r>
            <a:pPr indent="0" marL="0">
              <a:buNone/>
            </a:pPr>
            <a:r>
              <a:rPr lang="en-US" sz="1250" dirty="0">
                <a:solidFill>
                  <a:srgbClr val="1B2733"/>
                </a:solidFill>
                <a:latin typeface="Calibri" pitchFamily="34" charset="0"/>
                <a:ea typeface="Calibri" pitchFamily="34" charset="-122"/>
                <a:cs typeface="Calibri" pitchFamily="34" charset="-120"/>
              </a:rPr>
              <a:t> of its lowest.</a:t>
            </a:r>
            <a:endParaRPr lang="en-US" sz="1250" dirty="0"/>
          </a:p>
        </p:txBody>
      </p:sp>
      <p:sp>
        <p:nvSpPr>
          <p:cNvPr id="47" name="Text 40"/>
          <p:cNvSpPr txBox="1"/>
          <p:nvPr/>
        </p:nvSpPr>
        <p:spPr>
          <a:xfrm>
            <a:off x="548640" y="6492240"/>
            <a:ext cx="8686800" cy="228600"/>
          </a:xfrm>
          <a:prstGeom prst="rect">
            <a:avLst/>
          </a:prstGeom>
          <a:noFill/>
          <a:ln/>
        </p:spPr>
        <p:txBody>
          <a:bodyPr wrap="square" lIns="0" tIns="0" rIns="0" bIns="0" rtlCol="0" anchor="t"/>
          <a:lstStyle/>
          <a:p>
            <a:pPr indent="0" marL="0">
              <a:buNone/>
            </a:pPr>
            <a:r>
              <a:rPr lang="en-US" sz="900" dirty="0">
                <a:solidFill>
                  <a:srgbClr val="8A97A6"/>
                </a:solidFill>
                <a:latin typeface="Calibri" pitchFamily="34" charset="0"/>
                <a:ea typeface="Calibri" pitchFamily="34" charset="-122"/>
                <a:cs typeface="Calibri" pitchFamily="34" charset="-120"/>
              </a:rPr>
              <a:t>RetainIQ  ·  Prasham Jain (2427030155)  ·  Mentor: Dr. Rishi Gupta  ·  Manipal University Jaipur</a:t>
            </a:r>
            <a:endParaRPr lang="en-US" sz="900" dirty="0"/>
          </a:p>
        </p:txBody>
      </p:sp>
      <p:sp>
        <p:nvSpPr>
          <p:cNvPr id="48" name="Text 41"/>
          <p:cNvSpPr txBox="1"/>
          <p:nvPr/>
        </p:nvSpPr>
        <p:spPr>
          <a:xfrm>
            <a:off x="10725912" y="6492240"/>
            <a:ext cx="914400" cy="228600"/>
          </a:xfrm>
          <a:prstGeom prst="rect">
            <a:avLst/>
          </a:prstGeom>
          <a:noFill/>
          <a:ln/>
        </p:spPr>
        <p:txBody>
          <a:bodyPr wrap="square" lIns="0" tIns="0" rIns="0" bIns="0" rtlCol="0" anchor="t"/>
          <a:lstStyle/>
          <a:p>
            <a:pPr algn="r" indent="0" marL="0">
              <a:buNone/>
            </a:pPr>
            <a:r>
              <a:rPr lang="en-US" sz="900" dirty="0">
                <a:solidFill>
                  <a:srgbClr val="8A97A6"/>
                </a:solidFill>
                <a:latin typeface="Calibri" pitchFamily="34" charset="0"/>
                <a:ea typeface="Calibri" pitchFamily="34" charset="-122"/>
                <a:cs typeface="Calibri" pitchFamily="34" charset="-120"/>
              </a:rPr>
              <a:t>2 / 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274320"/>
          </a:xfrm>
          <a:prstGeom prst="rect">
            <a:avLst/>
          </a:prstGeom>
          <a:noFill/>
          <a:ln/>
        </p:spPr>
        <p:txBody>
          <a:bodyPr wrap="square" lIns="0" tIns="0" rIns="0" bIns="0" rtlCol="0" anchor="t"/>
          <a:lstStyle/>
          <a:p>
            <a:pPr indent="0" marL="0">
              <a:buNone/>
            </a:pPr>
            <a:r>
              <a:rPr lang="en-US" sz="1100" b="1" spc="200" kern="0" dirty="0">
                <a:solidFill>
                  <a:srgbClr val="0F9D8A"/>
                </a:solidFill>
                <a:latin typeface="Calibri" pitchFamily="34" charset="0"/>
                <a:ea typeface="Calibri" pitchFamily="34" charset="-122"/>
                <a:cs typeface="Calibri" pitchFamily="34" charset="-120"/>
              </a:rPr>
              <a:t>02  ·  DATA AND PIPELINE</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ctr"/>
          <a:lstStyle/>
          <a:p>
            <a:pPr indent="0" marL="0">
              <a:buNone/>
            </a:pPr>
            <a:r>
              <a:rPr lang="en-US" sz="3000" b="1" dirty="0">
                <a:solidFill>
                  <a:srgbClr val="12263A"/>
                </a:solidFill>
                <a:latin typeface="Cambria" pitchFamily="34" charset="0"/>
                <a:ea typeface="Cambria" pitchFamily="34" charset="-122"/>
                <a:cs typeface="Cambria" pitchFamily="34" charset="-120"/>
              </a:rPr>
              <a:t>Data and pipeline: from billing export to decision</a:t>
            </a:r>
            <a:endParaRPr lang="en-US" sz="3000" dirty="0"/>
          </a:p>
        </p:txBody>
      </p:sp>
      <p:sp>
        <p:nvSpPr>
          <p:cNvPr id="4" name="Shape 2"/>
          <p:cNvSpPr/>
          <p:nvPr/>
        </p:nvSpPr>
        <p:spPr>
          <a:xfrm>
            <a:off x="548640" y="1371600"/>
            <a:ext cx="1627632" cy="1481328"/>
          </a:xfrm>
          <a:prstGeom prst="roundRect">
            <a:avLst>
              <a:gd name="adj" fmla="val 4938"/>
            </a:avLst>
          </a:prstGeom>
          <a:solidFill>
            <a:srgbClr val="F2F5F8"/>
          </a:solidFill>
          <a:ln/>
        </p:spPr>
      </p:sp>
      <p:sp>
        <p:nvSpPr>
          <p:cNvPr id="5" name="Shape 3"/>
          <p:cNvSpPr/>
          <p:nvPr/>
        </p:nvSpPr>
        <p:spPr>
          <a:xfrm>
            <a:off x="676656" y="1499616"/>
            <a:ext cx="402336" cy="402336"/>
          </a:xfrm>
          <a:prstGeom prst="ellipse">
            <a:avLst/>
          </a:prstGeom>
          <a:solidFill>
            <a:srgbClr val="12263A"/>
          </a:solidFill>
          <a:ln/>
        </p:spPr>
      </p:sp>
      <p:pic>
        <p:nvPicPr>
          <p:cNvPr id="6" name="Image 0" descr="preencoded.png">    </p:cNvPr>
          <p:cNvPicPr>
            <a:picLocks noChangeAspect="1"/>
          </p:cNvPicPr>
          <p:nvPr/>
        </p:nvPicPr>
        <p:blipFill>
          <a:blip r:embed="rId1"/>
          <a:stretch>
            <a:fillRect/>
          </a:stretch>
        </p:blipFill>
        <p:spPr>
          <a:xfrm>
            <a:off x="777240" y="1600200"/>
            <a:ext cx="201168" cy="201168"/>
          </a:xfrm>
          <a:prstGeom prst="rect">
            <a:avLst/>
          </a:prstGeom>
        </p:spPr>
      </p:pic>
      <p:sp>
        <p:nvSpPr>
          <p:cNvPr id="7" name="Text 4"/>
          <p:cNvSpPr txBox="1"/>
          <p:nvPr/>
        </p:nvSpPr>
        <p:spPr>
          <a:xfrm>
            <a:off x="1737360" y="1517904"/>
            <a:ext cx="320040" cy="320040"/>
          </a:xfrm>
          <a:prstGeom prst="rect">
            <a:avLst/>
          </a:prstGeom>
          <a:noFill/>
          <a:ln/>
        </p:spPr>
        <p:txBody>
          <a:bodyPr wrap="square" lIns="0" tIns="0" rIns="0" bIns="0" rtlCol="0" anchor="t"/>
          <a:lstStyle/>
          <a:p>
            <a:pPr algn="r" indent="0" marL="0">
              <a:buNone/>
            </a:pPr>
            <a:r>
              <a:rPr lang="en-US" sz="1600" b="1" dirty="0">
                <a:solidFill>
                  <a:srgbClr val="A9B6C3"/>
                </a:solidFill>
                <a:latin typeface="Cambria" pitchFamily="34" charset="0"/>
                <a:ea typeface="Cambria" pitchFamily="34" charset="-122"/>
                <a:cs typeface="Cambria" pitchFamily="34" charset="-120"/>
              </a:rPr>
              <a:t>1</a:t>
            </a:r>
            <a:endParaRPr lang="en-US" sz="1600" dirty="0"/>
          </a:p>
        </p:txBody>
      </p:sp>
      <p:sp>
        <p:nvSpPr>
          <p:cNvPr id="8" name="Text 5"/>
          <p:cNvSpPr txBox="1"/>
          <p:nvPr/>
        </p:nvSpPr>
        <p:spPr>
          <a:xfrm>
            <a:off x="676656" y="1956816"/>
            <a:ext cx="1417320" cy="292608"/>
          </a:xfrm>
          <a:prstGeom prst="rect">
            <a:avLst/>
          </a:prstGeom>
          <a:noFill/>
          <a:ln/>
        </p:spPr>
        <p:txBody>
          <a:bodyPr wrap="square" lIns="0" tIns="0" rIns="0" bIns="0" rtlCol="0" anchor="t"/>
          <a:lstStyle/>
          <a:p>
            <a:pPr indent="0" marL="0">
              <a:buNone/>
            </a:pPr>
            <a:r>
              <a:rPr lang="en-US" sz="1250" b="1" dirty="0">
                <a:solidFill>
                  <a:srgbClr val="12263A"/>
                </a:solidFill>
                <a:latin typeface="Calibri" pitchFamily="34" charset="0"/>
                <a:ea typeface="Calibri" pitchFamily="34" charset="-122"/>
                <a:cs typeface="Calibri" pitchFamily="34" charset="-120"/>
              </a:rPr>
              <a:t>Ingest</a:t>
            </a:r>
            <a:endParaRPr lang="en-US" sz="1250" dirty="0"/>
          </a:p>
        </p:txBody>
      </p:sp>
      <p:sp>
        <p:nvSpPr>
          <p:cNvPr id="9" name="Text 6"/>
          <p:cNvSpPr txBox="1"/>
          <p:nvPr/>
        </p:nvSpPr>
        <p:spPr>
          <a:xfrm>
            <a:off x="676656" y="2240280"/>
            <a:ext cx="1426464" cy="566928"/>
          </a:xfrm>
          <a:prstGeom prst="rect">
            <a:avLst/>
          </a:prstGeom>
          <a:noFill/>
          <a:ln/>
        </p:spPr>
        <p:txBody>
          <a:bodyPr wrap="square" lIns="0" tIns="0" rIns="0" bIns="0" rtlCol="0" anchor="t"/>
          <a:lstStyle/>
          <a:p>
            <a:pPr indent="0" marL="0">
              <a:buNone/>
            </a:pPr>
            <a:r>
              <a:rPr lang="en-US" sz="1000" dirty="0">
                <a:solidFill>
                  <a:srgbClr val="5F6F80"/>
                </a:solidFill>
                <a:latin typeface="Calibri" pitchFamily="34" charset="0"/>
                <a:ea typeface="Calibri" pitchFamily="34" charset="-122"/>
                <a:cs typeface="Calibri" pitchFamily="34" charset="-120"/>
              </a:rPr>
              <a:t>Stripe or Razorpay CSV export, or the SubSim simulator</a:t>
            </a:r>
            <a:endParaRPr lang="en-US" sz="1000" dirty="0"/>
          </a:p>
        </p:txBody>
      </p:sp>
      <p:sp>
        <p:nvSpPr>
          <p:cNvPr id="10" name="Shape 7"/>
          <p:cNvSpPr/>
          <p:nvPr/>
        </p:nvSpPr>
        <p:spPr>
          <a:xfrm>
            <a:off x="2212848" y="2112264"/>
            <a:ext cx="192024" cy="0"/>
          </a:xfrm>
          <a:prstGeom prst="line">
            <a:avLst/>
          </a:prstGeom>
          <a:noFill/>
          <a:ln w="19050">
            <a:solidFill>
              <a:srgbClr val="5B7A99"/>
            </a:solidFill>
            <a:prstDash val="solid"/>
            <a:tailEnd type="triangle"/>
          </a:ln>
        </p:spPr>
      </p:sp>
      <p:sp>
        <p:nvSpPr>
          <p:cNvPr id="11" name="Shape 8"/>
          <p:cNvSpPr/>
          <p:nvPr/>
        </p:nvSpPr>
        <p:spPr>
          <a:xfrm>
            <a:off x="2441448" y="1371600"/>
            <a:ext cx="1627632" cy="1481328"/>
          </a:xfrm>
          <a:prstGeom prst="roundRect">
            <a:avLst>
              <a:gd name="adj" fmla="val 4938"/>
            </a:avLst>
          </a:prstGeom>
          <a:solidFill>
            <a:srgbClr val="F2F5F8"/>
          </a:solidFill>
          <a:ln/>
        </p:spPr>
      </p:sp>
      <p:sp>
        <p:nvSpPr>
          <p:cNvPr id="12" name="Shape 9"/>
          <p:cNvSpPr/>
          <p:nvPr/>
        </p:nvSpPr>
        <p:spPr>
          <a:xfrm>
            <a:off x="2569464" y="1499616"/>
            <a:ext cx="402336" cy="402336"/>
          </a:xfrm>
          <a:prstGeom prst="ellipse">
            <a:avLst/>
          </a:prstGeom>
          <a:solidFill>
            <a:srgbClr val="12263A"/>
          </a:solidFill>
          <a:ln/>
        </p:spPr>
      </p:sp>
      <p:pic>
        <p:nvPicPr>
          <p:cNvPr id="13" name="Image 1" descr="preencoded.png">    </p:cNvPr>
          <p:cNvPicPr>
            <a:picLocks noChangeAspect="1"/>
          </p:cNvPicPr>
          <p:nvPr/>
        </p:nvPicPr>
        <p:blipFill>
          <a:blip r:embed="rId2"/>
          <a:stretch>
            <a:fillRect/>
          </a:stretch>
        </p:blipFill>
        <p:spPr>
          <a:xfrm>
            <a:off x="2670048" y="1600200"/>
            <a:ext cx="201168" cy="201168"/>
          </a:xfrm>
          <a:prstGeom prst="rect">
            <a:avLst/>
          </a:prstGeom>
        </p:spPr>
      </p:pic>
      <p:sp>
        <p:nvSpPr>
          <p:cNvPr id="14" name="Text 10"/>
          <p:cNvSpPr txBox="1"/>
          <p:nvPr/>
        </p:nvSpPr>
        <p:spPr>
          <a:xfrm>
            <a:off x="3630168" y="1517904"/>
            <a:ext cx="320040" cy="320040"/>
          </a:xfrm>
          <a:prstGeom prst="rect">
            <a:avLst/>
          </a:prstGeom>
          <a:noFill/>
          <a:ln/>
        </p:spPr>
        <p:txBody>
          <a:bodyPr wrap="square" lIns="0" tIns="0" rIns="0" bIns="0" rtlCol="0" anchor="t"/>
          <a:lstStyle/>
          <a:p>
            <a:pPr algn="r" indent="0" marL="0">
              <a:buNone/>
            </a:pPr>
            <a:r>
              <a:rPr lang="en-US" sz="1600" b="1" dirty="0">
                <a:solidFill>
                  <a:srgbClr val="A9B6C3"/>
                </a:solidFill>
                <a:latin typeface="Cambria" pitchFamily="34" charset="0"/>
                <a:ea typeface="Cambria" pitchFamily="34" charset="-122"/>
                <a:cs typeface="Cambria" pitchFamily="34" charset="-120"/>
              </a:rPr>
              <a:t>2</a:t>
            </a:r>
            <a:endParaRPr lang="en-US" sz="1600" dirty="0"/>
          </a:p>
        </p:txBody>
      </p:sp>
      <p:sp>
        <p:nvSpPr>
          <p:cNvPr id="15" name="Text 11"/>
          <p:cNvSpPr txBox="1"/>
          <p:nvPr/>
        </p:nvSpPr>
        <p:spPr>
          <a:xfrm>
            <a:off x="2569464" y="1956816"/>
            <a:ext cx="1417320" cy="292608"/>
          </a:xfrm>
          <a:prstGeom prst="rect">
            <a:avLst/>
          </a:prstGeom>
          <a:noFill/>
          <a:ln/>
        </p:spPr>
        <p:txBody>
          <a:bodyPr wrap="square" lIns="0" tIns="0" rIns="0" bIns="0" rtlCol="0" anchor="t"/>
          <a:lstStyle/>
          <a:p>
            <a:pPr indent="0" marL="0">
              <a:buNone/>
            </a:pPr>
            <a:r>
              <a:rPr lang="en-US" sz="1250" b="1" dirty="0">
                <a:solidFill>
                  <a:srgbClr val="12263A"/>
                </a:solidFill>
                <a:latin typeface="Calibri" pitchFamily="34" charset="0"/>
                <a:ea typeface="Calibri" pitchFamily="34" charset="-122"/>
                <a:cs typeface="Calibri" pitchFamily="34" charset="-120"/>
              </a:rPr>
              <a:t>Preflight</a:t>
            </a:r>
            <a:endParaRPr lang="en-US" sz="1250" dirty="0"/>
          </a:p>
        </p:txBody>
      </p:sp>
      <p:sp>
        <p:nvSpPr>
          <p:cNvPr id="16" name="Text 12"/>
          <p:cNvSpPr txBox="1"/>
          <p:nvPr/>
        </p:nvSpPr>
        <p:spPr>
          <a:xfrm>
            <a:off x="2569464" y="2240280"/>
            <a:ext cx="1426464" cy="566928"/>
          </a:xfrm>
          <a:prstGeom prst="rect">
            <a:avLst/>
          </a:prstGeom>
          <a:noFill/>
          <a:ln/>
        </p:spPr>
        <p:txBody>
          <a:bodyPr wrap="square" lIns="0" tIns="0" rIns="0" bIns="0" rtlCol="0" anchor="t"/>
          <a:lstStyle/>
          <a:p>
            <a:pPr indent="0" marL="0">
              <a:buNone/>
            </a:pPr>
            <a:r>
              <a:rPr lang="en-US" sz="1000" dirty="0">
                <a:solidFill>
                  <a:srgbClr val="5F6F80"/>
                </a:solidFill>
                <a:latin typeface="Calibri" pitchFamily="34" charset="0"/>
                <a:ea typeface="Calibri" pitchFamily="34" charset="-122"/>
                <a:cs typeface="Calibri" pitchFamily="34" charset="-120"/>
              </a:rPr>
              <a:t>checks units, dates, history; returns BLOCK or READY</a:t>
            </a:r>
            <a:endParaRPr lang="en-US" sz="1000" dirty="0"/>
          </a:p>
        </p:txBody>
      </p:sp>
      <p:sp>
        <p:nvSpPr>
          <p:cNvPr id="17" name="Shape 13"/>
          <p:cNvSpPr/>
          <p:nvPr/>
        </p:nvSpPr>
        <p:spPr>
          <a:xfrm>
            <a:off x="4105656" y="2112264"/>
            <a:ext cx="192024" cy="0"/>
          </a:xfrm>
          <a:prstGeom prst="line">
            <a:avLst/>
          </a:prstGeom>
          <a:noFill/>
          <a:ln w="19050">
            <a:solidFill>
              <a:srgbClr val="5B7A99"/>
            </a:solidFill>
            <a:prstDash val="solid"/>
            <a:tailEnd type="triangle"/>
          </a:ln>
        </p:spPr>
      </p:sp>
      <p:sp>
        <p:nvSpPr>
          <p:cNvPr id="18" name="Shape 14"/>
          <p:cNvSpPr/>
          <p:nvPr/>
        </p:nvSpPr>
        <p:spPr>
          <a:xfrm>
            <a:off x="4334256" y="1371600"/>
            <a:ext cx="1627632" cy="1481328"/>
          </a:xfrm>
          <a:prstGeom prst="roundRect">
            <a:avLst>
              <a:gd name="adj" fmla="val 4938"/>
            </a:avLst>
          </a:prstGeom>
          <a:solidFill>
            <a:srgbClr val="F2F5F8"/>
          </a:solidFill>
          <a:ln/>
        </p:spPr>
      </p:sp>
      <p:sp>
        <p:nvSpPr>
          <p:cNvPr id="19" name="Shape 15"/>
          <p:cNvSpPr/>
          <p:nvPr/>
        </p:nvSpPr>
        <p:spPr>
          <a:xfrm>
            <a:off x="4462272" y="1499616"/>
            <a:ext cx="402336" cy="402336"/>
          </a:xfrm>
          <a:prstGeom prst="ellipse">
            <a:avLst/>
          </a:prstGeom>
          <a:solidFill>
            <a:srgbClr val="12263A"/>
          </a:solidFill>
          <a:ln/>
        </p:spPr>
      </p:sp>
      <p:pic>
        <p:nvPicPr>
          <p:cNvPr id="20" name="Image 2" descr="preencoded.png">    </p:cNvPr>
          <p:cNvPicPr>
            <a:picLocks noChangeAspect="1"/>
          </p:cNvPicPr>
          <p:nvPr/>
        </p:nvPicPr>
        <p:blipFill>
          <a:blip r:embed="rId3"/>
          <a:stretch>
            <a:fillRect/>
          </a:stretch>
        </p:blipFill>
        <p:spPr>
          <a:xfrm>
            <a:off x="4562856" y="1600200"/>
            <a:ext cx="201168" cy="201168"/>
          </a:xfrm>
          <a:prstGeom prst="rect">
            <a:avLst/>
          </a:prstGeom>
        </p:spPr>
      </p:pic>
      <p:sp>
        <p:nvSpPr>
          <p:cNvPr id="21" name="Text 16"/>
          <p:cNvSpPr txBox="1"/>
          <p:nvPr/>
        </p:nvSpPr>
        <p:spPr>
          <a:xfrm>
            <a:off x="5522976" y="1517904"/>
            <a:ext cx="320040" cy="320040"/>
          </a:xfrm>
          <a:prstGeom prst="rect">
            <a:avLst/>
          </a:prstGeom>
          <a:noFill/>
          <a:ln/>
        </p:spPr>
        <p:txBody>
          <a:bodyPr wrap="square" lIns="0" tIns="0" rIns="0" bIns="0" rtlCol="0" anchor="t"/>
          <a:lstStyle/>
          <a:p>
            <a:pPr algn="r" indent="0" marL="0">
              <a:buNone/>
            </a:pPr>
            <a:r>
              <a:rPr lang="en-US" sz="1600" b="1" dirty="0">
                <a:solidFill>
                  <a:srgbClr val="A9B6C3"/>
                </a:solidFill>
                <a:latin typeface="Cambria" pitchFamily="34" charset="0"/>
                <a:ea typeface="Cambria" pitchFamily="34" charset="-122"/>
                <a:cs typeface="Cambria" pitchFamily="34" charset="-120"/>
              </a:rPr>
              <a:t>3</a:t>
            </a:r>
            <a:endParaRPr lang="en-US" sz="1600" dirty="0"/>
          </a:p>
        </p:txBody>
      </p:sp>
      <p:sp>
        <p:nvSpPr>
          <p:cNvPr id="22" name="Text 17"/>
          <p:cNvSpPr txBox="1"/>
          <p:nvPr/>
        </p:nvSpPr>
        <p:spPr>
          <a:xfrm>
            <a:off x="4462272" y="1956816"/>
            <a:ext cx="1417320" cy="292608"/>
          </a:xfrm>
          <a:prstGeom prst="rect">
            <a:avLst/>
          </a:prstGeom>
          <a:noFill/>
          <a:ln/>
        </p:spPr>
        <p:txBody>
          <a:bodyPr wrap="square" lIns="0" tIns="0" rIns="0" bIns="0" rtlCol="0" anchor="t"/>
          <a:lstStyle/>
          <a:p>
            <a:pPr indent="0" marL="0">
              <a:buNone/>
            </a:pPr>
            <a:r>
              <a:rPr lang="en-US" sz="1250" b="1" dirty="0">
                <a:solidFill>
                  <a:srgbClr val="12263A"/>
                </a:solidFill>
                <a:latin typeface="Calibri" pitchFamily="34" charset="0"/>
                <a:ea typeface="Calibri" pitchFamily="34" charset="-122"/>
                <a:cs typeface="Calibri" pitchFamily="34" charset="-120"/>
              </a:rPr>
              <a:t>Time-safe data</a:t>
            </a:r>
            <a:endParaRPr lang="en-US" sz="1250" dirty="0"/>
          </a:p>
        </p:txBody>
      </p:sp>
      <p:sp>
        <p:nvSpPr>
          <p:cNvPr id="23" name="Text 18"/>
          <p:cNvSpPr txBox="1"/>
          <p:nvPr/>
        </p:nvSpPr>
        <p:spPr>
          <a:xfrm>
            <a:off x="4462272" y="2240280"/>
            <a:ext cx="1426464" cy="566928"/>
          </a:xfrm>
          <a:prstGeom prst="rect">
            <a:avLst/>
          </a:prstGeom>
          <a:noFill/>
          <a:ln/>
        </p:spPr>
        <p:txBody>
          <a:bodyPr wrap="square" lIns="0" tIns="0" rIns="0" bIns="0" rtlCol="0" anchor="t"/>
          <a:lstStyle/>
          <a:p>
            <a:pPr indent="0" marL="0">
              <a:buNone/>
            </a:pPr>
            <a:r>
              <a:rPr lang="en-US" sz="1000" dirty="0">
                <a:solidFill>
                  <a:srgbClr val="5F6F80"/>
                </a:solidFill>
                <a:latin typeface="Calibri" pitchFamily="34" charset="0"/>
                <a:ea typeface="Calibri" pitchFamily="34" charset="-122"/>
                <a:cs typeface="Calibri" pitchFamily="34" charset="-120"/>
              </a:rPr>
              <a:t>features see only what was known at decision time</a:t>
            </a:r>
            <a:endParaRPr lang="en-US" sz="1000" dirty="0"/>
          </a:p>
        </p:txBody>
      </p:sp>
      <p:sp>
        <p:nvSpPr>
          <p:cNvPr id="24" name="Shape 19"/>
          <p:cNvSpPr/>
          <p:nvPr/>
        </p:nvSpPr>
        <p:spPr>
          <a:xfrm>
            <a:off x="5998464" y="2112264"/>
            <a:ext cx="192024" cy="0"/>
          </a:xfrm>
          <a:prstGeom prst="line">
            <a:avLst/>
          </a:prstGeom>
          <a:noFill/>
          <a:ln w="19050">
            <a:solidFill>
              <a:srgbClr val="5B7A99"/>
            </a:solidFill>
            <a:prstDash val="solid"/>
            <a:tailEnd type="triangle"/>
          </a:ln>
        </p:spPr>
      </p:sp>
      <p:sp>
        <p:nvSpPr>
          <p:cNvPr id="25" name="Shape 20"/>
          <p:cNvSpPr/>
          <p:nvPr/>
        </p:nvSpPr>
        <p:spPr>
          <a:xfrm>
            <a:off x="6227064" y="1371600"/>
            <a:ext cx="1627632" cy="1481328"/>
          </a:xfrm>
          <a:prstGeom prst="roundRect">
            <a:avLst>
              <a:gd name="adj" fmla="val 4938"/>
            </a:avLst>
          </a:prstGeom>
          <a:solidFill>
            <a:srgbClr val="F2F5F8"/>
          </a:solidFill>
          <a:ln/>
        </p:spPr>
      </p:sp>
      <p:sp>
        <p:nvSpPr>
          <p:cNvPr id="26" name="Shape 21"/>
          <p:cNvSpPr/>
          <p:nvPr/>
        </p:nvSpPr>
        <p:spPr>
          <a:xfrm>
            <a:off x="6355080" y="1499616"/>
            <a:ext cx="402336" cy="402336"/>
          </a:xfrm>
          <a:prstGeom prst="ellipse">
            <a:avLst/>
          </a:prstGeom>
          <a:solidFill>
            <a:srgbClr val="12263A"/>
          </a:solidFill>
          <a:ln/>
        </p:spPr>
      </p:sp>
      <p:pic>
        <p:nvPicPr>
          <p:cNvPr id="27" name="Image 3" descr="preencoded.png">    </p:cNvPr>
          <p:cNvPicPr>
            <a:picLocks noChangeAspect="1"/>
          </p:cNvPicPr>
          <p:nvPr/>
        </p:nvPicPr>
        <p:blipFill>
          <a:blip r:embed="rId4"/>
          <a:stretch>
            <a:fillRect/>
          </a:stretch>
        </p:blipFill>
        <p:spPr>
          <a:xfrm>
            <a:off x="6455664" y="1600200"/>
            <a:ext cx="201168" cy="201168"/>
          </a:xfrm>
          <a:prstGeom prst="rect">
            <a:avLst/>
          </a:prstGeom>
        </p:spPr>
      </p:pic>
      <p:sp>
        <p:nvSpPr>
          <p:cNvPr id="28" name="Text 22"/>
          <p:cNvSpPr txBox="1"/>
          <p:nvPr/>
        </p:nvSpPr>
        <p:spPr>
          <a:xfrm>
            <a:off x="7415784" y="1517904"/>
            <a:ext cx="320040" cy="320040"/>
          </a:xfrm>
          <a:prstGeom prst="rect">
            <a:avLst/>
          </a:prstGeom>
          <a:noFill/>
          <a:ln/>
        </p:spPr>
        <p:txBody>
          <a:bodyPr wrap="square" lIns="0" tIns="0" rIns="0" bIns="0" rtlCol="0" anchor="t"/>
          <a:lstStyle/>
          <a:p>
            <a:pPr algn="r" indent="0" marL="0">
              <a:buNone/>
            </a:pPr>
            <a:r>
              <a:rPr lang="en-US" sz="1600" b="1" dirty="0">
                <a:solidFill>
                  <a:srgbClr val="A9B6C3"/>
                </a:solidFill>
                <a:latin typeface="Cambria" pitchFamily="34" charset="0"/>
                <a:ea typeface="Cambria" pitchFamily="34" charset="-122"/>
                <a:cs typeface="Cambria" pitchFamily="34" charset="-120"/>
              </a:rPr>
              <a:t>4</a:t>
            </a:r>
            <a:endParaRPr lang="en-US" sz="1600" dirty="0"/>
          </a:p>
        </p:txBody>
      </p:sp>
      <p:sp>
        <p:nvSpPr>
          <p:cNvPr id="29" name="Text 23"/>
          <p:cNvSpPr txBox="1"/>
          <p:nvPr/>
        </p:nvSpPr>
        <p:spPr>
          <a:xfrm>
            <a:off x="6355080" y="1956816"/>
            <a:ext cx="1417320" cy="292608"/>
          </a:xfrm>
          <a:prstGeom prst="rect">
            <a:avLst/>
          </a:prstGeom>
          <a:noFill/>
          <a:ln/>
        </p:spPr>
        <p:txBody>
          <a:bodyPr wrap="square" lIns="0" tIns="0" rIns="0" bIns="0" rtlCol="0" anchor="t"/>
          <a:lstStyle/>
          <a:p>
            <a:pPr indent="0" marL="0">
              <a:buNone/>
            </a:pPr>
            <a:r>
              <a:rPr lang="en-US" sz="1250" b="1" dirty="0">
                <a:solidFill>
                  <a:srgbClr val="12263A"/>
                </a:solidFill>
                <a:latin typeface="Calibri" pitchFamily="34" charset="0"/>
                <a:ea typeface="Calibri" pitchFamily="34" charset="-122"/>
                <a:cs typeface="Calibri" pitchFamily="34" charset="-120"/>
              </a:rPr>
              <a:t>Models</a:t>
            </a:r>
            <a:endParaRPr lang="en-US" sz="1250" dirty="0"/>
          </a:p>
        </p:txBody>
      </p:sp>
      <p:sp>
        <p:nvSpPr>
          <p:cNvPr id="30" name="Text 24"/>
          <p:cNvSpPr txBox="1"/>
          <p:nvPr/>
        </p:nvSpPr>
        <p:spPr>
          <a:xfrm>
            <a:off x="6355080" y="2240280"/>
            <a:ext cx="1426464" cy="566928"/>
          </a:xfrm>
          <a:prstGeom prst="rect">
            <a:avLst/>
          </a:prstGeom>
          <a:noFill/>
          <a:ln/>
        </p:spPr>
        <p:txBody>
          <a:bodyPr wrap="square" lIns="0" tIns="0" rIns="0" bIns="0" rtlCol="0" anchor="t"/>
          <a:lstStyle/>
          <a:p>
            <a:pPr indent="0" marL="0">
              <a:buNone/>
            </a:pPr>
            <a:r>
              <a:rPr lang="en-US" sz="1000" dirty="0">
                <a:solidFill>
                  <a:srgbClr val="5F6F80"/>
                </a:solidFill>
                <a:latin typeface="Calibri" pitchFamily="34" charset="0"/>
                <a:ea typeface="Calibri" pitchFamily="34" charset="-122"/>
                <a:cs typeface="Calibri" pitchFamily="34" charset="-120"/>
              </a:rPr>
              <a:t>survival hazard and Bayesian causal effect</a:t>
            </a:r>
            <a:endParaRPr lang="en-US" sz="1000" dirty="0"/>
          </a:p>
        </p:txBody>
      </p:sp>
      <p:sp>
        <p:nvSpPr>
          <p:cNvPr id="31" name="Shape 25"/>
          <p:cNvSpPr/>
          <p:nvPr/>
        </p:nvSpPr>
        <p:spPr>
          <a:xfrm>
            <a:off x="7891272" y="2112264"/>
            <a:ext cx="192024" cy="0"/>
          </a:xfrm>
          <a:prstGeom prst="line">
            <a:avLst/>
          </a:prstGeom>
          <a:noFill/>
          <a:ln w="19050">
            <a:solidFill>
              <a:srgbClr val="5B7A99"/>
            </a:solidFill>
            <a:prstDash val="solid"/>
            <a:tailEnd type="triangle"/>
          </a:ln>
        </p:spPr>
      </p:sp>
      <p:sp>
        <p:nvSpPr>
          <p:cNvPr id="32" name="Shape 26"/>
          <p:cNvSpPr/>
          <p:nvPr/>
        </p:nvSpPr>
        <p:spPr>
          <a:xfrm>
            <a:off x="8119872" y="1371600"/>
            <a:ext cx="1627632" cy="1481328"/>
          </a:xfrm>
          <a:prstGeom prst="roundRect">
            <a:avLst>
              <a:gd name="adj" fmla="val 4938"/>
            </a:avLst>
          </a:prstGeom>
          <a:solidFill>
            <a:srgbClr val="F2F5F8"/>
          </a:solidFill>
          <a:ln/>
        </p:spPr>
      </p:sp>
      <p:sp>
        <p:nvSpPr>
          <p:cNvPr id="33" name="Shape 27"/>
          <p:cNvSpPr/>
          <p:nvPr/>
        </p:nvSpPr>
        <p:spPr>
          <a:xfrm>
            <a:off x="8247888" y="1499616"/>
            <a:ext cx="402336" cy="402336"/>
          </a:xfrm>
          <a:prstGeom prst="ellipse">
            <a:avLst/>
          </a:prstGeom>
          <a:solidFill>
            <a:srgbClr val="0F9D8A"/>
          </a:solidFill>
          <a:ln/>
        </p:spPr>
      </p:sp>
      <p:pic>
        <p:nvPicPr>
          <p:cNvPr id="34" name="Image 4" descr="preencoded.png">    </p:cNvPr>
          <p:cNvPicPr>
            <a:picLocks noChangeAspect="1"/>
          </p:cNvPicPr>
          <p:nvPr/>
        </p:nvPicPr>
        <p:blipFill>
          <a:blip r:embed="rId5"/>
          <a:stretch>
            <a:fillRect/>
          </a:stretch>
        </p:blipFill>
        <p:spPr>
          <a:xfrm>
            <a:off x="8348472" y="1600200"/>
            <a:ext cx="201168" cy="201168"/>
          </a:xfrm>
          <a:prstGeom prst="rect">
            <a:avLst/>
          </a:prstGeom>
        </p:spPr>
      </p:pic>
      <p:sp>
        <p:nvSpPr>
          <p:cNvPr id="35" name="Text 28"/>
          <p:cNvSpPr txBox="1"/>
          <p:nvPr/>
        </p:nvSpPr>
        <p:spPr>
          <a:xfrm>
            <a:off x="9308592" y="1517904"/>
            <a:ext cx="320040" cy="320040"/>
          </a:xfrm>
          <a:prstGeom prst="rect">
            <a:avLst/>
          </a:prstGeom>
          <a:noFill/>
          <a:ln/>
        </p:spPr>
        <p:txBody>
          <a:bodyPr wrap="square" lIns="0" tIns="0" rIns="0" bIns="0" rtlCol="0" anchor="t"/>
          <a:lstStyle/>
          <a:p>
            <a:pPr algn="r" indent="0" marL="0">
              <a:buNone/>
            </a:pPr>
            <a:r>
              <a:rPr lang="en-US" sz="1600" b="1" dirty="0">
                <a:solidFill>
                  <a:srgbClr val="A9B6C3"/>
                </a:solidFill>
                <a:latin typeface="Cambria" pitchFamily="34" charset="0"/>
                <a:ea typeface="Cambria" pitchFamily="34" charset="-122"/>
                <a:cs typeface="Cambria" pitchFamily="34" charset="-120"/>
              </a:rPr>
              <a:t>5</a:t>
            </a:r>
            <a:endParaRPr lang="en-US" sz="1600" dirty="0"/>
          </a:p>
        </p:txBody>
      </p:sp>
      <p:sp>
        <p:nvSpPr>
          <p:cNvPr id="36" name="Text 29"/>
          <p:cNvSpPr txBox="1"/>
          <p:nvPr/>
        </p:nvSpPr>
        <p:spPr>
          <a:xfrm>
            <a:off x="8247888" y="1956816"/>
            <a:ext cx="1417320" cy="292608"/>
          </a:xfrm>
          <a:prstGeom prst="rect">
            <a:avLst/>
          </a:prstGeom>
          <a:noFill/>
          <a:ln/>
        </p:spPr>
        <p:txBody>
          <a:bodyPr wrap="square" lIns="0" tIns="0" rIns="0" bIns="0" rtlCol="0" anchor="t"/>
          <a:lstStyle/>
          <a:p>
            <a:pPr indent="0" marL="0">
              <a:buNone/>
            </a:pPr>
            <a:r>
              <a:rPr lang="en-US" sz="1250" b="1" dirty="0">
                <a:solidFill>
                  <a:srgbClr val="12263A"/>
                </a:solidFill>
                <a:latin typeface="Calibri" pitchFamily="34" charset="0"/>
                <a:ea typeface="Calibri" pitchFamily="34" charset="-122"/>
                <a:cs typeface="Calibri" pitchFamily="34" charset="-120"/>
              </a:rPr>
              <a:t>Money and policy</a:t>
            </a:r>
            <a:endParaRPr lang="en-US" sz="1250" dirty="0"/>
          </a:p>
        </p:txBody>
      </p:sp>
      <p:sp>
        <p:nvSpPr>
          <p:cNvPr id="37" name="Text 30"/>
          <p:cNvSpPr txBox="1"/>
          <p:nvPr/>
        </p:nvSpPr>
        <p:spPr>
          <a:xfrm>
            <a:off x="8247888" y="2240280"/>
            <a:ext cx="1426464" cy="566928"/>
          </a:xfrm>
          <a:prstGeom prst="rect">
            <a:avLst/>
          </a:prstGeom>
          <a:noFill/>
          <a:ln/>
        </p:spPr>
        <p:txBody>
          <a:bodyPr wrap="square" lIns="0" tIns="0" rIns="0" bIns="0" rtlCol="0" anchor="t"/>
          <a:lstStyle/>
          <a:p>
            <a:pPr indent="0" marL="0">
              <a:buNone/>
            </a:pPr>
            <a:r>
              <a:rPr lang="en-US" sz="1000" dirty="0">
                <a:solidFill>
                  <a:srgbClr val="5F6F80"/>
                </a:solidFill>
                <a:latin typeface="Calibri" pitchFamily="34" charset="0"/>
                <a:ea typeface="Calibri" pitchFamily="34" charset="-122"/>
                <a:cs typeface="Calibri" pitchFamily="34" charset="-120"/>
              </a:rPr>
              <a:t>benefit = −Δp·V − c; abstain or pick an offer</a:t>
            </a:r>
            <a:endParaRPr lang="en-US" sz="1000" dirty="0"/>
          </a:p>
        </p:txBody>
      </p:sp>
      <p:sp>
        <p:nvSpPr>
          <p:cNvPr id="38" name="Shape 31"/>
          <p:cNvSpPr/>
          <p:nvPr/>
        </p:nvSpPr>
        <p:spPr>
          <a:xfrm>
            <a:off x="9784080" y="2112264"/>
            <a:ext cx="192024" cy="0"/>
          </a:xfrm>
          <a:prstGeom prst="line">
            <a:avLst/>
          </a:prstGeom>
          <a:noFill/>
          <a:ln w="19050">
            <a:solidFill>
              <a:srgbClr val="5B7A99"/>
            </a:solidFill>
            <a:prstDash val="solid"/>
            <a:tailEnd type="triangle"/>
          </a:ln>
        </p:spPr>
      </p:sp>
      <p:sp>
        <p:nvSpPr>
          <p:cNvPr id="39" name="Shape 32"/>
          <p:cNvSpPr/>
          <p:nvPr/>
        </p:nvSpPr>
        <p:spPr>
          <a:xfrm>
            <a:off x="10012680" y="1371600"/>
            <a:ext cx="1627632" cy="1481328"/>
          </a:xfrm>
          <a:prstGeom prst="roundRect">
            <a:avLst>
              <a:gd name="adj" fmla="val 4938"/>
            </a:avLst>
          </a:prstGeom>
          <a:solidFill>
            <a:srgbClr val="F2F5F8"/>
          </a:solidFill>
          <a:ln/>
        </p:spPr>
      </p:sp>
      <p:sp>
        <p:nvSpPr>
          <p:cNvPr id="40" name="Shape 33"/>
          <p:cNvSpPr/>
          <p:nvPr/>
        </p:nvSpPr>
        <p:spPr>
          <a:xfrm>
            <a:off x="10140696" y="1499616"/>
            <a:ext cx="402336" cy="402336"/>
          </a:xfrm>
          <a:prstGeom prst="ellipse">
            <a:avLst/>
          </a:prstGeom>
          <a:solidFill>
            <a:srgbClr val="12263A"/>
          </a:solidFill>
          <a:ln/>
        </p:spPr>
      </p:sp>
      <p:pic>
        <p:nvPicPr>
          <p:cNvPr id="41" name="Image 5" descr="preencoded.png">    </p:cNvPr>
          <p:cNvPicPr>
            <a:picLocks noChangeAspect="1"/>
          </p:cNvPicPr>
          <p:nvPr/>
        </p:nvPicPr>
        <p:blipFill>
          <a:blip r:embed="rId6"/>
          <a:stretch>
            <a:fillRect/>
          </a:stretch>
        </p:blipFill>
        <p:spPr>
          <a:xfrm>
            <a:off x="10241280" y="1600200"/>
            <a:ext cx="201168" cy="201168"/>
          </a:xfrm>
          <a:prstGeom prst="rect">
            <a:avLst/>
          </a:prstGeom>
        </p:spPr>
      </p:pic>
      <p:sp>
        <p:nvSpPr>
          <p:cNvPr id="42" name="Text 34"/>
          <p:cNvSpPr txBox="1"/>
          <p:nvPr/>
        </p:nvSpPr>
        <p:spPr>
          <a:xfrm>
            <a:off x="11201400" y="1517904"/>
            <a:ext cx="320040" cy="320040"/>
          </a:xfrm>
          <a:prstGeom prst="rect">
            <a:avLst/>
          </a:prstGeom>
          <a:noFill/>
          <a:ln/>
        </p:spPr>
        <p:txBody>
          <a:bodyPr wrap="square" lIns="0" tIns="0" rIns="0" bIns="0" rtlCol="0" anchor="t"/>
          <a:lstStyle/>
          <a:p>
            <a:pPr algn="r" indent="0" marL="0">
              <a:buNone/>
            </a:pPr>
            <a:r>
              <a:rPr lang="en-US" sz="1600" b="1" dirty="0">
                <a:solidFill>
                  <a:srgbClr val="A9B6C3"/>
                </a:solidFill>
                <a:latin typeface="Cambria" pitchFamily="34" charset="0"/>
                <a:ea typeface="Cambria" pitchFamily="34" charset="-122"/>
                <a:cs typeface="Cambria" pitchFamily="34" charset="-120"/>
              </a:rPr>
              <a:t>6</a:t>
            </a:r>
            <a:endParaRPr lang="en-US" sz="1600" dirty="0"/>
          </a:p>
        </p:txBody>
      </p:sp>
      <p:sp>
        <p:nvSpPr>
          <p:cNvPr id="43" name="Text 35"/>
          <p:cNvSpPr txBox="1"/>
          <p:nvPr/>
        </p:nvSpPr>
        <p:spPr>
          <a:xfrm>
            <a:off x="10140696" y="1956816"/>
            <a:ext cx="1417320" cy="292608"/>
          </a:xfrm>
          <a:prstGeom prst="rect">
            <a:avLst/>
          </a:prstGeom>
          <a:noFill/>
          <a:ln/>
        </p:spPr>
        <p:txBody>
          <a:bodyPr wrap="square" lIns="0" tIns="0" rIns="0" bIns="0" rtlCol="0" anchor="t"/>
          <a:lstStyle/>
          <a:p>
            <a:pPr indent="0" marL="0">
              <a:buNone/>
            </a:pPr>
            <a:r>
              <a:rPr lang="en-US" sz="1250" b="1" dirty="0">
                <a:solidFill>
                  <a:srgbClr val="12263A"/>
                </a:solidFill>
                <a:latin typeface="Calibri" pitchFamily="34" charset="0"/>
                <a:ea typeface="Calibri" pitchFamily="34" charset="-122"/>
                <a:cs typeface="Calibri" pitchFamily="34" charset="-120"/>
              </a:rPr>
              <a:t>Outputs and proof</a:t>
            </a:r>
            <a:endParaRPr lang="en-US" sz="1250" dirty="0"/>
          </a:p>
        </p:txBody>
      </p:sp>
      <p:sp>
        <p:nvSpPr>
          <p:cNvPr id="44" name="Text 36"/>
          <p:cNvSpPr txBox="1"/>
          <p:nvPr/>
        </p:nvSpPr>
        <p:spPr>
          <a:xfrm>
            <a:off x="10140696" y="2240280"/>
            <a:ext cx="1426464" cy="566928"/>
          </a:xfrm>
          <a:prstGeom prst="rect">
            <a:avLst/>
          </a:prstGeom>
          <a:noFill/>
          <a:ln/>
        </p:spPr>
        <p:txBody>
          <a:bodyPr wrap="square" lIns="0" tIns="0" rIns="0" bIns="0" rtlCol="0" anchor="t"/>
          <a:lstStyle/>
          <a:p>
            <a:pPr indent="0" marL="0">
              <a:buNone/>
            </a:pPr>
            <a:r>
              <a:rPr lang="en-US" sz="1000" dirty="0">
                <a:solidFill>
                  <a:srgbClr val="5F6F80"/>
                </a:solidFill>
                <a:latin typeface="Calibri" pitchFamily="34" charset="0"/>
                <a:ea typeface="Calibri" pitchFamily="34" charset="-122"/>
                <a:cs typeface="Calibri" pitchFamily="34" charset="-120"/>
              </a:rPr>
              <a:t>report, dashboard, worklists, holdout ledger</a:t>
            </a:r>
            <a:endParaRPr lang="en-US" sz="1000" dirty="0"/>
          </a:p>
        </p:txBody>
      </p:sp>
      <p:sp>
        <p:nvSpPr>
          <p:cNvPr id="45" name="Text 37"/>
          <p:cNvSpPr txBox="1"/>
          <p:nvPr/>
        </p:nvSpPr>
        <p:spPr>
          <a:xfrm>
            <a:off x="548640" y="3017520"/>
            <a:ext cx="3657600" cy="274320"/>
          </a:xfrm>
          <a:prstGeom prst="rect">
            <a:avLst/>
          </a:prstGeom>
          <a:noFill/>
          <a:ln/>
        </p:spPr>
        <p:txBody>
          <a:bodyPr wrap="square" lIns="0" tIns="0" rIns="0" bIns="0" rtlCol="0" anchor="t"/>
          <a:lstStyle/>
          <a:p>
            <a:pPr indent="0" marL="0">
              <a:buNone/>
            </a:pPr>
            <a:r>
              <a:rPr lang="en-US" sz="1300" b="1" dirty="0">
                <a:solidFill>
                  <a:srgbClr val="12263A"/>
                </a:solidFill>
                <a:latin typeface="Calibri" pitchFamily="34" charset="0"/>
                <a:ea typeface="Calibri" pitchFamily="34" charset="-122"/>
                <a:cs typeface="Calibri" pitchFamily="34" charset="-120"/>
              </a:rPr>
              <a:t>Datasets</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3319272"/>
          <a:ext cx="7132320" cy="914400"/>
        </p:xfrm>
        <a:graphic>
          <a:graphicData uri="http://schemas.openxmlformats.org/drawingml/2006/table">
            <a:tbl>
              <a:tblPr/>
              <a:tblGrid>
                <a:gridCol w="2103120"/>
                <a:gridCol w="1325880"/>
                <a:gridCol w="1828800"/>
                <a:gridCol w="1874520"/>
              </a:tblGrid>
              <a:tr h="30175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Dataset</a:t>
                      </a:r>
                      <a:endParaRPr lang="en-US" sz="1100" dirty="0">
                        <a:latin typeface="Calibri" charset="0"/>
                        <a:ea typeface="Calibri" charset="0"/>
                        <a:cs typeface="Calibri" charset="0"/>
                      </a:endParaRPr>
                    </a:p>
                  </a:txBody>
                  <a:tcPr marL="76200" marR="762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2263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Size (rows)</a:t>
                      </a:r>
                      <a:endParaRPr lang="en-US" sz="1100" dirty="0">
                        <a:latin typeface="Calibri" charset="0"/>
                        <a:ea typeface="Calibri" charset="0"/>
                        <a:cs typeface="Calibri" charset="0"/>
                      </a:endParaRPr>
                    </a:p>
                  </a:txBody>
                  <a:tcPr marL="76200" marR="762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2263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Type</a:t>
                      </a:r>
                      <a:endParaRPr lang="en-US" sz="1100" dirty="0">
                        <a:latin typeface="Calibri" charset="0"/>
                        <a:ea typeface="Calibri" charset="0"/>
                        <a:cs typeface="Calibri" charset="0"/>
                      </a:endParaRPr>
                    </a:p>
                  </a:txBody>
                  <a:tcPr marL="76200" marR="762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2263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Used for</a:t>
                      </a:r>
                      <a:endParaRPr lang="en-US" sz="1100" dirty="0">
                        <a:latin typeface="Calibri" charset="0"/>
                        <a:ea typeface="Calibri" charset="0"/>
                        <a:cs typeface="Calibri" charset="0"/>
                      </a:endParaRPr>
                    </a:p>
                  </a:txBody>
                  <a:tcPr marL="76200" marR="762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2263A"/>
                    </a:solidFill>
                  </a:tcPr>
                </a:tc>
              </a:tr>
              <a:tr h="301752">
                <a:tc>
                  <a:txBody>
                    <a:bodyPr/>
                    <a:lstStyle/>
                    <a:p>
                      <a:pPr indent="0" marL="0">
                        <a:buNone/>
                      </a:pPr>
                      <a:r>
                        <a:rPr lang="en-US" sz="1100" dirty="0">
                          <a:solidFill>
                            <a:srgbClr val="1B2733"/>
                          </a:solidFill>
                          <a:latin typeface="Calibri" pitchFamily="34" charset="0"/>
                          <a:ea typeface="Calibri" pitchFamily="34" charset="-122"/>
                          <a:cs typeface="Calibri" pitchFamily="34" charset="-120"/>
                        </a:rPr>
                        <a:t>Hillstrom (MineThatData)</a:t>
                      </a:r>
                      <a:endParaRPr lang="en-US" sz="1100" dirty="0">
                        <a:latin typeface="Calibri" charset="0"/>
                        <a:ea typeface="Calibri" charset="0"/>
                        <a:cs typeface="Calibri" charset="0"/>
                      </a:endParaRPr>
                    </a:p>
                  </a:txBody>
                  <a:tcPr marL="76200" marR="762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100" dirty="0">
                          <a:solidFill>
                            <a:srgbClr val="1B2733"/>
                          </a:solidFill>
                          <a:latin typeface="Calibri" pitchFamily="34" charset="0"/>
                          <a:ea typeface="Calibri" pitchFamily="34" charset="-122"/>
                          <a:cs typeface="Calibri" pitchFamily="34" charset="-120"/>
                        </a:rPr>
                        <a:t>64,000</a:t>
                      </a:r>
                      <a:endParaRPr lang="en-US" sz="1100" dirty="0">
                        <a:latin typeface="Calibri" charset="0"/>
                        <a:ea typeface="Calibri" charset="0"/>
                        <a:cs typeface="Calibri" charset="0"/>
                      </a:endParaRPr>
                    </a:p>
                  </a:txBody>
                  <a:tcPr marL="76200" marR="762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100" dirty="0">
                          <a:solidFill>
                            <a:srgbClr val="1B2733"/>
                          </a:solidFill>
                          <a:latin typeface="Calibri" pitchFamily="34" charset="0"/>
                          <a:ea typeface="Calibri" pitchFamily="34" charset="-122"/>
                          <a:cs typeface="Calibri" pitchFamily="34" charset="-120"/>
                        </a:rPr>
                        <a:t>RCT · 3 e-mail arms</a:t>
                      </a:r>
                      <a:endParaRPr lang="en-US" sz="1100" dirty="0">
                        <a:latin typeface="Calibri" charset="0"/>
                        <a:ea typeface="Calibri" charset="0"/>
                        <a:cs typeface="Calibri" charset="0"/>
                      </a:endParaRPr>
                    </a:p>
                  </a:txBody>
                  <a:tcPr marL="76200" marR="762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100" dirty="0">
                          <a:solidFill>
                            <a:srgbClr val="1B2733"/>
                          </a:solidFill>
                          <a:latin typeface="Calibri" pitchFamily="34" charset="0"/>
                          <a:ea typeface="Calibri" pitchFamily="34" charset="-122"/>
                          <a:cs typeface="Calibri" pitchFamily="34" charset="-120"/>
                        </a:rPr>
                        <a:t>correlation test; small-n</a:t>
                      </a:r>
                      <a:endParaRPr lang="en-US" sz="1100" dirty="0">
                        <a:latin typeface="Calibri" charset="0"/>
                        <a:ea typeface="Calibri" charset="0"/>
                        <a:cs typeface="Calibri" charset="0"/>
                      </a:endParaRPr>
                    </a:p>
                  </a:txBody>
                  <a:tcPr marL="76200" marR="762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B2733"/>
                          </a:solidFill>
                          <a:latin typeface="Calibri" pitchFamily="34" charset="0"/>
                          <a:ea typeface="Calibri" pitchFamily="34" charset="-122"/>
                          <a:cs typeface="Calibri" pitchFamily="34" charset="-120"/>
                        </a:rPr>
                        <a:t>Criteo-UPLIFT v2.1</a:t>
                      </a:r>
                      <a:endParaRPr lang="en-US" sz="1100" dirty="0">
                        <a:latin typeface="Calibri" charset="0"/>
                        <a:ea typeface="Calibri" charset="0"/>
                        <a:cs typeface="Calibri" charset="0"/>
                      </a:endParaRPr>
                    </a:p>
                  </a:txBody>
                  <a:tcPr marL="76200" marR="762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c>
                  <a:txBody>
                    <a:bodyPr/>
                    <a:lstStyle/>
                    <a:p>
                      <a:pPr indent="0" marL="0">
                        <a:buNone/>
                      </a:pPr>
                      <a:r>
                        <a:rPr lang="en-US" sz="1100" dirty="0">
                          <a:solidFill>
                            <a:srgbClr val="1B2733"/>
                          </a:solidFill>
                          <a:latin typeface="Calibri" pitchFamily="34" charset="0"/>
                          <a:ea typeface="Calibri" pitchFamily="34" charset="-122"/>
                          <a:cs typeface="Calibri" pitchFamily="34" charset="-120"/>
                        </a:rPr>
                        <a:t>13,979,592</a:t>
                      </a:r>
                      <a:endParaRPr lang="en-US" sz="1100" dirty="0">
                        <a:latin typeface="Calibri" charset="0"/>
                        <a:ea typeface="Calibri" charset="0"/>
                        <a:cs typeface="Calibri" charset="0"/>
                      </a:endParaRPr>
                    </a:p>
                  </a:txBody>
                  <a:tcPr marL="76200" marR="762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c>
                  <a:txBody>
                    <a:bodyPr/>
                    <a:lstStyle/>
                    <a:p>
                      <a:pPr indent="0" marL="0">
                        <a:buNone/>
                      </a:pPr>
                      <a:r>
                        <a:rPr lang="en-US" sz="1100" dirty="0">
                          <a:solidFill>
                            <a:srgbClr val="1B2733"/>
                          </a:solidFill>
                          <a:latin typeface="Calibri" pitchFamily="34" charset="0"/>
                          <a:ea typeface="Calibri" pitchFamily="34" charset="-122"/>
                          <a:cs typeface="Calibri" pitchFamily="34" charset="-120"/>
                        </a:rPr>
                        <a:t>RCT · advertising</a:t>
                      </a:r>
                      <a:endParaRPr lang="en-US" sz="1100" dirty="0">
                        <a:latin typeface="Calibri" charset="0"/>
                        <a:ea typeface="Calibri" charset="0"/>
                        <a:cs typeface="Calibri" charset="0"/>
                      </a:endParaRPr>
                    </a:p>
                  </a:txBody>
                  <a:tcPr marL="76200" marR="762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c>
                  <a:txBody>
                    <a:bodyPr/>
                    <a:lstStyle/>
                    <a:p>
                      <a:pPr indent="0" marL="0">
                        <a:buNone/>
                      </a:pPr>
                      <a:r>
                        <a:rPr lang="en-US" sz="1100" dirty="0">
                          <a:solidFill>
                            <a:srgbClr val="1B2733"/>
                          </a:solidFill>
                          <a:latin typeface="Calibri" pitchFamily="34" charset="0"/>
                          <a:ea typeface="Calibri" pitchFamily="34" charset="-122"/>
                          <a:cs typeface="Calibri" pitchFamily="34" charset="-120"/>
                        </a:rPr>
                        <a:t>correlation test</a:t>
                      </a:r>
                      <a:endParaRPr lang="en-US" sz="1100" dirty="0">
                        <a:latin typeface="Calibri" charset="0"/>
                        <a:ea typeface="Calibri" charset="0"/>
                        <a:cs typeface="Calibri" charset="0"/>
                      </a:endParaRPr>
                    </a:p>
                  </a:txBody>
                  <a:tcPr marL="76200" marR="762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r>
              <a:tr h="301752">
                <a:tc>
                  <a:txBody>
                    <a:bodyPr/>
                    <a:lstStyle/>
                    <a:p>
                      <a:pPr indent="0" marL="0">
                        <a:buNone/>
                      </a:pPr>
                      <a:r>
                        <a:rPr lang="en-US" sz="1100" dirty="0">
                          <a:solidFill>
                            <a:srgbClr val="1B2733"/>
                          </a:solidFill>
                          <a:latin typeface="Calibri" pitchFamily="34" charset="0"/>
                          <a:ea typeface="Calibri" pitchFamily="34" charset="-122"/>
                          <a:cs typeface="Calibri" pitchFamily="34" charset="-120"/>
                        </a:rPr>
                        <a:t>Lenta (scikit-uplift)</a:t>
                      </a:r>
                      <a:endParaRPr lang="en-US" sz="1100" dirty="0">
                        <a:latin typeface="Calibri" charset="0"/>
                        <a:ea typeface="Calibri" charset="0"/>
                        <a:cs typeface="Calibri" charset="0"/>
                      </a:endParaRPr>
                    </a:p>
                  </a:txBody>
                  <a:tcPr marL="76200" marR="762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100" dirty="0">
                          <a:solidFill>
                            <a:srgbClr val="1B2733"/>
                          </a:solidFill>
                          <a:latin typeface="Calibri" pitchFamily="34" charset="0"/>
                          <a:ea typeface="Calibri" pitchFamily="34" charset="-122"/>
                          <a:cs typeface="Calibri" pitchFamily="34" charset="-120"/>
                        </a:rPr>
                        <a:t>687,029</a:t>
                      </a:r>
                      <a:endParaRPr lang="en-US" sz="1100" dirty="0">
                        <a:latin typeface="Calibri" charset="0"/>
                        <a:ea typeface="Calibri" charset="0"/>
                        <a:cs typeface="Calibri" charset="0"/>
                      </a:endParaRPr>
                    </a:p>
                  </a:txBody>
                  <a:tcPr marL="76200" marR="762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100" dirty="0">
                          <a:solidFill>
                            <a:srgbClr val="1B2733"/>
                          </a:solidFill>
                          <a:latin typeface="Calibri" pitchFamily="34" charset="0"/>
                          <a:ea typeface="Calibri" pitchFamily="34" charset="-122"/>
                          <a:cs typeface="Calibri" pitchFamily="34" charset="-120"/>
                        </a:rPr>
                        <a:t>RCT · retail promotion</a:t>
                      </a:r>
                      <a:endParaRPr lang="en-US" sz="1100" dirty="0">
                        <a:latin typeface="Calibri" charset="0"/>
                        <a:ea typeface="Calibri" charset="0"/>
                        <a:cs typeface="Calibri" charset="0"/>
                      </a:endParaRPr>
                    </a:p>
                  </a:txBody>
                  <a:tcPr marL="76200" marR="762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100" dirty="0">
                          <a:solidFill>
                            <a:srgbClr val="1B2733"/>
                          </a:solidFill>
                          <a:latin typeface="Calibri" pitchFamily="34" charset="0"/>
                          <a:ea typeface="Calibri" pitchFamily="34" charset="-122"/>
                          <a:cs typeface="Calibri" pitchFamily="34" charset="-120"/>
                        </a:rPr>
                        <a:t>out-of-sample prediction</a:t>
                      </a:r>
                      <a:endParaRPr lang="en-US" sz="1100" dirty="0">
                        <a:latin typeface="Calibri" charset="0"/>
                        <a:ea typeface="Calibri" charset="0"/>
                        <a:cs typeface="Calibri" charset="0"/>
                      </a:endParaRPr>
                    </a:p>
                  </a:txBody>
                  <a:tcPr marL="76200" marR="762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B2733"/>
                          </a:solidFill>
                          <a:latin typeface="Calibri" pitchFamily="34" charset="0"/>
                          <a:ea typeface="Calibri" pitchFamily="34" charset="-122"/>
                          <a:cs typeface="Calibri" pitchFamily="34" charset="-120"/>
                        </a:rPr>
                        <a:t>IBM Telco Customer Churn</a:t>
                      </a:r>
                      <a:endParaRPr lang="en-US" sz="1100" dirty="0">
                        <a:latin typeface="Calibri" charset="0"/>
                        <a:ea typeface="Calibri" charset="0"/>
                        <a:cs typeface="Calibri" charset="0"/>
                      </a:endParaRPr>
                    </a:p>
                  </a:txBody>
                  <a:tcPr marL="76200" marR="762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c>
                  <a:txBody>
                    <a:bodyPr/>
                    <a:lstStyle/>
                    <a:p>
                      <a:pPr indent="0" marL="0">
                        <a:buNone/>
                      </a:pPr>
                      <a:r>
                        <a:rPr lang="en-US" sz="1100" dirty="0">
                          <a:solidFill>
                            <a:srgbClr val="1B2733"/>
                          </a:solidFill>
                          <a:latin typeface="Calibri" pitchFamily="34" charset="0"/>
                          <a:ea typeface="Calibri" pitchFamily="34" charset="-122"/>
                          <a:cs typeface="Calibri" pitchFamily="34" charset="-120"/>
                        </a:rPr>
                        <a:t>7,043 → 7,032</a:t>
                      </a:r>
                      <a:endParaRPr lang="en-US" sz="1100" dirty="0">
                        <a:latin typeface="Calibri" charset="0"/>
                        <a:ea typeface="Calibri" charset="0"/>
                        <a:cs typeface="Calibri" charset="0"/>
                      </a:endParaRPr>
                    </a:p>
                  </a:txBody>
                  <a:tcPr marL="76200" marR="762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c>
                  <a:txBody>
                    <a:bodyPr/>
                    <a:lstStyle/>
                    <a:p>
                      <a:pPr indent="0" marL="0">
                        <a:buNone/>
                      </a:pPr>
                      <a:r>
                        <a:rPr lang="en-US" sz="1100" dirty="0">
                          <a:solidFill>
                            <a:srgbClr val="1B2733"/>
                          </a:solidFill>
                          <a:latin typeface="Calibri" pitchFamily="34" charset="0"/>
                          <a:ea typeface="Calibri" pitchFamily="34" charset="-122"/>
                          <a:cs typeface="Calibri" pitchFamily="34" charset="-120"/>
                        </a:rPr>
                        <a:t>subscription churn</a:t>
                      </a:r>
                      <a:endParaRPr lang="en-US" sz="1100" dirty="0">
                        <a:latin typeface="Calibri" charset="0"/>
                        <a:ea typeface="Calibri" charset="0"/>
                        <a:cs typeface="Calibri" charset="0"/>
                      </a:endParaRPr>
                    </a:p>
                  </a:txBody>
                  <a:tcPr marL="76200" marR="762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c>
                  <a:txBody>
                    <a:bodyPr/>
                    <a:lstStyle/>
                    <a:p>
                      <a:pPr indent="0" marL="0">
                        <a:buNone/>
                      </a:pPr>
                      <a:r>
                        <a:rPr lang="en-US" sz="1100" dirty="0">
                          <a:solidFill>
                            <a:srgbClr val="1B2733"/>
                          </a:solidFill>
                          <a:latin typeface="Calibri" pitchFamily="34" charset="0"/>
                          <a:ea typeface="Calibri" pitchFamily="34" charset="-122"/>
                          <a:cs typeface="Calibri" pitchFamily="34" charset="-120"/>
                        </a:rPr>
                        <a:t>survival benchmark</a:t>
                      </a:r>
                      <a:endParaRPr lang="en-US" sz="1100" dirty="0">
                        <a:latin typeface="Calibri" charset="0"/>
                        <a:ea typeface="Calibri" charset="0"/>
                        <a:cs typeface="Calibri" charset="0"/>
                      </a:endParaRPr>
                    </a:p>
                  </a:txBody>
                  <a:tcPr marL="76200" marR="762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r>
              <a:tr h="301752">
                <a:tc>
                  <a:txBody>
                    <a:bodyPr/>
                    <a:lstStyle/>
                    <a:p>
                      <a:pPr indent="0" marL="0">
                        <a:buNone/>
                      </a:pPr>
                      <a:r>
                        <a:rPr lang="en-US" sz="1100" dirty="0">
                          <a:solidFill>
                            <a:srgbClr val="1B2733"/>
                          </a:solidFill>
                          <a:latin typeface="Calibri" pitchFamily="34" charset="0"/>
                          <a:ea typeface="Calibri" pitchFamily="34" charset="-122"/>
                          <a:cs typeface="Calibri" pitchFamily="34" charset="-120"/>
                        </a:rPr>
                        <a:t>GBSG2 (scikit-survival)</a:t>
                      </a:r>
                      <a:endParaRPr lang="en-US" sz="1100" dirty="0">
                        <a:latin typeface="Calibri" charset="0"/>
                        <a:ea typeface="Calibri" charset="0"/>
                        <a:cs typeface="Calibri" charset="0"/>
                      </a:endParaRPr>
                    </a:p>
                  </a:txBody>
                  <a:tcPr marL="76200" marR="762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100" dirty="0">
                          <a:solidFill>
                            <a:srgbClr val="1B2733"/>
                          </a:solidFill>
                          <a:latin typeface="Calibri" pitchFamily="34" charset="0"/>
                          <a:ea typeface="Calibri" pitchFamily="34" charset="-122"/>
                          <a:cs typeface="Calibri" pitchFamily="34" charset="-120"/>
                        </a:rPr>
                        <a:t>686</a:t>
                      </a:r>
                      <a:endParaRPr lang="en-US" sz="1100" dirty="0">
                        <a:latin typeface="Calibri" charset="0"/>
                        <a:ea typeface="Calibri" charset="0"/>
                        <a:cs typeface="Calibri" charset="0"/>
                      </a:endParaRPr>
                    </a:p>
                  </a:txBody>
                  <a:tcPr marL="76200" marR="762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100" dirty="0">
                          <a:solidFill>
                            <a:srgbClr val="1B2733"/>
                          </a:solidFill>
                          <a:latin typeface="Calibri" pitchFamily="34" charset="0"/>
                          <a:ea typeface="Calibri" pitchFamily="34" charset="-122"/>
                          <a:cs typeface="Calibri" pitchFamily="34" charset="-120"/>
                        </a:rPr>
                        <a:t>clinical, censored</a:t>
                      </a:r>
                      <a:endParaRPr lang="en-US" sz="1100" dirty="0">
                        <a:latin typeface="Calibri" charset="0"/>
                        <a:ea typeface="Calibri" charset="0"/>
                        <a:cs typeface="Calibri" charset="0"/>
                      </a:endParaRPr>
                    </a:p>
                  </a:txBody>
                  <a:tcPr marL="76200" marR="762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100" dirty="0">
                          <a:solidFill>
                            <a:srgbClr val="1B2733"/>
                          </a:solidFill>
                          <a:latin typeface="Calibri" pitchFamily="34" charset="0"/>
                          <a:ea typeface="Calibri" pitchFamily="34" charset="-122"/>
                          <a:cs typeface="Calibri" pitchFamily="34" charset="-120"/>
                        </a:rPr>
                        <a:t>negative control</a:t>
                      </a:r>
                      <a:endParaRPr lang="en-US" sz="1100" dirty="0">
                        <a:latin typeface="Calibri" charset="0"/>
                        <a:ea typeface="Calibri" charset="0"/>
                        <a:cs typeface="Calibri" charset="0"/>
                      </a:endParaRPr>
                    </a:p>
                  </a:txBody>
                  <a:tcPr marL="76200" marR="762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301752">
                <a:tc>
                  <a:txBody>
                    <a:bodyPr/>
                    <a:lstStyle/>
                    <a:p>
                      <a:pPr indent="0" marL="0">
                        <a:buNone/>
                      </a:pPr>
                      <a:r>
                        <a:rPr lang="en-US" sz="1100" b="1" dirty="0">
                          <a:solidFill>
                            <a:srgbClr val="1B2733"/>
                          </a:solidFill>
                          <a:latin typeface="Calibri" pitchFamily="34" charset="0"/>
                          <a:ea typeface="Calibri" pitchFamily="34" charset="-122"/>
                          <a:cs typeface="Calibri" pitchFamily="34" charset="-120"/>
                        </a:rPr>
                        <a:t>SubSim (this project)</a:t>
                      </a:r>
                      <a:endParaRPr lang="en-US" sz="1100" dirty="0">
                        <a:latin typeface="Calibri" charset="0"/>
                        <a:ea typeface="Calibri" charset="0"/>
                        <a:cs typeface="Calibri" charset="0"/>
                      </a:endParaRPr>
                    </a:p>
                  </a:txBody>
                  <a:tcPr marL="76200" marR="762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c>
                  <a:txBody>
                    <a:bodyPr/>
                    <a:lstStyle/>
                    <a:p>
                      <a:pPr indent="0" marL="0">
                        <a:buNone/>
                      </a:pPr>
                      <a:r>
                        <a:rPr lang="en-US" sz="1100" dirty="0">
                          <a:solidFill>
                            <a:srgbClr val="1B2733"/>
                          </a:solidFill>
                          <a:latin typeface="Calibri" pitchFamily="34" charset="0"/>
                          <a:ea typeface="Calibri" pitchFamily="34" charset="-122"/>
                          <a:cs typeface="Calibri" pitchFamily="34" charset="-120"/>
                        </a:rPr>
                        <a:t>configurable</a:t>
                      </a:r>
                      <a:endParaRPr lang="en-US" sz="1100" dirty="0">
                        <a:latin typeface="Calibri" charset="0"/>
                        <a:ea typeface="Calibri" charset="0"/>
                        <a:cs typeface="Calibri" charset="0"/>
                      </a:endParaRPr>
                    </a:p>
                  </a:txBody>
                  <a:tcPr marL="76200" marR="762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c>
                  <a:txBody>
                    <a:bodyPr/>
                    <a:lstStyle/>
                    <a:p>
                      <a:pPr indent="0" marL="0">
                        <a:buNone/>
                      </a:pPr>
                      <a:r>
                        <a:rPr lang="en-US" sz="1100" dirty="0">
                          <a:solidFill>
                            <a:srgbClr val="1B2733"/>
                          </a:solidFill>
                          <a:latin typeface="Calibri" pitchFamily="34" charset="0"/>
                          <a:ea typeface="Calibri" pitchFamily="34" charset="-122"/>
                          <a:cs typeface="Calibri" pitchFamily="34" charset="-120"/>
                        </a:rPr>
                        <a:t>simulator, exact effects</a:t>
                      </a:r>
                      <a:endParaRPr lang="en-US" sz="1100" dirty="0">
                        <a:latin typeface="Calibri" charset="0"/>
                        <a:ea typeface="Calibri" charset="0"/>
                        <a:cs typeface="Calibri" charset="0"/>
                      </a:endParaRPr>
                    </a:p>
                  </a:txBody>
                  <a:tcPr marL="76200" marR="762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c>
                  <a:txBody>
                    <a:bodyPr/>
                    <a:lstStyle/>
                    <a:p>
                      <a:pPr indent="0" marL="0">
                        <a:buNone/>
                      </a:pPr>
                      <a:r>
                        <a:rPr lang="en-US" sz="1100" dirty="0">
                          <a:solidFill>
                            <a:srgbClr val="1B2733"/>
                          </a:solidFill>
                          <a:latin typeface="Calibri" pitchFamily="34" charset="0"/>
                          <a:ea typeface="Calibri" pitchFamily="34" charset="-122"/>
                          <a:cs typeface="Calibri" pitchFamily="34" charset="-120"/>
                        </a:rPr>
                        <a:t>individual ground truth</a:t>
                      </a:r>
                      <a:endParaRPr lang="en-US" sz="1100" dirty="0">
                        <a:latin typeface="Calibri" charset="0"/>
                        <a:ea typeface="Calibri" charset="0"/>
                        <a:cs typeface="Calibri" charset="0"/>
                      </a:endParaRPr>
                    </a:p>
                  </a:txBody>
                  <a:tcPr marL="76200" marR="762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r>
            </a:tbl>
          </a:graphicData>
        </a:graphic>
      </p:graphicFrame>
      <p:sp>
        <p:nvSpPr>
          <p:cNvPr id="47" name="Text 38"/>
          <p:cNvSpPr txBox="1"/>
          <p:nvPr/>
        </p:nvSpPr>
        <p:spPr>
          <a:xfrm>
            <a:off x="548640" y="5532120"/>
            <a:ext cx="7132320" cy="822960"/>
          </a:xfrm>
          <a:prstGeom prst="rect">
            <a:avLst/>
          </a:prstGeom>
          <a:noFill/>
          <a:ln/>
        </p:spPr>
        <p:txBody>
          <a:bodyPr wrap="square" lIns="0" tIns="0" rIns="0" bIns="0" rtlCol="0" anchor="t"/>
          <a:lstStyle/>
          <a:p>
            <a:pPr indent="0" marL="0">
              <a:buNone/>
            </a:pPr>
            <a:r>
              <a:rPr lang="en-US" sz="1000" dirty="0">
                <a:solidFill>
                  <a:srgbClr val="5F6F80"/>
                </a:solidFill>
                <a:latin typeface="Calibri" pitchFamily="34" charset="0"/>
                <a:ea typeface="Calibri" pitchFamily="34" charset="-122"/>
                <a:cs typeface="Calibri" pitchFamily="34" charset="-120"/>
              </a:rPr>
              <a:t>Preprocessing: temporal splits (train only on months before the decision month); person-month rows split by customer, never by row. Telco has no calendar time, so it is split by customer, and TotalCharges is dropped as a tenure proxy (r = 0.83). Third-party data is cited, not redistributed; the Zenodo data record holds a SHA-256 checksum of each file used.</a:t>
            </a:r>
            <a:endParaRPr lang="en-US" sz="1000" dirty="0"/>
          </a:p>
        </p:txBody>
      </p:sp>
      <p:sp>
        <p:nvSpPr>
          <p:cNvPr id="48" name="Shape 39"/>
          <p:cNvSpPr/>
          <p:nvPr/>
        </p:nvSpPr>
        <p:spPr>
          <a:xfrm>
            <a:off x="8001000" y="3017520"/>
            <a:ext cx="3657600" cy="3337560"/>
          </a:xfrm>
          <a:prstGeom prst="roundRect">
            <a:avLst>
              <a:gd name="adj" fmla="val 2192"/>
            </a:avLst>
          </a:prstGeom>
          <a:solidFill>
            <a:srgbClr val="F2F5F8"/>
          </a:solidFill>
          <a:ln/>
        </p:spPr>
      </p:sp>
      <p:sp>
        <p:nvSpPr>
          <p:cNvPr id="49" name="Text 40"/>
          <p:cNvSpPr txBox="1"/>
          <p:nvPr/>
        </p:nvSpPr>
        <p:spPr>
          <a:xfrm>
            <a:off x="8229600" y="3154680"/>
            <a:ext cx="3200400" cy="320040"/>
          </a:xfrm>
          <a:prstGeom prst="rect">
            <a:avLst/>
          </a:prstGeom>
          <a:noFill/>
          <a:ln/>
        </p:spPr>
        <p:txBody>
          <a:bodyPr wrap="square" lIns="0" tIns="0" rIns="0" bIns="0" rtlCol="0" anchor="t"/>
          <a:lstStyle/>
          <a:p>
            <a:pPr indent="0" marL="0">
              <a:buNone/>
            </a:pPr>
            <a:r>
              <a:rPr lang="en-US" sz="1400" b="1" dirty="0">
                <a:solidFill>
                  <a:srgbClr val="12263A"/>
                </a:solidFill>
                <a:latin typeface="Calibri" pitchFamily="34" charset="0"/>
                <a:ea typeface="Calibri" pitchFamily="34" charset="-122"/>
                <a:cs typeface="Calibri" pitchFamily="34" charset="-120"/>
              </a:rPr>
              <a:t>Tools and libraries</a:t>
            </a:r>
            <a:endParaRPr lang="en-US" sz="1400" dirty="0"/>
          </a:p>
        </p:txBody>
      </p:sp>
      <p:sp>
        <p:nvSpPr>
          <p:cNvPr id="50" name="Text 41"/>
          <p:cNvSpPr txBox="1"/>
          <p:nvPr/>
        </p:nvSpPr>
        <p:spPr>
          <a:xfrm>
            <a:off x="8229600" y="3520440"/>
            <a:ext cx="3246120" cy="2743200"/>
          </a:xfrm>
          <a:prstGeom prst="rect">
            <a:avLst/>
          </a:prstGeom>
          <a:noFill/>
          <a:ln/>
        </p:spPr>
        <p:txBody>
          <a:bodyPr wrap="square" lIns="0" tIns="0" rIns="0" bIns="0" rtlCol="0" anchor="t"/>
          <a:lstStyle/>
          <a:p>
            <a:pPr indent="0" marL="0">
              <a:spcAft>
                <a:spcPts val="300"/>
              </a:spcAft>
              <a:buNone/>
            </a:pPr>
            <a:r>
              <a:rPr lang="en-US" sz="1150" b="1" dirty="0">
                <a:solidFill>
                  <a:srgbClr val="0B7A6B"/>
                </a:solidFill>
                <a:latin typeface="Calibri" pitchFamily="34" charset="0"/>
                <a:ea typeface="Calibri" pitchFamily="34" charset="-122"/>
                <a:cs typeface="Calibri" pitchFamily="34" charset="-120"/>
              </a:rPr>
              <a:t>Language and core</a:t>
            </a:r>
            <a:endParaRPr lang="en-US" sz="1150" dirty="0"/>
          </a:p>
          <a:p>
            <a:pPr indent="0" marL="0">
              <a:spcAft>
                <a:spcPts val="300"/>
              </a:spcAft>
              <a:buNone/>
            </a:pPr>
            <a:r>
              <a:rPr lang="en-US" sz="1150" dirty="0">
                <a:solidFill>
                  <a:srgbClr val="1B2733"/>
                </a:solidFill>
                <a:latin typeface="Calibri" pitchFamily="34" charset="0"/>
                <a:ea typeface="Calibri" pitchFamily="34" charset="-122"/>
                <a:cs typeface="Calibri" pitchFamily="34" charset="-120"/>
              </a:rPr>
              <a:t>Python 3.11–3.13 · NumPy · pandas · SciPy</a:t>
            </a:r>
            <a:endParaRPr lang="en-US" sz="1150" dirty="0"/>
          </a:p>
          <a:p>
            <a:pPr indent="0" marL="0">
              <a:spcAft>
                <a:spcPts val="300"/>
              </a:spcAft>
              <a:buNone/>
            </a:pPr>
            <a:r>
              <a:rPr lang="en-US" sz="1150" b="1" dirty="0">
                <a:solidFill>
                  <a:srgbClr val="0B7A6B"/>
                </a:solidFill>
                <a:latin typeface="Calibri" pitchFamily="34" charset="0"/>
                <a:ea typeface="Calibri" pitchFamily="34" charset="-122"/>
                <a:cs typeface="Calibri" pitchFamily="34" charset="-120"/>
              </a:rPr>
              <a:t>Machine learning</a:t>
            </a:r>
            <a:endParaRPr lang="en-US" sz="1150" dirty="0"/>
          </a:p>
          <a:p>
            <a:pPr indent="0" marL="0">
              <a:spcAft>
                <a:spcPts val="300"/>
              </a:spcAft>
              <a:buNone/>
            </a:pPr>
            <a:r>
              <a:rPr lang="en-US" sz="1150" dirty="0">
                <a:solidFill>
                  <a:srgbClr val="1B2733"/>
                </a:solidFill>
                <a:latin typeface="Calibri" pitchFamily="34" charset="0"/>
                <a:ea typeface="Calibri" pitchFamily="34" charset="-122"/>
                <a:cs typeface="Calibri" pitchFamily="34" charset="-120"/>
              </a:rPr>
              <a:t>scikit-learn (gradient boosting) · lifelines (Cox) · scikit-survival (RSF) · PyTorch (DeepSurv)</a:t>
            </a:r>
            <a:endParaRPr lang="en-US" sz="1150" dirty="0"/>
          </a:p>
          <a:p>
            <a:pPr indent="0" marL="0">
              <a:spcAft>
                <a:spcPts val="300"/>
              </a:spcAft>
              <a:buNone/>
            </a:pPr>
            <a:r>
              <a:rPr lang="en-US" sz="1150" b="1" dirty="0">
                <a:solidFill>
                  <a:srgbClr val="0B7A6B"/>
                </a:solidFill>
                <a:latin typeface="Calibri" pitchFamily="34" charset="0"/>
                <a:ea typeface="Calibri" pitchFamily="34" charset="-122"/>
                <a:cs typeface="Calibri" pitchFamily="34" charset="-120"/>
              </a:rPr>
              <a:t>Engineering</a:t>
            </a:r>
            <a:endParaRPr lang="en-US" sz="1150" dirty="0"/>
          </a:p>
          <a:p>
            <a:pPr indent="0" marL="0">
              <a:spcAft>
                <a:spcPts val="300"/>
              </a:spcAft>
              <a:buNone/>
            </a:pPr>
            <a:r>
              <a:rPr lang="en-US" sz="1150" dirty="0">
                <a:solidFill>
                  <a:srgbClr val="1B2733"/>
                </a:solidFill>
                <a:latin typeface="Calibri" pitchFamily="34" charset="0"/>
                <a:ea typeface="Calibri" pitchFamily="34" charset="-122"/>
                <a:cs typeface="Calibri" pitchFamily="34" charset="-120"/>
              </a:rPr>
              <a:t>pytest (721 tests) · ruff · GitHub Actions CI · headless Chrome and pandoc for reports</a:t>
            </a:r>
            <a:endParaRPr lang="en-US" sz="1150" dirty="0"/>
          </a:p>
          <a:p>
            <a:pPr indent="0" marL="0">
              <a:spcAft>
                <a:spcPts val="300"/>
              </a:spcAft>
              <a:buNone/>
            </a:pPr>
            <a:r>
              <a:rPr lang="en-US" sz="1150" b="1" dirty="0">
                <a:solidFill>
                  <a:srgbClr val="0B7A6B"/>
                </a:solidFill>
                <a:latin typeface="Calibri" pitchFamily="34" charset="0"/>
                <a:ea typeface="Calibri" pitchFamily="34" charset="-122"/>
                <a:cs typeface="Calibri" pitchFamily="34" charset="-120"/>
              </a:rPr>
              <a:t>Reproducibility</a:t>
            </a:r>
            <a:endParaRPr lang="en-US" sz="1150" dirty="0"/>
          </a:p>
          <a:p>
            <a:pPr indent="0" marL="0">
              <a:spcAft>
                <a:spcPts val="300"/>
              </a:spcAft>
              <a:buNone/>
            </a:pPr>
            <a:r>
              <a:rPr lang="en-US" sz="1150" dirty="0">
                <a:solidFill>
                  <a:srgbClr val="1B2733"/>
                </a:solidFill>
                <a:latin typeface="Calibri" pitchFamily="34" charset="0"/>
                <a:ea typeface="Calibri" pitchFamily="34" charset="-122"/>
                <a:cs typeface="Calibri" pitchFamily="34" charset="-120"/>
              </a:rPr>
              <a:t>Zenodo archives for software, data and paper</a:t>
            </a:r>
            <a:endParaRPr lang="en-US" sz="1150" dirty="0"/>
          </a:p>
        </p:txBody>
      </p:sp>
      <p:sp>
        <p:nvSpPr>
          <p:cNvPr id="51" name="Text 42"/>
          <p:cNvSpPr txBox="1"/>
          <p:nvPr/>
        </p:nvSpPr>
        <p:spPr>
          <a:xfrm>
            <a:off x="548640" y="6492240"/>
            <a:ext cx="8686800" cy="228600"/>
          </a:xfrm>
          <a:prstGeom prst="rect">
            <a:avLst/>
          </a:prstGeom>
          <a:noFill/>
          <a:ln/>
        </p:spPr>
        <p:txBody>
          <a:bodyPr wrap="square" lIns="0" tIns="0" rIns="0" bIns="0" rtlCol="0" anchor="t"/>
          <a:lstStyle/>
          <a:p>
            <a:pPr indent="0" marL="0">
              <a:buNone/>
            </a:pPr>
            <a:r>
              <a:rPr lang="en-US" sz="900" dirty="0">
                <a:solidFill>
                  <a:srgbClr val="8A97A6"/>
                </a:solidFill>
                <a:latin typeface="Calibri" pitchFamily="34" charset="0"/>
                <a:ea typeface="Calibri" pitchFamily="34" charset="-122"/>
                <a:cs typeface="Calibri" pitchFamily="34" charset="-120"/>
              </a:rPr>
              <a:t>RetainIQ  ·  Prasham Jain (2427030155)  ·  Mentor: Dr. Rishi Gupta  ·  Manipal University Jaipur</a:t>
            </a:r>
            <a:endParaRPr lang="en-US" sz="900" dirty="0"/>
          </a:p>
        </p:txBody>
      </p:sp>
      <p:sp>
        <p:nvSpPr>
          <p:cNvPr id="52" name="Text 43"/>
          <p:cNvSpPr txBox="1"/>
          <p:nvPr/>
        </p:nvSpPr>
        <p:spPr>
          <a:xfrm>
            <a:off x="10725912" y="6492240"/>
            <a:ext cx="914400" cy="228600"/>
          </a:xfrm>
          <a:prstGeom prst="rect">
            <a:avLst/>
          </a:prstGeom>
          <a:noFill/>
          <a:ln/>
        </p:spPr>
        <p:txBody>
          <a:bodyPr wrap="square" lIns="0" tIns="0" rIns="0" bIns="0" rtlCol="0" anchor="t"/>
          <a:lstStyle/>
          <a:p>
            <a:pPr algn="r" indent="0" marL="0">
              <a:buNone/>
            </a:pPr>
            <a:r>
              <a:rPr lang="en-US" sz="900" dirty="0">
                <a:solidFill>
                  <a:srgbClr val="8A97A6"/>
                </a:solidFill>
                <a:latin typeface="Calibri" pitchFamily="34" charset="0"/>
                <a:ea typeface="Calibri" pitchFamily="34" charset="-122"/>
                <a:cs typeface="Calibri" pitchFamily="34" charset="-120"/>
              </a:rPr>
              <a:t>3 / 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274320"/>
          </a:xfrm>
          <a:prstGeom prst="rect">
            <a:avLst/>
          </a:prstGeom>
          <a:noFill/>
          <a:ln/>
        </p:spPr>
        <p:txBody>
          <a:bodyPr wrap="square" lIns="0" tIns="0" rIns="0" bIns="0" rtlCol="0" anchor="t"/>
          <a:lstStyle/>
          <a:p>
            <a:pPr indent="0" marL="0">
              <a:buNone/>
            </a:pPr>
            <a:r>
              <a:rPr lang="en-US" sz="1100" b="1" spc="200" kern="0" dirty="0">
                <a:solidFill>
                  <a:srgbClr val="0F9D8A"/>
                </a:solidFill>
                <a:latin typeface="Calibri" pitchFamily="34" charset="0"/>
                <a:ea typeface="Calibri" pitchFamily="34" charset="-122"/>
                <a:cs typeface="Calibri" pitchFamily="34" charset="-120"/>
              </a:rPr>
              <a:t>03  ·  METHODOLOGY AND ARCHITECTURE</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ctr"/>
          <a:lstStyle/>
          <a:p>
            <a:pPr indent="0" marL="0">
              <a:buNone/>
            </a:pPr>
            <a:r>
              <a:rPr lang="en-US" sz="3000" b="1" dirty="0">
                <a:solidFill>
                  <a:srgbClr val="12263A"/>
                </a:solidFill>
                <a:latin typeface="Cambria" pitchFamily="34" charset="0"/>
                <a:ea typeface="Cambria" pitchFamily="34" charset="-122"/>
                <a:cs typeface="Cambria" pitchFamily="34" charset="-120"/>
              </a:rPr>
              <a:t>Methodology: three models, one money-based decision</a:t>
            </a:r>
            <a:endParaRPr lang="en-US" sz="3000" dirty="0"/>
          </a:p>
        </p:txBody>
      </p:sp>
      <p:sp>
        <p:nvSpPr>
          <p:cNvPr id="4" name="Shape 2"/>
          <p:cNvSpPr/>
          <p:nvPr/>
        </p:nvSpPr>
        <p:spPr>
          <a:xfrm>
            <a:off x="548640" y="1325880"/>
            <a:ext cx="6903720" cy="1261872"/>
          </a:xfrm>
          <a:prstGeom prst="roundRect">
            <a:avLst>
              <a:gd name="adj" fmla="val 5797"/>
            </a:avLst>
          </a:prstGeom>
          <a:solidFill>
            <a:srgbClr val="F2F5F8"/>
          </a:solidFill>
          <a:ln/>
        </p:spPr>
      </p:sp>
      <p:sp>
        <p:nvSpPr>
          <p:cNvPr id="5" name="Shape 3"/>
          <p:cNvSpPr/>
          <p:nvPr/>
        </p:nvSpPr>
        <p:spPr>
          <a:xfrm>
            <a:off x="731520" y="1527048"/>
            <a:ext cx="512064" cy="512064"/>
          </a:xfrm>
          <a:prstGeom prst="ellipse">
            <a:avLst/>
          </a:prstGeom>
          <a:solidFill>
            <a:srgbClr val="12263A"/>
          </a:solidFill>
          <a:ln/>
        </p:spPr>
      </p:sp>
      <p:pic>
        <p:nvPicPr>
          <p:cNvPr id="6" name="Image 0" descr="preencoded.png">    </p:cNvPr>
          <p:cNvPicPr>
            <a:picLocks noChangeAspect="1"/>
          </p:cNvPicPr>
          <p:nvPr/>
        </p:nvPicPr>
        <p:blipFill>
          <a:blip r:embed="rId1"/>
          <a:stretch>
            <a:fillRect/>
          </a:stretch>
        </p:blipFill>
        <p:spPr>
          <a:xfrm>
            <a:off x="859536" y="1655064"/>
            <a:ext cx="256032" cy="256032"/>
          </a:xfrm>
          <a:prstGeom prst="rect">
            <a:avLst/>
          </a:prstGeom>
        </p:spPr>
      </p:pic>
      <p:sp>
        <p:nvSpPr>
          <p:cNvPr id="7" name="Text 4"/>
          <p:cNvSpPr txBox="1"/>
          <p:nvPr/>
        </p:nvSpPr>
        <p:spPr>
          <a:xfrm>
            <a:off x="1417320" y="1444752"/>
            <a:ext cx="5897880" cy="329184"/>
          </a:xfrm>
          <a:prstGeom prst="rect">
            <a:avLst/>
          </a:prstGeom>
          <a:noFill/>
          <a:ln/>
        </p:spPr>
        <p:txBody>
          <a:bodyPr wrap="square" lIns="0" tIns="0" rIns="0" bIns="0" rtlCol="0" anchor="t"/>
          <a:lstStyle/>
          <a:p>
            <a:pPr indent="0" marL="0">
              <a:buNone/>
            </a:pPr>
            <a:r>
              <a:rPr lang="en-US" sz="1500" b="1" dirty="0">
                <a:solidFill>
                  <a:srgbClr val="12263A"/>
                </a:solidFill>
                <a:latin typeface="Calibri" pitchFamily="34" charset="0"/>
                <a:ea typeface="Calibri" pitchFamily="34" charset="-122"/>
                <a:cs typeface="Calibri" pitchFamily="34" charset="-120"/>
              </a:rPr>
              <a:t>1   Survival: when is a customer likely to leave?</a:t>
            </a:r>
            <a:endParaRPr lang="en-US" sz="1500" dirty="0"/>
          </a:p>
        </p:txBody>
      </p:sp>
      <p:sp>
        <p:nvSpPr>
          <p:cNvPr id="8" name="Text 5"/>
          <p:cNvSpPr txBox="1"/>
          <p:nvPr/>
        </p:nvSpPr>
        <p:spPr>
          <a:xfrm>
            <a:off x="1417320" y="1783080"/>
            <a:ext cx="5897880" cy="768096"/>
          </a:xfrm>
          <a:prstGeom prst="rect">
            <a:avLst/>
          </a:prstGeom>
          <a:noFill/>
          <a:ln/>
        </p:spPr>
        <p:txBody>
          <a:bodyPr wrap="square" lIns="0" tIns="0" rIns="0" bIns="0" rtlCol="0" anchor="t"/>
          <a:lstStyle/>
          <a:p>
            <a:pPr indent="0" marL="0">
              <a:buNone/>
            </a:pPr>
            <a:r>
              <a:rPr lang="en-US" sz="1150" dirty="0">
                <a:solidFill>
                  <a:srgbClr val="1B2733"/>
                </a:solidFill>
                <a:latin typeface="Calibri" pitchFamily="34" charset="0"/>
                <a:ea typeface="Calibri" pitchFamily="34" charset="-122"/>
                <a:cs typeface="Calibri" pitchFamily="34" charset="-120"/>
              </a:rPr>
              <a:t>Discrete-time hazard on a person-month table. Voluntary and involuntary churn are separate competing risks, customers still subscribed are treated as censored, and features can change each month. Benchmarked against Kaplan–Meier, Cox PH, Random Survival Forest and DeepSurv.</a:t>
            </a:r>
            <a:endParaRPr lang="en-US" sz="1150" dirty="0"/>
          </a:p>
        </p:txBody>
      </p:sp>
      <p:sp>
        <p:nvSpPr>
          <p:cNvPr id="9" name="Shape 6"/>
          <p:cNvSpPr/>
          <p:nvPr/>
        </p:nvSpPr>
        <p:spPr>
          <a:xfrm>
            <a:off x="548640" y="2697480"/>
            <a:ext cx="6903720" cy="1261872"/>
          </a:xfrm>
          <a:prstGeom prst="roundRect">
            <a:avLst>
              <a:gd name="adj" fmla="val 5797"/>
            </a:avLst>
          </a:prstGeom>
          <a:solidFill>
            <a:srgbClr val="F2F5F8"/>
          </a:solidFill>
          <a:ln/>
        </p:spPr>
      </p:sp>
      <p:sp>
        <p:nvSpPr>
          <p:cNvPr id="10" name="Shape 7"/>
          <p:cNvSpPr/>
          <p:nvPr/>
        </p:nvSpPr>
        <p:spPr>
          <a:xfrm>
            <a:off x="731520" y="2898648"/>
            <a:ext cx="512064" cy="512064"/>
          </a:xfrm>
          <a:prstGeom prst="ellipse">
            <a:avLst/>
          </a:prstGeom>
          <a:solidFill>
            <a:srgbClr val="12263A"/>
          </a:solidFill>
          <a:ln/>
        </p:spPr>
      </p:sp>
      <p:pic>
        <p:nvPicPr>
          <p:cNvPr id="11" name="Image 1" descr="preencoded.png">    </p:cNvPr>
          <p:cNvPicPr>
            <a:picLocks noChangeAspect="1"/>
          </p:cNvPicPr>
          <p:nvPr/>
        </p:nvPicPr>
        <p:blipFill>
          <a:blip r:embed="rId2"/>
          <a:stretch>
            <a:fillRect/>
          </a:stretch>
        </p:blipFill>
        <p:spPr>
          <a:xfrm>
            <a:off x="859536" y="3026664"/>
            <a:ext cx="256032" cy="256032"/>
          </a:xfrm>
          <a:prstGeom prst="rect">
            <a:avLst/>
          </a:prstGeom>
        </p:spPr>
      </p:pic>
      <p:sp>
        <p:nvSpPr>
          <p:cNvPr id="12" name="Text 8"/>
          <p:cNvSpPr txBox="1"/>
          <p:nvPr/>
        </p:nvSpPr>
        <p:spPr>
          <a:xfrm>
            <a:off x="1417320" y="2816352"/>
            <a:ext cx="5897880" cy="329184"/>
          </a:xfrm>
          <a:prstGeom prst="rect">
            <a:avLst/>
          </a:prstGeom>
          <a:noFill/>
          <a:ln/>
        </p:spPr>
        <p:txBody>
          <a:bodyPr wrap="square" lIns="0" tIns="0" rIns="0" bIns="0" rtlCol="0" anchor="t"/>
          <a:lstStyle/>
          <a:p>
            <a:pPr indent="0" marL="0">
              <a:buNone/>
            </a:pPr>
            <a:r>
              <a:rPr lang="en-US" sz="1500" b="1" dirty="0">
                <a:solidFill>
                  <a:srgbClr val="12263A"/>
                </a:solidFill>
                <a:latin typeface="Calibri" pitchFamily="34" charset="0"/>
                <a:ea typeface="Calibri" pitchFamily="34" charset="-122"/>
                <a:cs typeface="Calibri" pitchFamily="34" charset="-120"/>
              </a:rPr>
              <a:t>2   Causal effect: would an offer change that?</a:t>
            </a:r>
            <a:endParaRPr lang="en-US" sz="1500" dirty="0"/>
          </a:p>
        </p:txBody>
      </p:sp>
      <p:sp>
        <p:nvSpPr>
          <p:cNvPr id="13" name="Text 9"/>
          <p:cNvSpPr txBox="1"/>
          <p:nvPr/>
        </p:nvSpPr>
        <p:spPr>
          <a:xfrm>
            <a:off x="1417320" y="3154680"/>
            <a:ext cx="5897880" cy="768096"/>
          </a:xfrm>
          <a:prstGeom prst="rect">
            <a:avLst/>
          </a:prstGeom>
          <a:noFill/>
          <a:ln/>
        </p:spPr>
        <p:txBody>
          <a:bodyPr wrap="square" lIns="0" tIns="0" rIns="0" bIns="0" rtlCol="0" anchor="t"/>
          <a:lstStyle/>
          <a:p>
            <a:pPr indent="0" marL="0">
              <a:buNone/>
            </a:pPr>
            <a:r>
              <a:rPr lang="en-US" sz="1150" dirty="0">
                <a:solidFill>
                  <a:srgbClr val="1B2733"/>
                </a:solidFill>
                <a:latin typeface="Calibri" pitchFamily="34" charset="0"/>
                <a:ea typeface="Calibri" pitchFamily="34" charset="-122"/>
                <a:cs typeface="Calibri" pitchFamily="34" charset="-120"/>
              </a:rPr>
              <a:t>Hierarchical Bayesian CATE:  logit P(churn) = α + βx + T·(τ₀ + γx).  Shrinkage on γ guards against noise at small n. The Laplace posterior is validated against NUTS sampling, and reason codes are exact per-feature contributions to τ.</a:t>
            </a:r>
            <a:endParaRPr lang="en-US" sz="1150" dirty="0"/>
          </a:p>
        </p:txBody>
      </p:sp>
      <p:sp>
        <p:nvSpPr>
          <p:cNvPr id="14" name="Shape 10"/>
          <p:cNvSpPr/>
          <p:nvPr/>
        </p:nvSpPr>
        <p:spPr>
          <a:xfrm>
            <a:off x="548640" y="4069080"/>
            <a:ext cx="6903720" cy="1261872"/>
          </a:xfrm>
          <a:prstGeom prst="roundRect">
            <a:avLst>
              <a:gd name="adj" fmla="val 5797"/>
            </a:avLst>
          </a:prstGeom>
          <a:solidFill>
            <a:srgbClr val="F2F5F8"/>
          </a:solidFill>
          <a:ln/>
        </p:spPr>
      </p:sp>
      <p:sp>
        <p:nvSpPr>
          <p:cNvPr id="15" name="Shape 11"/>
          <p:cNvSpPr/>
          <p:nvPr/>
        </p:nvSpPr>
        <p:spPr>
          <a:xfrm>
            <a:off x="731520" y="4270248"/>
            <a:ext cx="512064" cy="512064"/>
          </a:xfrm>
          <a:prstGeom prst="ellipse">
            <a:avLst/>
          </a:prstGeom>
          <a:solidFill>
            <a:srgbClr val="0F9D8A"/>
          </a:solidFill>
          <a:ln/>
        </p:spPr>
      </p:sp>
      <p:pic>
        <p:nvPicPr>
          <p:cNvPr id="16" name="Image 2" descr="preencoded.png">    </p:cNvPr>
          <p:cNvPicPr>
            <a:picLocks noChangeAspect="1"/>
          </p:cNvPicPr>
          <p:nvPr/>
        </p:nvPicPr>
        <p:blipFill>
          <a:blip r:embed="rId3"/>
          <a:stretch>
            <a:fillRect/>
          </a:stretch>
        </p:blipFill>
        <p:spPr>
          <a:xfrm>
            <a:off x="859536" y="4398264"/>
            <a:ext cx="256032" cy="256032"/>
          </a:xfrm>
          <a:prstGeom prst="rect">
            <a:avLst/>
          </a:prstGeom>
        </p:spPr>
      </p:pic>
      <p:sp>
        <p:nvSpPr>
          <p:cNvPr id="17" name="Text 12"/>
          <p:cNvSpPr txBox="1"/>
          <p:nvPr/>
        </p:nvSpPr>
        <p:spPr>
          <a:xfrm>
            <a:off x="1417320" y="4187952"/>
            <a:ext cx="5897880" cy="329184"/>
          </a:xfrm>
          <a:prstGeom prst="rect">
            <a:avLst/>
          </a:prstGeom>
          <a:noFill/>
          <a:ln/>
        </p:spPr>
        <p:txBody>
          <a:bodyPr wrap="square" lIns="0" tIns="0" rIns="0" bIns="0" rtlCol="0" anchor="t"/>
          <a:lstStyle/>
          <a:p>
            <a:pPr indent="0" marL="0">
              <a:buNone/>
            </a:pPr>
            <a:r>
              <a:rPr lang="en-US" sz="1500" b="1" dirty="0">
                <a:solidFill>
                  <a:srgbClr val="12263A"/>
                </a:solidFill>
                <a:latin typeface="Calibri" pitchFamily="34" charset="0"/>
                <a:ea typeface="Calibri" pitchFamily="34" charset="-122"/>
                <a:cs typeface="Calibri" pitchFamily="34" charset="-120"/>
              </a:rPr>
              <a:t>3   Decision: is it worth the money?</a:t>
            </a:r>
            <a:endParaRPr lang="en-US" sz="1500" dirty="0"/>
          </a:p>
        </p:txBody>
      </p:sp>
      <p:sp>
        <p:nvSpPr>
          <p:cNvPr id="18" name="Text 13"/>
          <p:cNvSpPr txBox="1"/>
          <p:nvPr/>
        </p:nvSpPr>
        <p:spPr>
          <a:xfrm>
            <a:off x="1417320" y="4526280"/>
            <a:ext cx="5897880" cy="768096"/>
          </a:xfrm>
          <a:prstGeom prst="rect">
            <a:avLst/>
          </a:prstGeom>
          <a:noFill/>
          <a:ln/>
        </p:spPr>
        <p:txBody>
          <a:bodyPr wrap="square" lIns="0" tIns="0" rIns="0" bIns="0" rtlCol="0" anchor="t"/>
          <a:lstStyle/>
          <a:p>
            <a:pPr indent="0" marL="0">
              <a:buNone/>
            </a:pPr>
            <a:r>
              <a:rPr lang="en-US" sz="1150" dirty="0">
                <a:solidFill>
                  <a:srgbClr val="1B2733"/>
                </a:solidFill>
                <a:latin typeface="Calibri" pitchFamily="34" charset="0"/>
                <a:ea typeface="Calibri" pitchFamily="34" charset="-122"/>
                <a:cs typeface="Calibri" pitchFamily="34" charset="-120"/>
              </a:rPr>
              <a:t>Δp = σ(η₀ + τ) − σ(η₀)   and   benefit = −Δp·V − c.   Treat only if P(benefit &gt; 0) &gt; 1 − α (α = 0.30, i.e. 70% confidence); otherwise abstain. The offer ladder picks the rung with the best expected value.</a:t>
            </a:r>
            <a:endParaRPr lang="en-US" sz="1150" dirty="0"/>
          </a:p>
        </p:txBody>
      </p:sp>
      <p:sp>
        <p:nvSpPr>
          <p:cNvPr id="19" name="Shape 14"/>
          <p:cNvSpPr/>
          <p:nvPr/>
        </p:nvSpPr>
        <p:spPr>
          <a:xfrm>
            <a:off x="7726680" y="1325880"/>
            <a:ext cx="3931920" cy="4005072"/>
          </a:xfrm>
          <a:prstGeom prst="roundRect">
            <a:avLst>
              <a:gd name="adj" fmla="val 1860"/>
            </a:avLst>
          </a:prstGeom>
          <a:solidFill>
            <a:srgbClr val="12263A"/>
          </a:solidFill>
          <a:ln/>
        </p:spPr>
      </p:sp>
      <p:sp>
        <p:nvSpPr>
          <p:cNvPr id="20" name="Text 15"/>
          <p:cNvSpPr txBox="1"/>
          <p:nvPr/>
        </p:nvSpPr>
        <p:spPr>
          <a:xfrm>
            <a:off x="7973568" y="1481328"/>
            <a:ext cx="3474720" cy="347472"/>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Training discipline</a:t>
            </a:r>
            <a:endParaRPr lang="en-US" sz="1500" dirty="0"/>
          </a:p>
        </p:txBody>
      </p:sp>
      <p:pic>
        <p:nvPicPr>
          <p:cNvPr id="21" name="Image 3" descr="preencoded.png">    </p:cNvPr>
          <p:cNvPicPr>
            <a:picLocks noChangeAspect="1"/>
          </p:cNvPicPr>
          <p:nvPr/>
        </p:nvPicPr>
        <p:blipFill>
          <a:blip r:embed="rId4"/>
          <a:stretch>
            <a:fillRect/>
          </a:stretch>
        </p:blipFill>
        <p:spPr>
          <a:xfrm>
            <a:off x="7973568" y="1984248"/>
            <a:ext cx="201168" cy="201168"/>
          </a:xfrm>
          <a:prstGeom prst="rect">
            <a:avLst/>
          </a:prstGeom>
        </p:spPr>
      </p:pic>
      <p:sp>
        <p:nvSpPr>
          <p:cNvPr id="22" name="Text 16"/>
          <p:cNvSpPr txBox="1"/>
          <p:nvPr/>
        </p:nvSpPr>
        <p:spPr>
          <a:xfrm>
            <a:off x="8302752" y="1938528"/>
            <a:ext cx="3200400" cy="603504"/>
          </a:xfrm>
          <a:prstGeom prst="rect">
            <a:avLst/>
          </a:prstGeom>
          <a:noFill/>
          <a:ln/>
        </p:spPr>
        <p:txBody>
          <a:bodyPr wrap="square" lIns="0" tIns="0" rIns="0" bIns="0" rtlCol="0" anchor="t"/>
          <a:lstStyle/>
          <a:p>
            <a:pPr indent="0" marL="0">
              <a:buNone/>
            </a:pPr>
            <a:r>
              <a:rPr lang="en-US" sz="1200" dirty="0">
                <a:solidFill>
                  <a:srgbClr val="C9D6E3"/>
                </a:solidFill>
                <a:latin typeface="Calibri" pitchFamily="34" charset="0"/>
                <a:ea typeface="Calibri" pitchFamily="34" charset="-122"/>
                <a:cs typeface="Calibri" pitchFamily="34" charset="-120"/>
              </a:rPr>
              <a:t>Temporal splits only: train on months before the decision</a:t>
            </a:r>
            <a:endParaRPr lang="en-US" sz="1200" dirty="0"/>
          </a:p>
        </p:txBody>
      </p:sp>
      <p:pic>
        <p:nvPicPr>
          <p:cNvPr id="23" name="Image 4" descr="preencoded.png">    </p:cNvPr>
          <p:cNvPicPr>
            <a:picLocks noChangeAspect="1"/>
          </p:cNvPicPr>
          <p:nvPr/>
        </p:nvPicPr>
        <p:blipFill>
          <a:blip r:embed="rId5"/>
          <a:stretch>
            <a:fillRect/>
          </a:stretch>
        </p:blipFill>
        <p:spPr>
          <a:xfrm>
            <a:off x="7973568" y="2651760"/>
            <a:ext cx="201168" cy="201168"/>
          </a:xfrm>
          <a:prstGeom prst="rect">
            <a:avLst/>
          </a:prstGeom>
        </p:spPr>
      </p:pic>
      <p:sp>
        <p:nvSpPr>
          <p:cNvPr id="24" name="Text 17"/>
          <p:cNvSpPr txBox="1"/>
          <p:nvPr/>
        </p:nvSpPr>
        <p:spPr>
          <a:xfrm>
            <a:off x="8302752" y="2606040"/>
            <a:ext cx="3200400" cy="603504"/>
          </a:xfrm>
          <a:prstGeom prst="rect">
            <a:avLst/>
          </a:prstGeom>
          <a:noFill/>
          <a:ln/>
        </p:spPr>
        <p:txBody>
          <a:bodyPr wrap="square" lIns="0" tIns="0" rIns="0" bIns="0" rtlCol="0" anchor="t"/>
          <a:lstStyle/>
          <a:p>
            <a:pPr indent="0" marL="0">
              <a:buNone/>
            </a:pPr>
            <a:r>
              <a:rPr lang="en-US" sz="1200" dirty="0">
                <a:solidFill>
                  <a:srgbClr val="C9D6E3"/>
                </a:solidFill>
                <a:latin typeface="Calibri" pitchFamily="34" charset="0"/>
                <a:ea typeface="Calibri" pitchFamily="34" charset="-122"/>
                <a:cs typeface="Calibri" pitchFamily="34" charset="-120"/>
              </a:rPr>
              <a:t>Split person-month rows by customer, never by row</a:t>
            </a:r>
            <a:endParaRPr lang="en-US" sz="1200" dirty="0"/>
          </a:p>
        </p:txBody>
      </p:sp>
      <p:pic>
        <p:nvPicPr>
          <p:cNvPr id="25" name="Image 5" descr="preencoded.png">    </p:cNvPr>
          <p:cNvPicPr>
            <a:picLocks noChangeAspect="1"/>
          </p:cNvPicPr>
          <p:nvPr/>
        </p:nvPicPr>
        <p:blipFill>
          <a:blip r:embed="rId6"/>
          <a:stretch>
            <a:fillRect/>
          </a:stretch>
        </p:blipFill>
        <p:spPr>
          <a:xfrm>
            <a:off x="7973568" y="3319272"/>
            <a:ext cx="201168" cy="201168"/>
          </a:xfrm>
          <a:prstGeom prst="rect">
            <a:avLst/>
          </a:prstGeom>
        </p:spPr>
      </p:pic>
      <p:sp>
        <p:nvSpPr>
          <p:cNvPr id="26" name="Text 18"/>
          <p:cNvSpPr txBox="1"/>
          <p:nvPr/>
        </p:nvSpPr>
        <p:spPr>
          <a:xfrm>
            <a:off x="8302752" y="3273552"/>
            <a:ext cx="3200400" cy="603504"/>
          </a:xfrm>
          <a:prstGeom prst="rect">
            <a:avLst/>
          </a:prstGeom>
          <a:noFill/>
          <a:ln/>
        </p:spPr>
        <p:txBody>
          <a:bodyPr wrap="square" lIns="0" tIns="0" rIns="0" bIns="0" rtlCol="0" anchor="t"/>
          <a:lstStyle/>
          <a:p>
            <a:pPr indent="0" marL="0">
              <a:buNone/>
            </a:pPr>
            <a:r>
              <a:rPr lang="en-US" sz="1200" dirty="0">
                <a:solidFill>
                  <a:srgbClr val="C9D6E3"/>
                </a:solidFill>
                <a:latin typeface="Calibri" pitchFamily="34" charset="0"/>
                <a:ea typeface="Calibri" pitchFamily="34" charset="-122"/>
                <a:cs typeface="Calibri" pitchFamily="34" charset="-120"/>
              </a:rPr>
              <a:t>Leakage audit: leaky features would show AUC 0.954 against an honest 0.603</a:t>
            </a:r>
            <a:endParaRPr lang="en-US" sz="1200" dirty="0"/>
          </a:p>
        </p:txBody>
      </p:sp>
      <p:pic>
        <p:nvPicPr>
          <p:cNvPr id="27" name="Image 6" descr="preencoded.png">    </p:cNvPr>
          <p:cNvPicPr>
            <a:picLocks noChangeAspect="1"/>
          </p:cNvPicPr>
          <p:nvPr/>
        </p:nvPicPr>
        <p:blipFill>
          <a:blip r:embed="rId7"/>
          <a:stretch>
            <a:fillRect/>
          </a:stretch>
        </p:blipFill>
        <p:spPr>
          <a:xfrm>
            <a:off x="7973568" y="3986784"/>
            <a:ext cx="201168" cy="201168"/>
          </a:xfrm>
          <a:prstGeom prst="rect">
            <a:avLst/>
          </a:prstGeom>
        </p:spPr>
      </p:pic>
      <p:sp>
        <p:nvSpPr>
          <p:cNvPr id="28" name="Text 19"/>
          <p:cNvSpPr txBox="1"/>
          <p:nvPr/>
        </p:nvSpPr>
        <p:spPr>
          <a:xfrm>
            <a:off x="8302752" y="3941064"/>
            <a:ext cx="3200400" cy="603504"/>
          </a:xfrm>
          <a:prstGeom prst="rect">
            <a:avLst/>
          </a:prstGeom>
          <a:noFill/>
          <a:ln/>
        </p:spPr>
        <p:txBody>
          <a:bodyPr wrap="square" lIns="0" tIns="0" rIns="0" bIns="0" rtlCol="0" anchor="t"/>
          <a:lstStyle/>
          <a:p>
            <a:pPr indent="0" marL="0">
              <a:buNone/>
            </a:pPr>
            <a:r>
              <a:rPr lang="en-US" sz="1200" dirty="0">
                <a:solidFill>
                  <a:srgbClr val="C9D6E3"/>
                </a:solidFill>
                <a:latin typeface="Calibri" pitchFamily="34" charset="0"/>
                <a:ea typeface="Calibri" pitchFamily="34" charset="-122"/>
                <a:cs typeface="Calibri" pitchFamily="34" charset="-120"/>
              </a:rPr>
              <a:t>Repeated resplits and seeds; report the win rate, not the mean</a:t>
            </a:r>
            <a:endParaRPr lang="en-US" sz="1200" dirty="0"/>
          </a:p>
        </p:txBody>
      </p:sp>
      <p:pic>
        <p:nvPicPr>
          <p:cNvPr id="29" name="Image 7" descr="preencoded.png">    </p:cNvPr>
          <p:cNvPicPr>
            <a:picLocks noChangeAspect="1"/>
          </p:cNvPicPr>
          <p:nvPr/>
        </p:nvPicPr>
        <p:blipFill>
          <a:blip r:embed="rId8"/>
          <a:stretch>
            <a:fillRect/>
          </a:stretch>
        </p:blipFill>
        <p:spPr>
          <a:xfrm>
            <a:off x="7973568" y="4654296"/>
            <a:ext cx="201168" cy="201168"/>
          </a:xfrm>
          <a:prstGeom prst="rect">
            <a:avLst/>
          </a:prstGeom>
        </p:spPr>
      </p:pic>
      <p:sp>
        <p:nvSpPr>
          <p:cNvPr id="30" name="Text 20"/>
          <p:cNvSpPr txBox="1"/>
          <p:nvPr/>
        </p:nvSpPr>
        <p:spPr>
          <a:xfrm>
            <a:off x="8302752" y="4608576"/>
            <a:ext cx="3200400" cy="603504"/>
          </a:xfrm>
          <a:prstGeom prst="rect">
            <a:avLst/>
          </a:prstGeom>
          <a:noFill/>
          <a:ln/>
        </p:spPr>
        <p:txBody>
          <a:bodyPr wrap="square" lIns="0" tIns="0" rIns="0" bIns="0" rtlCol="0" anchor="t"/>
          <a:lstStyle/>
          <a:p>
            <a:pPr indent="0" marL="0">
              <a:buNone/>
            </a:pPr>
            <a:r>
              <a:rPr lang="en-US" sz="1200" dirty="0">
                <a:solidFill>
                  <a:srgbClr val="C9D6E3"/>
                </a:solidFill>
                <a:latin typeface="Calibri" pitchFamily="34" charset="0"/>
                <a:ea typeface="Calibri" pitchFamily="34" charset="-122"/>
                <a:cs typeface="Calibri" pitchFamily="34" charset="-120"/>
              </a:rPr>
              <a:t>Predictions pre-registered before fixes; refutations kept</a:t>
            </a:r>
            <a:endParaRPr lang="en-US" sz="1200" dirty="0"/>
          </a:p>
        </p:txBody>
      </p:sp>
      <p:sp>
        <p:nvSpPr>
          <p:cNvPr id="31" name="Text 21"/>
          <p:cNvSpPr txBox="1"/>
          <p:nvPr/>
        </p:nvSpPr>
        <p:spPr>
          <a:xfrm>
            <a:off x="548640" y="5468112"/>
            <a:ext cx="3657600" cy="228600"/>
          </a:xfrm>
          <a:prstGeom prst="rect">
            <a:avLst/>
          </a:prstGeom>
          <a:noFill/>
          <a:ln/>
        </p:spPr>
        <p:txBody>
          <a:bodyPr wrap="square" lIns="0" tIns="0" rIns="0" bIns="0" rtlCol="0" anchor="t"/>
          <a:lstStyle/>
          <a:p>
            <a:pPr indent="0" marL="0">
              <a:buNone/>
            </a:pPr>
            <a:r>
              <a:rPr lang="en-US" sz="1000" b="1" spc="150" kern="0" dirty="0">
                <a:solidFill>
                  <a:srgbClr val="5F6F80"/>
                </a:solidFill>
                <a:latin typeface="Calibri" pitchFamily="34" charset="0"/>
                <a:ea typeface="Calibri" pitchFamily="34" charset="-122"/>
                <a:cs typeface="Calibri" pitchFamily="34" charset="-120"/>
              </a:rPr>
              <a:t>DEVELOPMENT ITERATIONS</a:t>
            </a:r>
            <a:endParaRPr lang="en-US" sz="1000" dirty="0"/>
          </a:p>
        </p:txBody>
      </p:sp>
      <p:sp>
        <p:nvSpPr>
          <p:cNvPr id="32" name="Shape 22"/>
          <p:cNvSpPr/>
          <p:nvPr/>
        </p:nvSpPr>
        <p:spPr>
          <a:xfrm>
            <a:off x="640080" y="5815584"/>
            <a:ext cx="10927080" cy="0"/>
          </a:xfrm>
          <a:prstGeom prst="line">
            <a:avLst/>
          </a:prstGeom>
          <a:noFill/>
          <a:ln w="19050">
            <a:solidFill>
              <a:srgbClr val="D5DDE5"/>
            </a:solidFill>
            <a:prstDash val="solid"/>
          </a:ln>
        </p:spPr>
      </p:sp>
      <p:sp>
        <p:nvSpPr>
          <p:cNvPr id="33" name="Shape 23"/>
          <p:cNvSpPr/>
          <p:nvPr/>
        </p:nvSpPr>
        <p:spPr>
          <a:xfrm>
            <a:off x="640080" y="5742432"/>
            <a:ext cx="146304" cy="146304"/>
          </a:xfrm>
          <a:prstGeom prst="ellipse">
            <a:avLst/>
          </a:prstGeom>
          <a:solidFill>
            <a:srgbClr val="0F9D8A"/>
          </a:solidFill>
          <a:ln/>
        </p:spPr>
      </p:sp>
      <p:sp>
        <p:nvSpPr>
          <p:cNvPr id="34" name="Text 24"/>
          <p:cNvSpPr txBox="1"/>
          <p:nvPr/>
        </p:nvSpPr>
        <p:spPr>
          <a:xfrm>
            <a:off x="621792" y="5943600"/>
            <a:ext cx="1737360" cy="475488"/>
          </a:xfrm>
          <a:prstGeom prst="rect">
            <a:avLst/>
          </a:prstGeom>
          <a:noFill/>
          <a:ln/>
        </p:spPr>
        <p:txBody>
          <a:bodyPr wrap="square" lIns="0" tIns="0" rIns="0" bIns="0" rtlCol="0" anchor="t"/>
          <a:lstStyle/>
          <a:p>
            <a:pPr indent="0" marL="0">
              <a:buNone/>
            </a:pPr>
            <a:r>
              <a:rPr lang="en-US" sz="1000" b="1" dirty="0">
                <a:solidFill>
                  <a:srgbClr val="0B7A6B"/>
                </a:solidFill>
                <a:latin typeface="Calibri" pitchFamily="34" charset="0"/>
                <a:ea typeface="Calibri" pitchFamily="34" charset="-122"/>
                <a:cs typeface="Calibri" pitchFamily="34" charset="-120"/>
              </a:rPr>
              <a:t>v0  </a:t>
            </a:r>
            <a:pPr indent="0" marL="0">
              <a:buNone/>
            </a:pPr>
            <a:r>
              <a:rPr lang="en-US" sz="1000" dirty="0">
                <a:solidFill>
                  <a:srgbClr val="1B2733"/>
                </a:solidFill>
                <a:latin typeface="Calibri" pitchFamily="34" charset="0"/>
                <a:ea typeface="Calibri" pitchFamily="34" charset="-122"/>
                <a:cs typeface="Calibri" pitchFamily="34" charset="-120"/>
              </a:rPr>
              <a:t>churn-score targeting: loses money</a:t>
            </a:r>
            <a:endParaRPr lang="en-US" sz="1000" dirty="0"/>
          </a:p>
        </p:txBody>
      </p:sp>
      <p:sp>
        <p:nvSpPr>
          <p:cNvPr id="35" name="Shape 25"/>
          <p:cNvSpPr/>
          <p:nvPr/>
        </p:nvSpPr>
        <p:spPr>
          <a:xfrm>
            <a:off x="2487168" y="5742432"/>
            <a:ext cx="146304" cy="146304"/>
          </a:xfrm>
          <a:prstGeom prst="ellipse">
            <a:avLst/>
          </a:prstGeom>
          <a:solidFill>
            <a:srgbClr val="0F9D8A"/>
          </a:solidFill>
          <a:ln/>
        </p:spPr>
      </p:sp>
      <p:sp>
        <p:nvSpPr>
          <p:cNvPr id="36" name="Text 26"/>
          <p:cNvSpPr txBox="1"/>
          <p:nvPr/>
        </p:nvSpPr>
        <p:spPr>
          <a:xfrm>
            <a:off x="2468880" y="5943600"/>
            <a:ext cx="1737360" cy="475488"/>
          </a:xfrm>
          <a:prstGeom prst="rect">
            <a:avLst/>
          </a:prstGeom>
          <a:noFill/>
          <a:ln/>
        </p:spPr>
        <p:txBody>
          <a:bodyPr wrap="square" lIns="0" tIns="0" rIns="0" bIns="0" rtlCol="0" anchor="t"/>
          <a:lstStyle/>
          <a:p>
            <a:pPr indent="0" marL="0">
              <a:buNone/>
            </a:pPr>
            <a:r>
              <a:rPr lang="en-US" sz="1000" b="1" dirty="0">
                <a:solidFill>
                  <a:srgbClr val="0B7A6B"/>
                </a:solidFill>
                <a:latin typeface="Calibri" pitchFamily="34" charset="0"/>
                <a:ea typeface="Calibri" pitchFamily="34" charset="-122"/>
                <a:cs typeface="Calibri" pitchFamily="34" charset="-120"/>
              </a:rPr>
              <a:t>v1  </a:t>
            </a:r>
            <a:pPr indent="0" marL="0">
              <a:buNone/>
            </a:pPr>
            <a:r>
              <a:rPr lang="en-US" sz="1000" dirty="0">
                <a:solidFill>
                  <a:srgbClr val="1B2733"/>
                </a:solidFill>
                <a:latin typeface="Calibri" pitchFamily="34" charset="0"/>
                <a:ea typeface="Calibri" pitchFamily="34" charset="-122"/>
                <a:cs typeface="Calibri" pitchFamily="34" charset="-120"/>
              </a:rPr>
              <a:t>oracle uplift + abstention (upper bound)</a:t>
            </a:r>
            <a:endParaRPr lang="en-US" sz="1000" dirty="0"/>
          </a:p>
        </p:txBody>
      </p:sp>
      <p:sp>
        <p:nvSpPr>
          <p:cNvPr id="37" name="Shape 27"/>
          <p:cNvSpPr/>
          <p:nvPr/>
        </p:nvSpPr>
        <p:spPr>
          <a:xfrm>
            <a:off x="4334256" y="5742432"/>
            <a:ext cx="146304" cy="146304"/>
          </a:xfrm>
          <a:prstGeom prst="ellipse">
            <a:avLst/>
          </a:prstGeom>
          <a:solidFill>
            <a:srgbClr val="0F9D8A"/>
          </a:solidFill>
          <a:ln/>
        </p:spPr>
      </p:sp>
      <p:sp>
        <p:nvSpPr>
          <p:cNvPr id="38" name="Text 28"/>
          <p:cNvSpPr txBox="1"/>
          <p:nvPr/>
        </p:nvSpPr>
        <p:spPr>
          <a:xfrm>
            <a:off x="4315968" y="5943600"/>
            <a:ext cx="1737360" cy="475488"/>
          </a:xfrm>
          <a:prstGeom prst="rect">
            <a:avLst/>
          </a:prstGeom>
          <a:noFill/>
          <a:ln/>
        </p:spPr>
        <p:txBody>
          <a:bodyPr wrap="square" lIns="0" tIns="0" rIns="0" bIns="0" rtlCol="0" anchor="t"/>
          <a:lstStyle/>
          <a:p>
            <a:pPr indent="0" marL="0">
              <a:buNone/>
            </a:pPr>
            <a:r>
              <a:rPr lang="en-US" sz="1000" b="1" dirty="0">
                <a:solidFill>
                  <a:srgbClr val="0B7A6B"/>
                </a:solidFill>
                <a:latin typeface="Calibri" pitchFamily="34" charset="0"/>
                <a:ea typeface="Calibri" pitchFamily="34" charset="-122"/>
                <a:cs typeface="Calibri" pitchFamily="34" charset="-120"/>
              </a:rPr>
              <a:t>v2  </a:t>
            </a:r>
            <a:pPr indent="0" marL="0">
              <a:buNone/>
            </a:pPr>
            <a:r>
              <a:rPr lang="en-US" sz="1000" dirty="0">
                <a:solidFill>
                  <a:srgbClr val="1B2733"/>
                </a:solidFill>
                <a:latin typeface="Calibri" pitchFamily="34" charset="0"/>
                <a:ea typeface="Calibri" pitchFamily="34" charset="-122"/>
                <a:cs typeface="Calibri" pitchFamily="34" charset="-120"/>
              </a:rPr>
              <a:t>Bayesian CATE + abstention</a:t>
            </a:r>
            <a:endParaRPr lang="en-US" sz="1000" dirty="0"/>
          </a:p>
        </p:txBody>
      </p:sp>
      <p:sp>
        <p:nvSpPr>
          <p:cNvPr id="39" name="Shape 29"/>
          <p:cNvSpPr/>
          <p:nvPr/>
        </p:nvSpPr>
        <p:spPr>
          <a:xfrm>
            <a:off x="6181344" y="5742432"/>
            <a:ext cx="146304" cy="146304"/>
          </a:xfrm>
          <a:prstGeom prst="ellipse">
            <a:avLst/>
          </a:prstGeom>
          <a:solidFill>
            <a:srgbClr val="D9480F"/>
          </a:solidFill>
          <a:ln/>
        </p:spPr>
      </p:sp>
      <p:sp>
        <p:nvSpPr>
          <p:cNvPr id="40" name="Text 30"/>
          <p:cNvSpPr txBox="1"/>
          <p:nvPr/>
        </p:nvSpPr>
        <p:spPr>
          <a:xfrm>
            <a:off x="6163056" y="5943600"/>
            <a:ext cx="1737360" cy="475488"/>
          </a:xfrm>
          <a:prstGeom prst="rect">
            <a:avLst/>
          </a:prstGeom>
          <a:noFill/>
          <a:ln/>
        </p:spPr>
        <p:txBody>
          <a:bodyPr wrap="square" lIns="0" tIns="0" rIns="0" bIns="0" rtlCol="0" anchor="t"/>
          <a:lstStyle/>
          <a:p>
            <a:pPr indent="0" marL="0">
              <a:buNone/>
            </a:pPr>
            <a:r>
              <a:rPr lang="en-US" sz="1000" b="1" dirty="0">
                <a:solidFill>
                  <a:srgbClr val="D9480F"/>
                </a:solidFill>
                <a:latin typeface="Calibri" pitchFamily="34" charset="0"/>
                <a:ea typeface="Calibri" pitchFamily="34" charset="-122"/>
                <a:cs typeface="Calibri" pitchFamily="34" charset="-120"/>
              </a:rPr>
              <a:t>fix  </a:t>
            </a:r>
            <a:pPr indent="0" marL="0">
              <a:buNone/>
            </a:pPr>
            <a:r>
              <a:rPr lang="en-US" sz="1000" dirty="0">
                <a:solidFill>
                  <a:srgbClr val="1B2733"/>
                </a:solidFill>
                <a:latin typeface="Calibri" pitchFamily="34" charset="0"/>
                <a:ea typeface="Calibri" pitchFamily="34" charset="-122"/>
                <a:cs typeface="Calibri" pitchFamily="34" charset="-120"/>
              </a:rPr>
              <a:t>units bug: log-odds multiplied by money</a:t>
            </a:r>
            <a:endParaRPr lang="en-US" sz="1000" dirty="0"/>
          </a:p>
        </p:txBody>
      </p:sp>
      <p:sp>
        <p:nvSpPr>
          <p:cNvPr id="41" name="Shape 31"/>
          <p:cNvSpPr/>
          <p:nvPr/>
        </p:nvSpPr>
        <p:spPr>
          <a:xfrm>
            <a:off x="8028432" y="5742432"/>
            <a:ext cx="146304" cy="146304"/>
          </a:xfrm>
          <a:prstGeom prst="ellipse">
            <a:avLst/>
          </a:prstGeom>
          <a:solidFill>
            <a:srgbClr val="0F9D8A"/>
          </a:solidFill>
          <a:ln/>
        </p:spPr>
      </p:sp>
      <p:sp>
        <p:nvSpPr>
          <p:cNvPr id="42" name="Text 32"/>
          <p:cNvSpPr txBox="1"/>
          <p:nvPr/>
        </p:nvSpPr>
        <p:spPr>
          <a:xfrm>
            <a:off x="8010144" y="5943600"/>
            <a:ext cx="1737360" cy="475488"/>
          </a:xfrm>
          <a:prstGeom prst="rect">
            <a:avLst/>
          </a:prstGeom>
          <a:noFill/>
          <a:ln/>
        </p:spPr>
        <p:txBody>
          <a:bodyPr wrap="square" lIns="0" tIns="0" rIns="0" bIns="0" rtlCol="0" anchor="t"/>
          <a:lstStyle/>
          <a:p>
            <a:pPr indent="0" marL="0">
              <a:buNone/>
            </a:pPr>
            <a:r>
              <a:rPr lang="en-US" sz="1000" b="1" dirty="0">
                <a:solidFill>
                  <a:srgbClr val="0B7A6B"/>
                </a:solidFill>
                <a:latin typeface="Calibri" pitchFamily="34" charset="0"/>
                <a:ea typeface="Calibri" pitchFamily="34" charset="-122"/>
                <a:cs typeface="Calibri" pitchFamily="34" charset="-120"/>
              </a:rPr>
              <a:t>v3  </a:t>
            </a:r>
            <a:pPr indent="0" marL="0">
              <a:buNone/>
            </a:pPr>
            <a:r>
              <a:rPr lang="en-US" sz="1000" dirty="0">
                <a:solidFill>
                  <a:srgbClr val="1B2733"/>
                </a:solidFill>
                <a:latin typeface="Calibri" pitchFamily="34" charset="0"/>
                <a:ea typeface="Calibri" pitchFamily="34" charset="-122"/>
                <a:cs typeface="Calibri" pitchFamily="34" charset="-120"/>
              </a:rPr>
              <a:t>offer ladder + reason codes</a:t>
            </a:r>
            <a:endParaRPr lang="en-US" sz="1000" dirty="0"/>
          </a:p>
        </p:txBody>
      </p:sp>
      <p:sp>
        <p:nvSpPr>
          <p:cNvPr id="43" name="Shape 33"/>
          <p:cNvSpPr/>
          <p:nvPr/>
        </p:nvSpPr>
        <p:spPr>
          <a:xfrm>
            <a:off x="9875520" y="5742432"/>
            <a:ext cx="146304" cy="146304"/>
          </a:xfrm>
          <a:prstGeom prst="ellipse">
            <a:avLst/>
          </a:prstGeom>
          <a:solidFill>
            <a:srgbClr val="0F9D8A"/>
          </a:solidFill>
          <a:ln/>
        </p:spPr>
      </p:sp>
      <p:sp>
        <p:nvSpPr>
          <p:cNvPr id="44" name="Text 34"/>
          <p:cNvSpPr txBox="1"/>
          <p:nvPr/>
        </p:nvSpPr>
        <p:spPr>
          <a:xfrm>
            <a:off x="9857232" y="5943600"/>
            <a:ext cx="1737360" cy="475488"/>
          </a:xfrm>
          <a:prstGeom prst="rect">
            <a:avLst/>
          </a:prstGeom>
          <a:noFill/>
          <a:ln/>
        </p:spPr>
        <p:txBody>
          <a:bodyPr wrap="square" lIns="0" tIns="0" rIns="0" bIns="0" rtlCol="0" anchor="t"/>
          <a:lstStyle/>
          <a:p>
            <a:pPr indent="0" marL="0">
              <a:buNone/>
            </a:pPr>
            <a:r>
              <a:rPr lang="en-US" sz="1000" b="1" dirty="0">
                <a:solidFill>
                  <a:srgbClr val="0B7A6B"/>
                </a:solidFill>
                <a:latin typeface="Calibri" pitchFamily="34" charset="0"/>
                <a:ea typeface="Calibri" pitchFamily="34" charset="-122"/>
                <a:cs typeface="Calibri" pitchFamily="34" charset="-120"/>
              </a:rPr>
              <a:t>v4  </a:t>
            </a:r>
            <a:pPr indent="0" marL="0">
              <a:buNone/>
            </a:pPr>
            <a:r>
              <a:rPr lang="en-US" sz="1000" dirty="0">
                <a:solidFill>
                  <a:srgbClr val="1B2733"/>
                </a:solidFill>
                <a:latin typeface="Calibri" pitchFamily="34" charset="0"/>
                <a:ea typeface="Calibri" pitchFamily="34" charset="-122"/>
                <a:cs typeface="Calibri" pitchFamily="34" charset="-120"/>
              </a:rPr>
              <a:t>holdout measurement layer</a:t>
            </a:r>
            <a:endParaRPr lang="en-US" sz="1000" dirty="0"/>
          </a:p>
        </p:txBody>
      </p:sp>
      <p:sp>
        <p:nvSpPr>
          <p:cNvPr id="45" name="Text 35"/>
          <p:cNvSpPr txBox="1"/>
          <p:nvPr/>
        </p:nvSpPr>
        <p:spPr>
          <a:xfrm>
            <a:off x="548640" y="6492240"/>
            <a:ext cx="8686800" cy="228600"/>
          </a:xfrm>
          <a:prstGeom prst="rect">
            <a:avLst/>
          </a:prstGeom>
          <a:noFill/>
          <a:ln/>
        </p:spPr>
        <p:txBody>
          <a:bodyPr wrap="square" lIns="0" tIns="0" rIns="0" bIns="0" rtlCol="0" anchor="t"/>
          <a:lstStyle/>
          <a:p>
            <a:pPr indent="0" marL="0">
              <a:buNone/>
            </a:pPr>
            <a:r>
              <a:rPr lang="en-US" sz="900" dirty="0">
                <a:solidFill>
                  <a:srgbClr val="8A97A6"/>
                </a:solidFill>
                <a:latin typeface="Calibri" pitchFamily="34" charset="0"/>
                <a:ea typeface="Calibri" pitchFamily="34" charset="-122"/>
                <a:cs typeface="Calibri" pitchFamily="34" charset="-120"/>
              </a:rPr>
              <a:t>RetainIQ  ·  Prasham Jain (2427030155)  ·  Mentor: Dr. Rishi Gupta  ·  Manipal University Jaipur</a:t>
            </a:r>
            <a:endParaRPr lang="en-US" sz="900" dirty="0"/>
          </a:p>
        </p:txBody>
      </p:sp>
      <p:sp>
        <p:nvSpPr>
          <p:cNvPr id="46" name="Text 36"/>
          <p:cNvSpPr txBox="1"/>
          <p:nvPr/>
        </p:nvSpPr>
        <p:spPr>
          <a:xfrm>
            <a:off x="10725912" y="6492240"/>
            <a:ext cx="914400" cy="228600"/>
          </a:xfrm>
          <a:prstGeom prst="rect">
            <a:avLst/>
          </a:prstGeom>
          <a:noFill/>
          <a:ln/>
        </p:spPr>
        <p:txBody>
          <a:bodyPr wrap="square" lIns="0" tIns="0" rIns="0" bIns="0" rtlCol="0" anchor="t"/>
          <a:lstStyle/>
          <a:p>
            <a:pPr algn="r" indent="0" marL="0">
              <a:buNone/>
            </a:pPr>
            <a:r>
              <a:rPr lang="en-US" sz="900" dirty="0">
                <a:solidFill>
                  <a:srgbClr val="8A97A6"/>
                </a:solidFill>
                <a:latin typeface="Calibri" pitchFamily="34" charset="0"/>
                <a:ea typeface="Calibri" pitchFamily="34" charset="-122"/>
                <a:cs typeface="Calibri" pitchFamily="34" charset="-120"/>
              </a:rPr>
              <a:t>4 / 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274320"/>
          </a:xfrm>
          <a:prstGeom prst="rect">
            <a:avLst/>
          </a:prstGeom>
          <a:noFill/>
          <a:ln/>
        </p:spPr>
        <p:txBody>
          <a:bodyPr wrap="square" lIns="0" tIns="0" rIns="0" bIns="0" rtlCol="0" anchor="t"/>
          <a:lstStyle/>
          <a:p>
            <a:pPr indent="0" marL="0">
              <a:buNone/>
            </a:pPr>
            <a:r>
              <a:rPr lang="en-US" sz="1100" b="1" spc="200" kern="0" dirty="0">
                <a:solidFill>
                  <a:srgbClr val="0F9D8A"/>
                </a:solidFill>
                <a:latin typeface="Calibri" pitchFamily="34" charset="0"/>
                <a:ea typeface="Calibri" pitchFamily="34" charset="-122"/>
                <a:cs typeface="Calibri" pitchFamily="34" charset="-120"/>
              </a:rPr>
              <a:t>04  ·  RESULTS I: PREDICTION</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ctr"/>
          <a:lstStyle/>
          <a:p>
            <a:pPr indent="0" marL="0">
              <a:buNone/>
            </a:pPr>
            <a:r>
              <a:rPr lang="en-US" sz="3000" b="1" dirty="0">
                <a:solidFill>
                  <a:srgbClr val="12263A"/>
                </a:solidFill>
                <a:latin typeface="Cambria" pitchFamily="34" charset="0"/>
                <a:ea typeface="Cambria" pitchFamily="34" charset="-122"/>
                <a:cs typeface="Cambria" pitchFamily="34" charset="-120"/>
              </a:rPr>
              <a:t>Results I: a sound churn model, judged honestly</a:t>
            </a:r>
            <a:endParaRPr lang="en-US" sz="3000" dirty="0"/>
          </a:p>
        </p:txBody>
      </p:sp>
      <p:sp>
        <p:nvSpPr>
          <p:cNvPr id="4" name="Text 2"/>
          <p:cNvSpPr txBox="1"/>
          <p:nvPr/>
        </p:nvSpPr>
        <p:spPr>
          <a:xfrm>
            <a:off x="548640" y="1280160"/>
            <a:ext cx="3179414" cy="292608"/>
          </a:xfrm>
          <a:prstGeom prst="rect">
            <a:avLst/>
          </a:prstGeom>
          <a:noFill/>
          <a:ln/>
        </p:spPr>
        <p:txBody>
          <a:bodyPr wrap="square" lIns="0" tIns="0" rIns="0" bIns="0" rtlCol="0" anchor="t"/>
          <a:lstStyle/>
          <a:p>
            <a:pPr indent="0" marL="0">
              <a:buNone/>
            </a:pPr>
            <a:r>
              <a:rPr lang="en-US" sz="1250" b="1" dirty="0">
                <a:solidFill>
                  <a:srgbClr val="12263A"/>
                </a:solidFill>
                <a:latin typeface="Calibri" pitchFamily="34" charset="0"/>
                <a:ea typeface="Calibri" pitchFamily="34" charset="-122"/>
                <a:cs typeface="Calibri" pitchFamily="34" charset="-120"/>
              </a:rPr>
              <a:t>ROC curve · held-out month</a:t>
            </a:r>
            <a:endParaRPr lang="en-US" sz="1250" dirty="0"/>
          </a:p>
        </p:txBody>
      </p:sp>
      <p:pic>
        <p:nvPicPr>
          <p:cNvPr id="5" name="Image 0" descr="/Users/prasham/Desktop/pbl-proj/presentation/build/assets/roc.png">    </p:cNvPr>
          <p:cNvPicPr>
            <a:picLocks noChangeAspect="1"/>
          </p:cNvPicPr>
          <p:nvPr/>
        </p:nvPicPr>
        <p:blipFill>
          <a:blip r:embed="rId1"/>
          <a:stretch>
            <a:fillRect/>
          </a:stretch>
        </p:blipFill>
        <p:spPr>
          <a:xfrm>
            <a:off x="548640" y="1600200"/>
            <a:ext cx="2905094" cy="2606040"/>
          </a:xfrm>
          <a:prstGeom prst="rect">
            <a:avLst/>
          </a:prstGeom>
        </p:spPr>
      </p:pic>
      <p:sp>
        <p:nvSpPr>
          <p:cNvPr id="6" name="Text 3"/>
          <p:cNvSpPr txBox="1"/>
          <p:nvPr/>
        </p:nvSpPr>
        <p:spPr>
          <a:xfrm>
            <a:off x="548640" y="4233672"/>
            <a:ext cx="3179414" cy="256032"/>
          </a:xfrm>
          <a:prstGeom prst="rect">
            <a:avLst/>
          </a:prstGeom>
          <a:noFill/>
          <a:ln/>
        </p:spPr>
        <p:txBody>
          <a:bodyPr wrap="square" lIns="0" tIns="0" rIns="0" bIns="0" rtlCol="0" anchor="t"/>
          <a:lstStyle/>
          <a:p>
            <a:pPr indent="0" marL="0">
              <a:buNone/>
            </a:pPr>
            <a:r>
              <a:rPr lang="en-US" sz="1000" i="1" dirty="0">
                <a:solidFill>
                  <a:srgbClr val="5F6F80"/>
                </a:solidFill>
                <a:latin typeface="Calibri" pitchFamily="34" charset="0"/>
                <a:ea typeface="Calibri" pitchFamily="34" charset="-122"/>
                <a:cs typeface="Calibri" pitchFamily="34" charset="-120"/>
              </a:rPr>
              <a:t>3,589 unseen customers; 3.3% churned that month</a:t>
            </a:r>
            <a:endParaRPr lang="en-US" sz="1000" dirty="0"/>
          </a:p>
        </p:txBody>
      </p:sp>
      <p:sp>
        <p:nvSpPr>
          <p:cNvPr id="7" name="Text 4"/>
          <p:cNvSpPr txBox="1"/>
          <p:nvPr/>
        </p:nvSpPr>
        <p:spPr>
          <a:xfrm>
            <a:off x="4513763" y="1280160"/>
            <a:ext cx="3093970" cy="292608"/>
          </a:xfrm>
          <a:prstGeom prst="rect">
            <a:avLst/>
          </a:prstGeom>
          <a:noFill/>
          <a:ln/>
        </p:spPr>
        <p:txBody>
          <a:bodyPr wrap="square" lIns="0" tIns="0" rIns="0" bIns="0" rtlCol="0" anchor="t"/>
          <a:lstStyle/>
          <a:p>
            <a:pPr indent="0" marL="0">
              <a:buNone/>
            </a:pPr>
            <a:r>
              <a:rPr lang="en-US" sz="1250" b="1" dirty="0">
                <a:solidFill>
                  <a:srgbClr val="12263A"/>
                </a:solidFill>
                <a:latin typeface="Calibri" pitchFamily="34" charset="0"/>
                <a:ea typeface="Calibri" pitchFamily="34" charset="-122"/>
                <a:cs typeface="Calibri" pitchFamily="34" charset="-120"/>
              </a:rPr>
              <a:t>Confusion matrix · top-20% rule</a:t>
            </a:r>
            <a:endParaRPr lang="en-US" sz="1250" dirty="0"/>
          </a:p>
        </p:txBody>
      </p:sp>
      <p:pic>
        <p:nvPicPr>
          <p:cNvPr id="8" name="Image 1" descr="/Users/prasham/Desktop/pbl-proj/presentation/build/assets/confusion.png">    </p:cNvPr>
          <p:cNvPicPr>
            <a:picLocks noChangeAspect="1"/>
          </p:cNvPicPr>
          <p:nvPr/>
        </p:nvPicPr>
        <p:blipFill>
          <a:blip r:embed="rId2"/>
          <a:stretch>
            <a:fillRect/>
          </a:stretch>
        </p:blipFill>
        <p:spPr>
          <a:xfrm>
            <a:off x="4513763" y="1600200"/>
            <a:ext cx="2819650" cy="2606040"/>
          </a:xfrm>
          <a:prstGeom prst="rect">
            <a:avLst/>
          </a:prstGeom>
        </p:spPr>
      </p:pic>
      <p:sp>
        <p:nvSpPr>
          <p:cNvPr id="9" name="Text 5"/>
          <p:cNvSpPr txBox="1"/>
          <p:nvPr/>
        </p:nvSpPr>
        <p:spPr>
          <a:xfrm>
            <a:off x="4513763" y="4233672"/>
            <a:ext cx="3093970" cy="256032"/>
          </a:xfrm>
          <a:prstGeom prst="rect">
            <a:avLst/>
          </a:prstGeom>
          <a:noFill/>
          <a:ln/>
        </p:spPr>
        <p:txBody>
          <a:bodyPr wrap="square" lIns="0" tIns="0" rIns="0" bIns="0" rtlCol="0" anchor="t"/>
          <a:lstStyle/>
          <a:p>
            <a:pPr indent="0" marL="0">
              <a:buNone/>
            </a:pPr>
            <a:r>
              <a:rPr lang="en-US" sz="1000" i="1" dirty="0">
                <a:solidFill>
                  <a:srgbClr val="5F6F80"/>
                </a:solidFill>
                <a:latin typeface="Calibri" pitchFamily="34" charset="0"/>
                <a:ea typeface="Calibri" pitchFamily="34" charset="-122"/>
                <a:cs typeface="Calibri" pitchFamily="34" charset="-120"/>
              </a:rPr>
              <a:t>threshold = the rule the policy actually uses</a:t>
            </a:r>
            <a:endParaRPr lang="en-US" sz="1000" dirty="0"/>
          </a:p>
        </p:txBody>
      </p:sp>
      <p:sp>
        <p:nvSpPr>
          <p:cNvPr id="10" name="Text 6"/>
          <p:cNvSpPr txBox="1"/>
          <p:nvPr/>
        </p:nvSpPr>
        <p:spPr>
          <a:xfrm>
            <a:off x="8393442" y="1280160"/>
            <a:ext cx="3521190" cy="292608"/>
          </a:xfrm>
          <a:prstGeom prst="rect">
            <a:avLst/>
          </a:prstGeom>
          <a:noFill/>
          <a:ln/>
        </p:spPr>
        <p:txBody>
          <a:bodyPr wrap="square" lIns="0" tIns="0" rIns="0" bIns="0" rtlCol="0" anchor="t"/>
          <a:lstStyle/>
          <a:p>
            <a:pPr indent="0" marL="0">
              <a:buNone/>
            </a:pPr>
            <a:r>
              <a:rPr lang="en-US" sz="1250" b="1" dirty="0">
                <a:solidFill>
                  <a:srgbClr val="12263A"/>
                </a:solidFill>
                <a:latin typeface="Calibri" pitchFamily="34" charset="0"/>
                <a:ea typeface="Calibri" pitchFamily="34" charset="-122"/>
                <a:cs typeface="Calibri" pitchFamily="34" charset="-120"/>
              </a:rPr>
              <a:t>Churn drivers · permutation importance</a:t>
            </a:r>
            <a:endParaRPr lang="en-US" sz="1250" dirty="0"/>
          </a:p>
        </p:txBody>
      </p:sp>
      <p:pic>
        <p:nvPicPr>
          <p:cNvPr id="11" name="Image 2" descr="/Users/prasham/Desktop/pbl-proj/presentation/build/assets/importance.png">    </p:cNvPr>
          <p:cNvPicPr>
            <a:picLocks noChangeAspect="1"/>
          </p:cNvPicPr>
          <p:nvPr/>
        </p:nvPicPr>
        <p:blipFill>
          <a:blip r:embed="rId3"/>
          <a:stretch>
            <a:fillRect/>
          </a:stretch>
        </p:blipFill>
        <p:spPr>
          <a:xfrm>
            <a:off x="8393442" y="1600200"/>
            <a:ext cx="3246870" cy="2606040"/>
          </a:xfrm>
          <a:prstGeom prst="rect">
            <a:avLst/>
          </a:prstGeom>
        </p:spPr>
      </p:pic>
      <p:sp>
        <p:nvSpPr>
          <p:cNvPr id="12" name="Text 7"/>
          <p:cNvSpPr txBox="1"/>
          <p:nvPr/>
        </p:nvSpPr>
        <p:spPr>
          <a:xfrm>
            <a:off x="8393442" y="4233672"/>
            <a:ext cx="3521190" cy="256032"/>
          </a:xfrm>
          <a:prstGeom prst="rect">
            <a:avLst/>
          </a:prstGeom>
          <a:noFill/>
          <a:ln/>
        </p:spPr>
        <p:txBody>
          <a:bodyPr wrap="square" lIns="0" tIns="0" rIns="0" bIns="0" rtlCol="0" anchor="t"/>
          <a:lstStyle/>
          <a:p>
            <a:pPr indent="0" marL="0">
              <a:buNone/>
            </a:pPr>
            <a:r>
              <a:rPr lang="en-US" sz="1000" i="1" dirty="0">
                <a:solidFill>
                  <a:srgbClr val="5F6F80"/>
                </a:solidFill>
                <a:latin typeface="Calibri" pitchFamily="34" charset="0"/>
                <a:ea typeface="Calibri" pitchFamily="34" charset="-122"/>
                <a:cs typeface="Calibri" pitchFamily="34" charset="-120"/>
              </a:rPr>
              <a:t>AUC drop when a feature is shuffled (15 repeats)</a:t>
            </a:r>
            <a:endParaRPr lang="en-US" sz="1000" dirty="0"/>
          </a:p>
        </p:txBody>
      </p:sp>
      <p:sp>
        <p:nvSpPr>
          <p:cNvPr id="13" name="Shape 8"/>
          <p:cNvSpPr/>
          <p:nvPr/>
        </p:nvSpPr>
        <p:spPr>
          <a:xfrm>
            <a:off x="548640" y="4590288"/>
            <a:ext cx="1828800" cy="822960"/>
          </a:xfrm>
          <a:prstGeom prst="roundRect">
            <a:avLst>
              <a:gd name="adj" fmla="val 8889"/>
            </a:avLst>
          </a:prstGeom>
          <a:solidFill>
            <a:srgbClr val="F2F5F8"/>
          </a:solidFill>
          <a:ln/>
        </p:spPr>
      </p:sp>
      <p:sp>
        <p:nvSpPr>
          <p:cNvPr id="14" name="Text 9"/>
          <p:cNvSpPr txBox="1"/>
          <p:nvPr/>
        </p:nvSpPr>
        <p:spPr>
          <a:xfrm>
            <a:off x="685800" y="4645152"/>
            <a:ext cx="1600200" cy="420624"/>
          </a:xfrm>
          <a:prstGeom prst="rect">
            <a:avLst/>
          </a:prstGeom>
          <a:noFill/>
          <a:ln/>
        </p:spPr>
        <p:txBody>
          <a:bodyPr wrap="square" lIns="0" tIns="0" rIns="0" bIns="0" rtlCol="0" anchor="ctr"/>
          <a:lstStyle/>
          <a:p>
            <a:pPr indent="0" marL="0">
              <a:buNone/>
            </a:pPr>
            <a:r>
              <a:rPr lang="en-US" sz="2200" b="1" dirty="0">
                <a:solidFill>
                  <a:srgbClr val="12263A"/>
                </a:solidFill>
                <a:latin typeface="Cambria" pitchFamily="34" charset="0"/>
                <a:ea typeface="Cambria" pitchFamily="34" charset="-122"/>
                <a:cs typeface="Cambria" pitchFamily="34" charset="-120"/>
              </a:rPr>
              <a:t>0.700</a:t>
            </a:r>
            <a:endParaRPr lang="en-US" sz="2200" dirty="0"/>
          </a:p>
        </p:txBody>
      </p:sp>
      <p:sp>
        <p:nvSpPr>
          <p:cNvPr id="15" name="Text 10"/>
          <p:cNvSpPr txBox="1"/>
          <p:nvPr/>
        </p:nvSpPr>
        <p:spPr>
          <a:xfrm>
            <a:off x="685800" y="5065776"/>
            <a:ext cx="1645920" cy="310896"/>
          </a:xfrm>
          <a:prstGeom prst="rect">
            <a:avLst/>
          </a:prstGeom>
          <a:noFill/>
          <a:ln/>
        </p:spPr>
        <p:txBody>
          <a:bodyPr wrap="square" lIns="0" tIns="0" rIns="0" bIns="0" rtlCol="0" anchor="t"/>
          <a:lstStyle/>
          <a:p>
            <a:pPr indent="0" marL="0">
              <a:buNone/>
            </a:pPr>
            <a:r>
              <a:rPr lang="en-US" sz="1100" dirty="0">
                <a:solidFill>
                  <a:srgbClr val="5F6F80"/>
                </a:solidFill>
                <a:latin typeface="Calibri" pitchFamily="34" charset="0"/>
                <a:ea typeface="Calibri" pitchFamily="34" charset="-122"/>
                <a:cs typeface="Calibri" pitchFamily="34" charset="-120"/>
              </a:rPr>
              <a:t>AUC-ROC</a:t>
            </a:r>
            <a:endParaRPr lang="en-US" sz="1100" dirty="0"/>
          </a:p>
        </p:txBody>
      </p:sp>
      <p:sp>
        <p:nvSpPr>
          <p:cNvPr id="16" name="Shape 11"/>
          <p:cNvSpPr/>
          <p:nvPr/>
        </p:nvSpPr>
        <p:spPr>
          <a:xfrm>
            <a:off x="2514600" y="4590288"/>
            <a:ext cx="1828800" cy="822960"/>
          </a:xfrm>
          <a:prstGeom prst="roundRect">
            <a:avLst>
              <a:gd name="adj" fmla="val 8889"/>
            </a:avLst>
          </a:prstGeom>
          <a:solidFill>
            <a:srgbClr val="F2F5F8"/>
          </a:solidFill>
          <a:ln/>
        </p:spPr>
      </p:sp>
      <p:sp>
        <p:nvSpPr>
          <p:cNvPr id="17" name="Text 12"/>
          <p:cNvSpPr txBox="1"/>
          <p:nvPr/>
        </p:nvSpPr>
        <p:spPr>
          <a:xfrm>
            <a:off x="2651760" y="4645152"/>
            <a:ext cx="1600200" cy="420624"/>
          </a:xfrm>
          <a:prstGeom prst="rect">
            <a:avLst/>
          </a:prstGeom>
          <a:noFill/>
          <a:ln/>
        </p:spPr>
        <p:txBody>
          <a:bodyPr wrap="square" lIns="0" tIns="0" rIns="0" bIns="0" rtlCol="0" anchor="ctr"/>
          <a:lstStyle/>
          <a:p>
            <a:pPr indent="0" marL="0">
              <a:buNone/>
            </a:pPr>
            <a:r>
              <a:rPr lang="en-US" sz="2200" b="1" dirty="0">
                <a:solidFill>
                  <a:srgbClr val="12263A"/>
                </a:solidFill>
                <a:latin typeface="Cambria" pitchFamily="34" charset="0"/>
                <a:ea typeface="Cambria" pitchFamily="34" charset="-122"/>
                <a:cs typeface="Cambria" pitchFamily="34" charset="-120"/>
              </a:rPr>
              <a:t>44.5%</a:t>
            </a:r>
            <a:endParaRPr lang="en-US" sz="2200" dirty="0"/>
          </a:p>
        </p:txBody>
      </p:sp>
      <p:sp>
        <p:nvSpPr>
          <p:cNvPr id="18" name="Text 13"/>
          <p:cNvSpPr txBox="1"/>
          <p:nvPr/>
        </p:nvSpPr>
        <p:spPr>
          <a:xfrm>
            <a:off x="2651760" y="5065776"/>
            <a:ext cx="1645920" cy="310896"/>
          </a:xfrm>
          <a:prstGeom prst="rect">
            <a:avLst/>
          </a:prstGeom>
          <a:noFill/>
          <a:ln/>
        </p:spPr>
        <p:txBody>
          <a:bodyPr wrap="square" lIns="0" tIns="0" rIns="0" bIns="0" rtlCol="0" anchor="t"/>
          <a:lstStyle/>
          <a:p>
            <a:pPr indent="0" marL="0">
              <a:buNone/>
            </a:pPr>
            <a:r>
              <a:rPr lang="en-US" sz="1100" dirty="0">
                <a:solidFill>
                  <a:srgbClr val="5F6F80"/>
                </a:solidFill>
                <a:latin typeface="Calibri" pitchFamily="34" charset="0"/>
                <a:ea typeface="Calibri" pitchFamily="34" charset="-122"/>
                <a:cs typeface="Calibri" pitchFamily="34" charset="-120"/>
              </a:rPr>
              <a:t>recall</a:t>
            </a:r>
            <a:endParaRPr lang="en-US" sz="1100" dirty="0"/>
          </a:p>
        </p:txBody>
      </p:sp>
      <p:sp>
        <p:nvSpPr>
          <p:cNvPr id="19" name="Shape 14"/>
          <p:cNvSpPr/>
          <p:nvPr/>
        </p:nvSpPr>
        <p:spPr>
          <a:xfrm>
            <a:off x="4480560" y="4590288"/>
            <a:ext cx="1828800" cy="822960"/>
          </a:xfrm>
          <a:prstGeom prst="roundRect">
            <a:avLst>
              <a:gd name="adj" fmla="val 8889"/>
            </a:avLst>
          </a:prstGeom>
          <a:solidFill>
            <a:srgbClr val="F2F5F8"/>
          </a:solidFill>
          <a:ln/>
        </p:spPr>
      </p:sp>
      <p:sp>
        <p:nvSpPr>
          <p:cNvPr id="20" name="Text 15"/>
          <p:cNvSpPr txBox="1"/>
          <p:nvPr/>
        </p:nvSpPr>
        <p:spPr>
          <a:xfrm>
            <a:off x="4617720" y="4645152"/>
            <a:ext cx="1600200" cy="420624"/>
          </a:xfrm>
          <a:prstGeom prst="rect">
            <a:avLst/>
          </a:prstGeom>
          <a:noFill/>
          <a:ln/>
        </p:spPr>
        <p:txBody>
          <a:bodyPr wrap="square" lIns="0" tIns="0" rIns="0" bIns="0" rtlCol="0" anchor="ctr"/>
          <a:lstStyle/>
          <a:p>
            <a:pPr indent="0" marL="0">
              <a:buNone/>
            </a:pPr>
            <a:r>
              <a:rPr lang="en-US" sz="2200" b="1" dirty="0">
                <a:solidFill>
                  <a:srgbClr val="12263A"/>
                </a:solidFill>
                <a:latin typeface="Cambria" pitchFamily="34" charset="0"/>
                <a:ea typeface="Cambria" pitchFamily="34" charset="-122"/>
                <a:cs typeface="Cambria" pitchFamily="34" charset="-120"/>
              </a:rPr>
              <a:t>7.4%</a:t>
            </a:r>
            <a:endParaRPr lang="en-US" sz="2200" dirty="0"/>
          </a:p>
        </p:txBody>
      </p:sp>
      <p:sp>
        <p:nvSpPr>
          <p:cNvPr id="21" name="Text 16"/>
          <p:cNvSpPr txBox="1"/>
          <p:nvPr/>
        </p:nvSpPr>
        <p:spPr>
          <a:xfrm>
            <a:off x="4617720" y="5065776"/>
            <a:ext cx="1645920" cy="310896"/>
          </a:xfrm>
          <a:prstGeom prst="rect">
            <a:avLst/>
          </a:prstGeom>
          <a:noFill/>
          <a:ln/>
        </p:spPr>
        <p:txBody>
          <a:bodyPr wrap="square" lIns="0" tIns="0" rIns="0" bIns="0" rtlCol="0" anchor="t"/>
          <a:lstStyle/>
          <a:p>
            <a:pPr indent="0" marL="0">
              <a:buNone/>
            </a:pPr>
            <a:r>
              <a:rPr lang="en-US" sz="1100" dirty="0">
                <a:solidFill>
                  <a:srgbClr val="5F6F80"/>
                </a:solidFill>
                <a:latin typeface="Calibri" pitchFamily="34" charset="0"/>
                <a:ea typeface="Calibri" pitchFamily="34" charset="-122"/>
                <a:cs typeface="Calibri" pitchFamily="34" charset="-120"/>
              </a:rPr>
              <a:t>precision</a:t>
            </a:r>
            <a:endParaRPr lang="en-US" sz="1100" dirty="0"/>
          </a:p>
        </p:txBody>
      </p:sp>
      <p:sp>
        <p:nvSpPr>
          <p:cNvPr id="22" name="Shape 17"/>
          <p:cNvSpPr/>
          <p:nvPr/>
        </p:nvSpPr>
        <p:spPr>
          <a:xfrm>
            <a:off x="548640" y="5504688"/>
            <a:ext cx="1828800" cy="822960"/>
          </a:xfrm>
          <a:prstGeom prst="roundRect">
            <a:avLst>
              <a:gd name="adj" fmla="val 8889"/>
            </a:avLst>
          </a:prstGeom>
          <a:solidFill>
            <a:srgbClr val="F2F5F8"/>
          </a:solidFill>
          <a:ln/>
        </p:spPr>
      </p:sp>
      <p:sp>
        <p:nvSpPr>
          <p:cNvPr id="23" name="Text 18"/>
          <p:cNvSpPr txBox="1"/>
          <p:nvPr/>
        </p:nvSpPr>
        <p:spPr>
          <a:xfrm>
            <a:off x="685800" y="5559552"/>
            <a:ext cx="1600200" cy="420624"/>
          </a:xfrm>
          <a:prstGeom prst="rect">
            <a:avLst/>
          </a:prstGeom>
          <a:noFill/>
          <a:ln/>
        </p:spPr>
        <p:txBody>
          <a:bodyPr wrap="square" lIns="0" tIns="0" rIns="0" bIns="0" rtlCol="0" anchor="ctr"/>
          <a:lstStyle/>
          <a:p>
            <a:pPr indent="0" marL="0">
              <a:buNone/>
            </a:pPr>
            <a:r>
              <a:rPr lang="en-US" sz="2200" b="1" dirty="0">
                <a:solidFill>
                  <a:srgbClr val="12263A"/>
                </a:solidFill>
                <a:latin typeface="Cambria" pitchFamily="34" charset="0"/>
                <a:ea typeface="Cambria" pitchFamily="34" charset="-122"/>
                <a:cs typeface="Cambria" pitchFamily="34" charset="-120"/>
              </a:rPr>
              <a:t>0.127</a:t>
            </a:r>
            <a:endParaRPr lang="en-US" sz="2200" dirty="0"/>
          </a:p>
        </p:txBody>
      </p:sp>
      <p:sp>
        <p:nvSpPr>
          <p:cNvPr id="24" name="Text 19"/>
          <p:cNvSpPr txBox="1"/>
          <p:nvPr/>
        </p:nvSpPr>
        <p:spPr>
          <a:xfrm>
            <a:off x="685800" y="5980176"/>
            <a:ext cx="1645920" cy="310896"/>
          </a:xfrm>
          <a:prstGeom prst="rect">
            <a:avLst/>
          </a:prstGeom>
          <a:noFill/>
          <a:ln/>
        </p:spPr>
        <p:txBody>
          <a:bodyPr wrap="square" lIns="0" tIns="0" rIns="0" bIns="0" rtlCol="0" anchor="t"/>
          <a:lstStyle/>
          <a:p>
            <a:pPr indent="0" marL="0">
              <a:buNone/>
            </a:pPr>
            <a:r>
              <a:rPr lang="en-US" sz="1100" dirty="0">
                <a:solidFill>
                  <a:srgbClr val="5F6F80"/>
                </a:solidFill>
                <a:latin typeface="Calibri" pitchFamily="34" charset="0"/>
                <a:ea typeface="Calibri" pitchFamily="34" charset="-122"/>
                <a:cs typeface="Calibri" pitchFamily="34" charset="-120"/>
              </a:rPr>
              <a:t>F1 score</a:t>
            </a:r>
            <a:endParaRPr lang="en-US" sz="1100" dirty="0"/>
          </a:p>
        </p:txBody>
      </p:sp>
      <p:sp>
        <p:nvSpPr>
          <p:cNvPr id="25" name="Shape 20"/>
          <p:cNvSpPr/>
          <p:nvPr/>
        </p:nvSpPr>
        <p:spPr>
          <a:xfrm>
            <a:off x="2514600" y="5504688"/>
            <a:ext cx="1828800" cy="822960"/>
          </a:xfrm>
          <a:prstGeom prst="roundRect">
            <a:avLst>
              <a:gd name="adj" fmla="val 8889"/>
            </a:avLst>
          </a:prstGeom>
          <a:solidFill>
            <a:srgbClr val="F2F5F8"/>
          </a:solidFill>
          <a:ln/>
        </p:spPr>
      </p:sp>
      <p:sp>
        <p:nvSpPr>
          <p:cNvPr id="26" name="Text 21"/>
          <p:cNvSpPr txBox="1"/>
          <p:nvPr/>
        </p:nvSpPr>
        <p:spPr>
          <a:xfrm>
            <a:off x="2651760" y="5559552"/>
            <a:ext cx="1600200" cy="420624"/>
          </a:xfrm>
          <a:prstGeom prst="rect">
            <a:avLst/>
          </a:prstGeom>
          <a:noFill/>
          <a:ln/>
        </p:spPr>
        <p:txBody>
          <a:bodyPr wrap="square" lIns="0" tIns="0" rIns="0" bIns="0" rtlCol="0" anchor="ctr"/>
          <a:lstStyle/>
          <a:p>
            <a:pPr indent="0" marL="0">
              <a:buNone/>
            </a:pPr>
            <a:r>
              <a:rPr lang="en-US" sz="2200" b="1" dirty="0">
                <a:solidFill>
                  <a:srgbClr val="12263A"/>
                </a:solidFill>
                <a:latin typeface="Cambria" pitchFamily="34" charset="0"/>
                <a:ea typeface="Cambria" pitchFamily="34" charset="-122"/>
                <a:cs typeface="Cambria" pitchFamily="34" charset="-120"/>
              </a:rPr>
              <a:t>79.6%</a:t>
            </a:r>
            <a:endParaRPr lang="en-US" sz="2200" dirty="0"/>
          </a:p>
        </p:txBody>
      </p:sp>
      <p:sp>
        <p:nvSpPr>
          <p:cNvPr id="27" name="Text 22"/>
          <p:cNvSpPr txBox="1"/>
          <p:nvPr/>
        </p:nvSpPr>
        <p:spPr>
          <a:xfrm>
            <a:off x="2651760" y="5980176"/>
            <a:ext cx="1645920" cy="310896"/>
          </a:xfrm>
          <a:prstGeom prst="rect">
            <a:avLst/>
          </a:prstGeom>
          <a:noFill/>
          <a:ln/>
        </p:spPr>
        <p:txBody>
          <a:bodyPr wrap="square" lIns="0" tIns="0" rIns="0" bIns="0" rtlCol="0" anchor="t"/>
          <a:lstStyle/>
          <a:p>
            <a:pPr indent="0" marL="0">
              <a:buNone/>
            </a:pPr>
            <a:r>
              <a:rPr lang="en-US" sz="1100" dirty="0">
                <a:solidFill>
                  <a:srgbClr val="5F6F80"/>
                </a:solidFill>
                <a:latin typeface="Calibri" pitchFamily="34" charset="0"/>
                <a:ea typeface="Calibri" pitchFamily="34" charset="-122"/>
                <a:cs typeface="Calibri" pitchFamily="34" charset="-120"/>
              </a:rPr>
              <a:t>accuracy</a:t>
            </a:r>
            <a:endParaRPr lang="en-US" sz="1100" dirty="0"/>
          </a:p>
        </p:txBody>
      </p:sp>
      <p:sp>
        <p:nvSpPr>
          <p:cNvPr id="28" name="Shape 23"/>
          <p:cNvSpPr/>
          <p:nvPr/>
        </p:nvSpPr>
        <p:spPr>
          <a:xfrm>
            <a:off x="4480560" y="5504688"/>
            <a:ext cx="1828800" cy="822960"/>
          </a:xfrm>
          <a:prstGeom prst="roundRect">
            <a:avLst>
              <a:gd name="adj" fmla="val 8889"/>
            </a:avLst>
          </a:prstGeom>
          <a:solidFill>
            <a:srgbClr val="FBE2D8"/>
          </a:solidFill>
          <a:ln/>
        </p:spPr>
      </p:sp>
      <p:sp>
        <p:nvSpPr>
          <p:cNvPr id="29" name="Text 24"/>
          <p:cNvSpPr txBox="1"/>
          <p:nvPr/>
        </p:nvSpPr>
        <p:spPr>
          <a:xfrm>
            <a:off x="4617720" y="5559552"/>
            <a:ext cx="1600200" cy="420624"/>
          </a:xfrm>
          <a:prstGeom prst="rect">
            <a:avLst/>
          </a:prstGeom>
          <a:noFill/>
          <a:ln/>
        </p:spPr>
        <p:txBody>
          <a:bodyPr wrap="square" lIns="0" tIns="0" rIns="0" bIns="0" rtlCol="0" anchor="ctr"/>
          <a:lstStyle/>
          <a:p>
            <a:pPr indent="0" marL="0">
              <a:buNone/>
            </a:pPr>
            <a:r>
              <a:rPr lang="en-US" sz="2200" b="1" dirty="0">
                <a:solidFill>
                  <a:srgbClr val="D9480F"/>
                </a:solidFill>
                <a:latin typeface="Cambria" pitchFamily="34" charset="0"/>
                <a:ea typeface="Cambria" pitchFamily="34" charset="-122"/>
                <a:cs typeface="Cambria" pitchFamily="34" charset="-120"/>
              </a:rPr>
              <a:t>96.7%</a:t>
            </a:r>
            <a:endParaRPr lang="en-US" sz="2200" dirty="0"/>
          </a:p>
        </p:txBody>
      </p:sp>
      <p:sp>
        <p:nvSpPr>
          <p:cNvPr id="30" name="Text 25"/>
          <p:cNvSpPr txBox="1"/>
          <p:nvPr/>
        </p:nvSpPr>
        <p:spPr>
          <a:xfrm>
            <a:off x="4617720" y="5980176"/>
            <a:ext cx="1645920" cy="310896"/>
          </a:xfrm>
          <a:prstGeom prst="rect">
            <a:avLst/>
          </a:prstGeom>
          <a:noFill/>
          <a:ln/>
        </p:spPr>
        <p:txBody>
          <a:bodyPr wrap="square" lIns="0" tIns="0" rIns="0" bIns="0" rtlCol="0" anchor="t"/>
          <a:lstStyle/>
          <a:p>
            <a:pPr indent="0" marL="0">
              <a:buNone/>
            </a:pPr>
            <a:r>
              <a:rPr lang="en-US" sz="950" dirty="0">
                <a:solidFill>
                  <a:srgbClr val="5F6F80"/>
                </a:solidFill>
                <a:latin typeface="Calibri" pitchFamily="34" charset="0"/>
                <a:ea typeface="Calibri" pitchFamily="34" charset="-122"/>
                <a:cs typeface="Calibri" pitchFamily="34" charset="-120"/>
              </a:rPr>
              <a:t>accuracy of always predicting ‘stays’</a:t>
            </a:r>
            <a:endParaRPr lang="en-US" sz="950" dirty="0"/>
          </a:p>
        </p:txBody>
      </p:sp>
      <p:sp>
        <p:nvSpPr>
          <p:cNvPr id="31" name="Text 26"/>
          <p:cNvSpPr txBox="1"/>
          <p:nvPr/>
        </p:nvSpPr>
        <p:spPr>
          <a:xfrm>
            <a:off x="6629400" y="4544568"/>
            <a:ext cx="5029200" cy="475488"/>
          </a:xfrm>
          <a:prstGeom prst="rect">
            <a:avLst/>
          </a:prstGeom>
          <a:noFill/>
          <a:ln/>
        </p:spPr>
        <p:txBody>
          <a:bodyPr wrap="square" lIns="0" tIns="0" rIns="0" bIns="0" rtlCol="0" anchor="t"/>
          <a:lstStyle/>
          <a:p>
            <a:pPr indent="0" marL="0">
              <a:buNone/>
            </a:pPr>
            <a:r>
              <a:rPr lang="en-US" sz="1250" b="1" dirty="0">
                <a:solidFill>
                  <a:srgbClr val="12263A"/>
                </a:solidFill>
                <a:latin typeface="Calibri" pitchFamily="34" charset="0"/>
                <a:ea typeface="Calibri" pitchFamily="34" charset="-122"/>
                <a:cs typeface="Calibri" pitchFamily="34" charset="-120"/>
              </a:rPr>
              <a:t>Survival benchmark (Telco, 10 resplits)</a:t>
            </a:r>
            <a:endParaRPr lang="en-US" sz="1250" dirty="0"/>
          </a:p>
          <a:p>
            <a:pPr indent="0" marL="0">
              <a:buNone/>
            </a:pPr>
            <a:r>
              <a:rPr lang="en-US" sz="1000" dirty="0">
                <a:solidFill>
                  <a:srgbClr val="5F6F80"/>
                </a:solidFill>
                <a:latin typeface="Calibri" pitchFamily="34" charset="0"/>
                <a:ea typeface="Calibri" pitchFamily="34" charset="-122"/>
                <a:cs typeface="Calibri" pitchFamily="34" charset="-120"/>
              </a:rPr>
              <a:t>Integrated Brier score (lower is better): ties DeepSurv, beats Cox and RSF on 10 of 10 resplits</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629400" y="5047488"/>
          <a:ext cx="5029200" cy="914400"/>
        </p:xfrm>
        <a:graphic>
          <a:graphicData uri="http://schemas.openxmlformats.org/drawingml/2006/table">
            <a:tbl>
              <a:tblPr/>
              <a:tblGrid>
                <a:gridCol w="2148840"/>
                <a:gridCol w="914400"/>
                <a:gridCol w="914400"/>
                <a:gridCol w="1051560"/>
              </a:tblGrid>
              <a:tr h="21488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76200" marR="76200" marT="12700" marB="127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226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C-index</a:t>
                      </a:r>
                      <a:endParaRPr lang="en-US" sz="1000" dirty="0">
                        <a:latin typeface="Calibri" charset="0"/>
                        <a:ea typeface="Calibri" charset="0"/>
                        <a:cs typeface="Calibri" charset="0"/>
                      </a:endParaRPr>
                    </a:p>
                  </a:txBody>
                  <a:tcPr marL="76200" marR="76200" marT="12700" marB="127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226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IBS</a:t>
                      </a:r>
                      <a:endParaRPr lang="en-US" sz="1000" dirty="0">
                        <a:latin typeface="Calibri" charset="0"/>
                        <a:ea typeface="Calibri" charset="0"/>
                        <a:cs typeface="Calibri" charset="0"/>
                      </a:endParaRPr>
                    </a:p>
                  </a:txBody>
                  <a:tcPr marL="76200" marR="76200" marT="12700" marB="127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226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Cal. slope</a:t>
                      </a:r>
                      <a:endParaRPr lang="en-US" sz="1000" dirty="0">
                        <a:latin typeface="Calibri" charset="0"/>
                        <a:ea typeface="Calibri" charset="0"/>
                        <a:cs typeface="Calibri" charset="0"/>
                      </a:endParaRPr>
                    </a:p>
                  </a:txBody>
                  <a:tcPr marL="76200" marR="76200" marT="12700" marB="127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2263A"/>
                    </a:solidFill>
                  </a:tcPr>
                </a:tc>
              </a:tr>
              <a:tr h="214884">
                <a:tc>
                  <a:txBody>
                    <a:bodyPr/>
                    <a:lstStyle/>
                    <a:p>
                      <a:pPr indent="0" marL="0">
                        <a:buNone/>
                      </a:pPr>
                      <a:r>
                        <a:rPr lang="en-US" sz="1000" b="1" dirty="0">
                          <a:solidFill>
                            <a:srgbClr val="0B7A6B"/>
                          </a:solidFill>
                          <a:latin typeface="Calibri" pitchFamily="34" charset="0"/>
                          <a:ea typeface="Calibri" pitchFamily="34" charset="-122"/>
                          <a:cs typeface="Calibri" pitchFamily="34" charset="-120"/>
                        </a:rPr>
                        <a:t>Discrete-time hazard (ours)</a:t>
                      </a:r>
                      <a:endParaRPr lang="en-US" sz="1000" dirty="0">
                        <a:latin typeface="Calibri" charset="0"/>
                        <a:ea typeface="Calibri" charset="0"/>
                        <a:cs typeface="Calibri" charset="0"/>
                      </a:endParaRPr>
                    </a:p>
                  </a:txBody>
                  <a:tcPr marL="76200" marR="76200" marT="12700" marB="127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3F4F1"/>
                    </a:solidFill>
                  </a:tcPr>
                </a:tc>
                <a:tc>
                  <a:txBody>
                    <a:bodyPr/>
                    <a:lstStyle/>
                    <a:p>
                      <a:pPr indent="0" marL="0">
                        <a:buNone/>
                      </a:pPr>
                      <a:r>
                        <a:rPr lang="en-US" sz="1000" b="1" dirty="0">
                          <a:solidFill>
                            <a:srgbClr val="0B7A6B"/>
                          </a:solidFill>
                          <a:latin typeface="Calibri" pitchFamily="34" charset="0"/>
                          <a:ea typeface="Calibri" pitchFamily="34" charset="-122"/>
                          <a:cs typeface="Calibri" pitchFamily="34" charset="-120"/>
                        </a:rPr>
                        <a:t>0.865</a:t>
                      </a:r>
                      <a:endParaRPr lang="en-US" sz="1000" dirty="0">
                        <a:latin typeface="Calibri" charset="0"/>
                        <a:ea typeface="Calibri" charset="0"/>
                        <a:cs typeface="Calibri" charset="0"/>
                      </a:endParaRPr>
                    </a:p>
                  </a:txBody>
                  <a:tcPr marL="76200" marR="76200" marT="12700" marB="127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3F4F1"/>
                    </a:solidFill>
                  </a:tcPr>
                </a:tc>
                <a:tc>
                  <a:txBody>
                    <a:bodyPr/>
                    <a:lstStyle/>
                    <a:p>
                      <a:pPr indent="0" marL="0">
                        <a:buNone/>
                      </a:pPr>
                      <a:r>
                        <a:rPr lang="en-US" sz="1000" b="1" dirty="0">
                          <a:solidFill>
                            <a:srgbClr val="0B7A6B"/>
                          </a:solidFill>
                          <a:latin typeface="Calibri" pitchFamily="34" charset="0"/>
                          <a:ea typeface="Calibri" pitchFamily="34" charset="-122"/>
                          <a:cs typeface="Calibri" pitchFamily="34" charset="-120"/>
                        </a:rPr>
                        <a:t>0.0824</a:t>
                      </a:r>
                      <a:endParaRPr lang="en-US" sz="1000" dirty="0">
                        <a:latin typeface="Calibri" charset="0"/>
                        <a:ea typeface="Calibri" charset="0"/>
                        <a:cs typeface="Calibri" charset="0"/>
                      </a:endParaRPr>
                    </a:p>
                  </a:txBody>
                  <a:tcPr marL="76200" marR="76200" marT="12700" marB="127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3F4F1"/>
                    </a:solidFill>
                  </a:tcPr>
                </a:tc>
                <a:tc>
                  <a:txBody>
                    <a:bodyPr/>
                    <a:lstStyle/>
                    <a:p>
                      <a:pPr indent="0" marL="0">
                        <a:buNone/>
                      </a:pPr>
                      <a:r>
                        <a:rPr lang="en-US" sz="1000" b="1" dirty="0">
                          <a:solidFill>
                            <a:srgbClr val="0B7A6B"/>
                          </a:solidFill>
                          <a:latin typeface="Calibri" pitchFamily="34" charset="0"/>
                          <a:ea typeface="Calibri" pitchFamily="34" charset="-122"/>
                          <a:cs typeface="Calibri" pitchFamily="34" charset="-120"/>
                        </a:rPr>
                        <a:t>1.02</a:t>
                      </a:r>
                      <a:endParaRPr lang="en-US" sz="1000" dirty="0">
                        <a:latin typeface="Calibri" charset="0"/>
                        <a:ea typeface="Calibri" charset="0"/>
                        <a:cs typeface="Calibri" charset="0"/>
                      </a:endParaRPr>
                    </a:p>
                  </a:txBody>
                  <a:tcPr marL="76200" marR="76200" marT="12700" marB="127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3F4F1"/>
                    </a:solidFill>
                  </a:tcPr>
                </a:tc>
              </a:tr>
              <a:tr h="214884">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DeepSurv</a:t>
                      </a:r>
                      <a:endParaRPr lang="en-US" sz="1000" dirty="0">
                        <a:latin typeface="Calibri" charset="0"/>
                        <a:ea typeface="Calibri" charset="0"/>
                        <a:cs typeface="Calibri" charset="0"/>
                      </a:endParaRPr>
                    </a:p>
                  </a:txBody>
                  <a:tcPr marL="76200" marR="76200" marT="12700" marB="127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0.866</a:t>
                      </a:r>
                      <a:endParaRPr lang="en-US" sz="1000" dirty="0">
                        <a:latin typeface="Calibri" charset="0"/>
                        <a:ea typeface="Calibri" charset="0"/>
                        <a:cs typeface="Calibri" charset="0"/>
                      </a:endParaRPr>
                    </a:p>
                  </a:txBody>
                  <a:tcPr marL="76200" marR="76200" marT="12700" marB="127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0.0825</a:t>
                      </a:r>
                      <a:endParaRPr lang="en-US" sz="1000" dirty="0">
                        <a:latin typeface="Calibri" charset="0"/>
                        <a:ea typeface="Calibri" charset="0"/>
                        <a:cs typeface="Calibri" charset="0"/>
                      </a:endParaRPr>
                    </a:p>
                  </a:txBody>
                  <a:tcPr marL="76200" marR="76200" marT="12700" marB="127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0.98</a:t>
                      </a:r>
                      <a:endParaRPr lang="en-US" sz="1000" dirty="0">
                        <a:latin typeface="Calibri" charset="0"/>
                        <a:ea typeface="Calibri" charset="0"/>
                        <a:cs typeface="Calibri" charset="0"/>
                      </a:endParaRPr>
                    </a:p>
                  </a:txBody>
                  <a:tcPr marL="76200" marR="76200" marT="12700" marB="127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214884">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Cox PH</a:t>
                      </a:r>
                      <a:endParaRPr lang="en-US" sz="1000" dirty="0">
                        <a:latin typeface="Calibri" charset="0"/>
                        <a:ea typeface="Calibri" charset="0"/>
                        <a:cs typeface="Calibri" charset="0"/>
                      </a:endParaRPr>
                    </a:p>
                  </a:txBody>
                  <a:tcPr marL="76200" marR="76200" marT="12700" marB="127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0.857</a:t>
                      </a:r>
                      <a:endParaRPr lang="en-US" sz="1000" dirty="0">
                        <a:latin typeface="Calibri" charset="0"/>
                        <a:ea typeface="Calibri" charset="0"/>
                        <a:cs typeface="Calibri" charset="0"/>
                      </a:endParaRPr>
                    </a:p>
                  </a:txBody>
                  <a:tcPr marL="76200" marR="76200" marT="12700" marB="127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0.0914</a:t>
                      </a:r>
                      <a:endParaRPr lang="en-US" sz="1000" dirty="0">
                        <a:latin typeface="Calibri" charset="0"/>
                        <a:ea typeface="Calibri" charset="0"/>
                        <a:cs typeface="Calibri" charset="0"/>
                      </a:endParaRPr>
                    </a:p>
                  </a:txBody>
                  <a:tcPr marL="76200" marR="76200" marT="12700" marB="127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1.18</a:t>
                      </a:r>
                      <a:endParaRPr lang="en-US" sz="1000" dirty="0">
                        <a:latin typeface="Calibri" charset="0"/>
                        <a:ea typeface="Calibri" charset="0"/>
                        <a:cs typeface="Calibri" charset="0"/>
                      </a:endParaRPr>
                    </a:p>
                  </a:txBody>
                  <a:tcPr marL="76200" marR="76200" marT="12700" marB="127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214884">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Random Survival Forest</a:t>
                      </a:r>
                      <a:endParaRPr lang="en-US" sz="1000" dirty="0">
                        <a:latin typeface="Calibri" charset="0"/>
                        <a:ea typeface="Calibri" charset="0"/>
                        <a:cs typeface="Calibri" charset="0"/>
                      </a:endParaRPr>
                    </a:p>
                  </a:txBody>
                  <a:tcPr marL="76200" marR="76200" marT="12700" marB="127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0.846</a:t>
                      </a:r>
                      <a:endParaRPr lang="en-US" sz="1000" dirty="0">
                        <a:latin typeface="Calibri" charset="0"/>
                        <a:ea typeface="Calibri" charset="0"/>
                        <a:cs typeface="Calibri" charset="0"/>
                      </a:endParaRPr>
                    </a:p>
                  </a:txBody>
                  <a:tcPr marL="76200" marR="76200" marT="12700" marB="127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0.0964</a:t>
                      </a:r>
                      <a:endParaRPr lang="en-US" sz="1000" dirty="0">
                        <a:latin typeface="Calibri" charset="0"/>
                        <a:ea typeface="Calibri" charset="0"/>
                        <a:cs typeface="Calibri" charset="0"/>
                      </a:endParaRPr>
                    </a:p>
                  </a:txBody>
                  <a:tcPr marL="76200" marR="76200" marT="12700" marB="127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1.18</a:t>
                      </a:r>
                      <a:endParaRPr lang="en-US" sz="1000" dirty="0">
                        <a:latin typeface="Calibri" charset="0"/>
                        <a:ea typeface="Calibri" charset="0"/>
                        <a:cs typeface="Calibri" charset="0"/>
                      </a:endParaRPr>
                    </a:p>
                  </a:txBody>
                  <a:tcPr marL="76200" marR="76200" marT="12700" marB="127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214884">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Kaplan–Meier</a:t>
                      </a:r>
                      <a:endParaRPr lang="en-US" sz="1000" dirty="0">
                        <a:latin typeface="Calibri" charset="0"/>
                        <a:ea typeface="Calibri" charset="0"/>
                        <a:cs typeface="Calibri" charset="0"/>
                      </a:endParaRPr>
                    </a:p>
                  </a:txBody>
                  <a:tcPr marL="76200" marR="76200" marT="12700" marB="127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6200" marR="76200" marT="12700" marB="127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0.1823</a:t>
                      </a:r>
                      <a:endParaRPr lang="en-US" sz="1000" dirty="0">
                        <a:latin typeface="Calibri" charset="0"/>
                        <a:ea typeface="Calibri" charset="0"/>
                        <a:cs typeface="Calibri" charset="0"/>
                      </a:endParaRPr>
                    </a:p>
                  </a:txBody>
                  <a:tcPr marL="76200" marR="76200" marT="12700" marB="127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6200" marR="76200" marT="12700" marB="127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bl>
          </a:graphicData>
        </a:graphic>
      </p:graphicFrame>
      <p:sp>
        <p:nvSpPr>
          <p:cNvPr id="33" name="Text 27"/>
          <p:cNvSpPr txBox="1"/>
          <p:nvPr/>
        </p:nvSpPr>
        <p:spPr>
          <a:xfrm>
            <a:off x="548640" y="6492240"/>
            <a:ext cx="8686800" cy="228600"/>
          </a:xfrm>
          <a:prstGeom prst="rect">
            <a:avLst/>
          </a:prstGeom>
          <a:noFill/>
          <a:ln/>
        </p:spPr>
        <p:txBody>
          <a:bodyPr wrap="square" lIns="0" tIns="0" rIns="0" bIns="0" rtlCol="0" anchor="t"/>
          <a:lstStyle/>
          <a:p>
            <a:pPr indent="0" marL="0">
              <a:buNone/>
            </a:pPr>
            <a:r>
              <a:rPr lang="en-US" sz="900" dirty="0">
                <a:solidFill>
                  <a:srgbClr val="8A97A6"/>
                </a:solidFill>
                <a:latin typeface="Calibri" pitchFamily="34" charset="0"/>
                <a:ea typeface="Calibri" pitchFamily="34" charset="-122"/>
                <a:cs typeface="Calibri" pitchFamily="34" charset="-120"/>
              </a:rPr>
              <a:t>RetainIQ  ·  Prasham Jain (2427030155)  ·  Mentor: Dr. Rishi Gupta  ·  Manipal University Jaipur</a:t>
            </a:r>
            <a:endParaRPr lang="en-US" sz="900" dirty="0"/>
          </a:p>
        </p:txBody>
      </p:sp>
      <p:sp>
        <p:nvSpPr>
          <p:cNvPr id="34" name="Text 28"/>
          <p:cNvSpPr txBox="1"/>
          <p:nvPr/>
        </p:nvSpPr>
        <p:spPr>
          <a:xfrm>
            <a:off x="10725912" y="6492240"/>
            <a:ext cx="914400" cy="228600"/>
          </a:xfrm>
          <a:prstGeom prst="rect">
            <a:avLst/>
          </a:prstGeom>
          <a:noFill/>
          <a:ln/>
        </p:spPr>
        <p:txBody>
          <a:bodyPr wrap="square" lIns="0" tIns="0" rIns="0" bIns="0" rtlCol="0" anchor="t"/>
          <a:lstStyle/>
          <a:p>
            <a:pPr algn="r" indent="0" marL="0">
              <a:buNone/>
            </a:pPr>
            <a:r>
              <a:rPr lang="en-US" sz="900" dirty="0">
                <a:solidFill>
                  <a:srgbClr val="8A97A6"/>
                </a:solidFill>
                <a:latin typeface="Calibri" pitchFamily="34" charset="0"/>
                <a:ea typeface="Calibri" pitchFamily="34" charset="-122"/>
                <a:cs typeface="Calibri" pitchFamily="34" charset="-120"/>
              </a:rPr>
              <a:t>5 / 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274320"/>
          </a:xfrm>
          <a:prstGeom prst="rect">
            <a:avLst/>
          </a:prstGeom>
          <a:noFill/>
          <a:ln/>
        </p:spPr>
        <p:txBody>
          <a:bodyPr wrap="square" lIns="0" tIns="0" rIns="0" bIns="0" rtlCol="0" anchor="t"/>
          <a:lstStyle/>
          <a:p>
            <a:pPr indent="0" marL="0">
              <a:buNone/>
            </a:pPr>
            <a:r>
              <a:rPr lang="en-US" sz="1100" b="1" spc="200" kern="0" dirty="0">
                <a:solidFill>
                  <a:srgbClr val="0F9D8A"/>
                </a:solidFill>
                <a:latin typeface="Calibri" pitchFamily="34" charset="0"/>
                <a:ea typeface="Calibri" pitchFamily="34" charset="-122"/>
                <a:cs typeface="Calibri" pitchFamily="34" charset="-120"/>
              </a:rPr>
              <a:t>05  ·  RESULTS II: DECISIONS</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ctr"/>
          <a:lstStyle/>
          <a:p>
            <a:pPr indent="0" marL="0">
              <a:buNone/>
            </a:pPr>
            <a:r>
              <a:rPr lang="en-US" sz="3000" b="1" dirty="0">
                <a:solidFill>
                  <a:srgbClr val="12263A"/>
                </a:solidFill>
                <a:latin typeface="Cambria" pitchFamily="34" charset="0"/>
                <a:ea typeface="Cambria" pitchFamily="34" charset="-122"/>
                <a:cs typeface="Cambria" pitchFamily="34" charset="-120"/>
              </a:rPr>
              <a:t>Results II: better prediction does not mean better decisions</a:t>
            </a:r>
            <a:endParaRPr lang="en-US" sz="3000" dirty="0"/>
          </a:p>
        </p:txBody>
      </p:sp>
      <p:sp>
        <p:nvSpPr>
          <p:cNvPr id="4" name="Shape 2"/>
          <p:cNvSpPr/>
          <p:nvPr/>
        </p:nvSpPr>
        <p:spPr>
          <a:xfrm>
            <a:off x="548640" y="1325880"/>
            <a:ext cx="6080760" cy="3611880"/>
          </a:xfrm>
          <a:prstGeom prst="roundRect">
            <a:avLst>
              <a:gd name="adj" fmla="val 2025"/>
            </a:avLst>
          </a:prstGeom>
          <a:solidFill>
            <a:srgbClr val="F2F5F8"/>
          </a:solidFill>
          <a:ln/>
        </p:spPr>
      </p:sp>
      <p:sp>
        <p:nvSpPr>
          <p:cNvPr id="5" name="Text 3"/>
          <p:cNvSpPr txBox="1"/>
          <p:nvPr/>
        </p:nvSpPr>
        <p:spPr>
          <a:xfrm>
            <a:off x="777240" y="1435608"/>
            <a:ext cx="5669280" cy="292608"/>
          </a:xfrm>
          <a:prstGeom prst="rect">
            <a:avLst/>
          </a:prstGeom>
          <a:noFill/>
          <a:ln/>
        </p:spPr>
        <p:txBody>
          <a:bodyPr wrap="square" lIns="0" tIns="0" rIns="0" bIns="0" rtlCol="0" anchor="t"/>
          <a:lstStyle/>
          <a:p>
            <a:pPr indent="0" marL="0">
              <a:buNone/>
            </a:pPr>
            <a:r>
              <a:rPr lang="en-US" sz="1300" b="1" dirty="0">
                <a:solidFill>
                  <a:srgbClr val="12263A"/>
                </a:solidFill>
                <a:latin typeface="Calibri" pitchFamily="34" charset="0"/>
                <a:ea typeface="Calibri" pitchFamily="34" charset="-122"/>
                <a:cs typeface="Calibri" pitchFamily="34" charset="-120"/>
              </a:rPr>
              <a:t>Value created by each targeting policy</a:t>
            </a:r>
            <a:endParaRPr lang="en-US" sz="1300" dirty="0"/>
          </a:p>
        </p:txBody>
      </p:sp>
      <p:sp>
        <p:nvSpPr>
          <p:cNvPr id="6" name="Text 4"/>
          <p:cNvSpPr txBox="1"/>
          <p:nvPr/>
        </p:nvSpPr>
        <p:spPr>
          <a:xfrm>
            <a:off x="777240" y="1719072"/>
            <a:ext cx="5669280" cy="256032"/>
          </a:xfrm>
          <a:prstGeom prst="rect">
            <a:avLst/>
          </a:prstGeom>
          <a:noFill/>
          <a:ln/>
        </p:spPr>
        <p:txBody>
          <a:bodyPr wrap="square" lIns="0" tIns="0" rIns="0" bIns="0" rtlCol="0" anchor="t"/>
          <a:lstStyle/>
          <a:p>
            <a:pPr indent="0" marL="0">
              <a:buNone/>
            </a:pPr>
            <a:r>
              <a:rPr lang="en-US" sz="1000" dirty="0">
                <a:solidFill>
                  <a:srgbClr val="5F6F80"/>
                </a:solidFill>
                <a:latin typeface="Calibri" pitchFamily="34" charset="0"/>
                <a:ea typeface="Calibri" pitchFamily="34" charset="-122"/>
                <a:cs typeface="Calibri" pitchFamily="34" charset="-120"/>
              </a:rPr>
              <a:t>Same 20% budget · 3,589 simulated customers · from  make killtest</a:t>
            </a:r>
            <a:endParaRPr lang="en-US" sz="1000" dirty="0"/>
          </a:p>
        </p:txBody>
      </p:sp>
      <p:sp>
        <p:nvSpPr>
          <p:cNvPr id="7" name="Shape 5"/>
          <p:cNvSpPr/>
          <p:nvPr/>
        </p:nvSpPr>
        <p:spPr>
          <a:xfrm>
            <a:off x="4960620" y="2057400"/>
            <a:ext cx="0" cy="2487168"/>
          </a:xfrm>
          <a:prstGeom prst="line">
            <a:avLst/>
          </a:prstGeom>
          <a:noFill/>
          <a:ln w="12700">
            <a:solidFill>
              <a:srgbClr val="5B7A99"/>
            </a:solidFill>
            <a:prstDash val="solid"/>
          </a:ln>
        </p:spPr>
      </p:sp>
      <p:sp>
        <p:nvSpPr>
          <p:cNvPr id="8" name="Text 6"/>
          <p:cNvSpPr txBox="1"/>
          <p:nvPr/>
        </p:nvSpPr>
        <p:spPr>
          <a:xfrm>
            <a:off x="731520" y="2103120"/>
            <a:ext cx="1874520" cy="274320"/>
          </a:xfrm>
          <a:prstGeom prst="rect">
            <a:avLst/>
          </a:prstGeom>
          <a:noFill/>
          <a:ln/>
        </p:spPr>
        <p:txBody>
          <a:bodyPr wrap="square" lIns="0" tIns="0" rIns="0" bIns="0" rtlCol="0" anchor="ctr"/>
          <a:lstStyle/>
          <a:p>
            <a:pPr algn="r" indent="0" marL="0">
              <a:buNone/>
            </a:pPr>
            <a:r>
              <a:rPr lang="en-US" sz="1100" dirty="0">
                <a:solidFill>
                  <a:srgbClr val="1B2733"/>
                </a:solidFill>
                <a:latin typeface="Calibri" pitchFamily="34" charset="0"/>
                <a:ea typeface="Calibri" pitchFamily="34" charset="-122"/>
                <a:cs typeface="Calibri" pitchFamily="34" charset="-120"/>
              </a:rPr>
              <a:t>Do nothing</a:t>
            </a:r>
            <a:endParaRPr lang="en-US" sz="1100" dirty="0"/>
          </a:p>
        </p:txBody>
      </p:sp>
      <p:sp>
        <p:nvSpPr>
          <p:cNvPr id="9" name="Text 7"/>
          <p:cNvSpPr txBox="1"/>
          <p:nvPr/>
        </p:nvSpPr>
        <p:spPr>
          <a:xfrm>
            <a:off x="5015484" y="2103120"/>
            <a:ext cx="457200" cy="274320"/>
          </a:xfrm>
          <a:prstGeom prst="rect">
            <a:avLst/>
          </a:prstGeom>
          <a:noFill/>
          <a:ln/>
        </p:spPr>
        <p:txBody>
          <a:bodyPr wrap="square" lIns="0" tIns="0" rIns="0" bIns="0" rtlCol="0" anchor="ctr"/>
          <a:lstStyle/>
          <a:p>
            <a:pPr indent="0" marL="0">
              <a:buNone/>
            </a:pPr>
            <a:r>
              <a:rPr lang="en-US" sz="1050" b="1" dirty="0">
                <a:solidFill>
                  <a:srgbClr val="5F6F80"/>
                </a:solidFill>
                <a:latin typeface="Calibri" pitchFamily="34" charset="0"/>
                <a:ea typeface="Calibri" pitchFamily="34" charset="-122"/>
                <a:cs typeface="Calibri" pitchFamily="34" charset="-120"/>
              </a:rPr>
              <a:t>0</a:t>
            </a:r>
            <a:endParaRPr lang="en-US" sz="1050" dirty="0"/>
          </a:p>
        </p:txBody>
      </p:sp>
      <p:sp>
        <p:nvSpPr>
          <p:cNvPr id="10" name="Text 8"/>
          <p:cNvSpPr txBox="1"/>
          <p:nvPr/>
        </p:nvSpPr>
        <p:spPr>
          <a:xfrm>
            <a:off x="731520" y="2505456"/>
            <a:ext cx="1874520" cy="274320"/>
          </a:xfrm>
          <a:prstGeom prst="rect">
            <a:avLst/>
          </a:prstGeom>
          <a:noFill/>
          <a:ln/>
        </p:spPr>
        <p:txBody>
          <a:bodyPr wrap="square" lIns="0" tIns="0" rIns="0" bIns="0" rtlCol="0" anchor="ctr"/>
          <a:lstStyle/>
          <a:p>
            <a:pPr algn="r" indent="0" marL="0">
              <a:buNone/>
            </a:pPr>
            <a:r>
              <a:rPr lang="en-US" sz="1100" dirty="0">
                <a:solidFill>
                  <a:srgbClr val="1B2733"/>
                </a:solidFill>
                <a:latin typeface="Calibri" pitchFamily="34" charset="0"/>
                <a:ea typeface="Calibri" pitchFamily="34" charset="-122"/>
                <a:cs typeface="Calibri" pitchFamily="34" charset="-120"/>
              </a:rPr>
              <a:t>Treat everyone</a:t>
            </a:r>
            <a:endParaRPr lang="en-US" sz="1100" dirty="0"/>
          </a:p>
        </p:txBody>
      </p:sp>
      <p:sp>
        <p:nvSpPr>
          <p:cNvPr id="11" name="Shape 9"/>
          <p:cNvSpPr/>
          <p:nvPr/>
        </p:nvSpPr>
        <p:spPr>
          <a:xfrm>
            <a:off x="2697480" y="2505456"/>
            <a:ext cx="2263140" cy="274320"/>
          </a:xfrm>
          <a:prstGeom prst="rect">
            <a:avLst/>
          </a:prstGeom>
          <a:solidFill>
            <a:srgbClr val="D9480F"/>
          </a:solidFill>
          <a:ln/>
        </p:spPr>
      </p:sp>
      <p:sp>
        <p:nvSpPr>
          <p:cNvPr id="12" name="Text 10"/>
          <p:cNvSpPr txBox="1"/>
          <p:nvPr/>
        </p:nvSpPr>
        <p:spPr>
          <a:xfrm>
            <a:off x="2752344" y="2505456"/>
            <a:ext cx="2171700" cy="274320"/>
          </a:xfrm>
          <a:prstGeom prst="rect">
            <a:avLst/>
          </a:prstGeom>
          <a:noFill/>
          <a:ln/>
        </p:spPr>
        <p:txBody>
          <a:bodyPr wrap="square" lIns="0" tIns="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−89,869  (off scale)</a:t>
            </a:r>
            <a:endParaRPr lang="en-US" sz="1050" dirty="0"/>
          </a:p>
        </p:txBody>
      </p:sp>
      <p:sp>
        <p:nvSpPr>
          <p:cNvPr id="13" name="Text 11"/>
          <p:cNvSpPr txBox="1"/>
          <p:nvPr/>
        </p:nvSpPr>
        <p:spPr>
          <a:xfrm>
            <a:off x="731520" y="2907792"/>
            <a:ext cx="1874520" cy="274320"/>
          </a:xfrm>
          <a:prstGeom prst="rect">
            <a:avLst/>
          </a:prstGeom>
          <a:noFill/>
          <a:ln/>
        </p:spPr>
        <p:txBody>
          <a:bodyPr wrap="square" lIns="0" tIns="0" rIns="0" bIns="0" rtlCol="0" anchor="ctr"/>
          <a:lstStyle/>
          <a:p>
            <a:pPr algn="r" indent="0" marL="0">
              <a:buNone/>
            </a:pPr>
            <a:r>
              <a:rPr lang="en-US" sz="1100" dirty="0">
                <a:solidFill>
                  <a:srgbClr val="1B2733"/>
                </a:solidFill>
                <a:latin typeface="Calibri" pitchFamily="34" charset="0"/>
                <a:ea typeface="Calibri" pitchFamily="34" charset="-122"/>
                <a:cs typeface="Calibri" pitchFamily="34" charset="-120"/>
              </a:rPr>
              <a:t>Random 20%</a:t>
            </a:r>
            <a:endParaRPr lang="en-US" sz="1100" dirty="0"/>
          </a:p>
        </p:txBody>
      </p:sp>
      <p:sp>
        <p:nvSpPr>
          <p:cNvPr id="14" name="Shape 12"/>
          <p:cNvSpPr/>
          <p:nvPr/>
        </p:nvSpPr>
        <p:spPr>
          <a:xfrm>
            <a:off x="3675534" y="2907792"/>
            <a:ext cx="1285086" cy="274320"/>
          </a:xfrm>
          <a:prstGeom prst="rect">
            <a:avLst/>
          </a:prstGeom>
          <a:solidFill>
            <a:srgbClr val="D9480F"/>
          </a:solidFill>
          <a:ln/>
        </p:spPr>
      </p:sp>
      <p:sp>
        <p:nvSpPr>
          <p:cNvPr id="15" name="Text 13"/>
          <p:cNvSpPr txBox="1"/>
          <p:nvPr/>
        </p:nvSpPr>
        <p:spPr>
          <a:xfrm>
            <a:off x="3730398" y="2907792"/>
            <a:ext cx="1193646" cy="274320"/>
          </a:xfrm>
          <a:prstGeom prst="rect">
            <a:avLst/>
          </a:prstGeom>
          <a:noFill/>
          <a:ln/>
        </p:spPr>
        <p:txBody>
          <a:bodyPr wrap="square" lIns="0" tIns="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−17,035</a:t>
            </a:r>
            <a:endParaRPr lang="en-US" sz="1050" dirty="0"/>
          </a:p>
        </p:txBody>
      </p:sp>
      <p:sp>
        <p:nvSpPr>
          <p:cNvPr id="16" name="Text 14"/>
          <p:cNvSpPr txBox="1"/>
          <p:nvPr/>
        </p:nvSpPr>
        <p:spPr>
          <a:xfrm>
            <a:off x="731520" y="3310128"/>
            <a:ext cx="1874520" cy="274320"/>
          </a:xfrm>
          <a:prstGeom prst="rect">
            <a:avLst/>
          </a:prstGeom>
          <a:noFill/>
          <a:ln/>
        </p:spPr>
        <p:txBody>
          <a:bodyPr wrap="square" lIns="0" tIns="0" rIns="0" bIns="0" rtlCol="0" anchor="ctr"/>
          <a:lstStyle/>
          <a:p>
            <a:pPr algn="r" indent="0" marL="0">
              <a:buNone/>
            </a:pPr>
            <a:r>
              <a:rPr lang="en-US" sz="1100" b="1" dirty="0">
                <a:solidFill>
                  <a:srgbClr val="D9480F"/>
                </a:solidFill>
                <a:latin typeface="Calibri" pitchFamily="34" charset="0"/>
                <a:ea typeface="Calibri" pitchFamily="34" charset="-122"/>
                <a:cs typeface="Calibri" pitchFamily="34" charset="-120"/>
              </a:rPr>
              <a:t>Churn-score top 20%</a:t>
            </a:r>
            <a:endParaRPr lang="en-US" sz="1100" dirty="0"/>
          </a:p>
        </p:txBody>
      </p:sp>
      <p:sp>
        <p:nvSpPr>
          <p:cNvPr id="17" name="Shape 15"/>
          <p:cNvSpPr/>
          <p:nvPr/>
        </p:nvSpPr>
        <p:spPr>
          <a:xfrm>
            <a:off x="3238899" y="3310128"/>
            <a:ext cx="1721721" cy="274320"/>
          </a:xfrm>
          <a:prstGeom prst="rect">
            <a:avLst/>
          </a:prstGeom>
          <a:solidFill>
            <a:srgbClr val="D9480F"/>
          </a:solidFill>
          <a:ln/>
        </p:spPr>
      </p:sp>
      <p:sp>
        <p:nvSpPr>
          <p:cNvPr id="18" name="Text 16"/>
          <p:cNvSpPr txBox="1"/>
          <p:nvPr/>
        </p:nvSpPr>
        <p:spPr>
          <a:xfrm>
            <a:off x="3293763" y="3310128"/>
            <a:ext cx="1630281" cy="274320"/>
          </a:xfrm>
          <a:prstGeom prst="rect">
            <a:avLst/>
          </a:prstGeom>
          <a:noFill/>
          <a:ln/>
        </p:spPr>
        <p:txBody>
          <a:bodyPr wrap="square" lIns="0" tIns="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−22,823</a:t>
            </a:r>
            <a:endParaRPr lang="en-US" sz="1050" dirty="0"/>
          </a:p>
        </p:txBody>
      </p:sp>
      <p:sp>
        <p:nvSpPr>
          <p:cNvPr id="19" name="Text 17"/>
          <p:cNvSpPr txBox="1"/>
          <p:nvPr/>
        </p:nvSpPr>
        <p:spPr>
          <a:xfrm>
            <a:off x="731520" y="3712464"/>
            <a:ext cx="1874520" cy="274320"/>
          </a:xfrm>
          <a:prstGeom prst="rect">
            <a:avLst/>
          </a:prstGeom>
          <a:noFill/>
          <a:ln/>
        </p:spPr>
        <p:txBody>
          <a:bodyPr wrap="square" lIns="0" tIns="0" rIns="0" bIns="0" rtlCol="0" anchor="ctr"/>
          <a:lstStyle/>
          <a:p>
            <a:pPr algn="r" indent="0" marL="0">
              <a:buNone/>
            </a:pPr>
            <a:r>
              <a:rPr lang="en-US" sz="1100" dirty="0">
                <a:solidFill>
                  <a:srgbClr val="1B2733"/>
                </a:solidFill>
                <a:latin typeface="Calibri" pitchFamily="34" charset="0"/>
                <a:ea typeface="Calibri" pitchFamily="34" charset="-122"/>
                <a:cs typeface="Calibri" pitchFamily="34" charset="-120"/>
              </a:rPr>
              <a:t>Oracle uplift top 20% *</a:t>
            </a:r>
            <a:endParaRPr lang="en-US" sz="1100" dirty="0"/>
          </a:p>
        </p:txBody>
      </p:sp>
      <p:sp>
        <p:nvSpPr>
          <p:cNvPr id="20" name="Shape 18"/>
          <p:cNvSpPr/>
          <p:nvPr/>
        </p:nvSpPr>
        <p:spPr>
          <a:xfrm>
            <a:off x="4960620" y="3712464"/>
            <a:ext cx="443349" cy="274320"/>
          </a:xfrm>
          <a:prstGeom prst="rect">
            <a:avLst/>
          </a:prstGeom>
          <a:solidFill>
            <a:srgbClr val="0F9D8A"/>
          </a:solidFill>
          <a:ln/>
        </p:spPr>
      </p:sp>
      <p:sp>
        <p:nvSpPr>
          <p:cNvPr id="21" name="Text 19"/>
          <p:cNvSpPr txBox="1"/>
          <p:nvPr/>
        </p:nvSpPr>
        <p:spPr>
          <a:xfrm>
            <a:off x="5458833" y="3712464"/>
            <a:ext cx="777240" cy="274320"/>
          </a:xfrm>
          <a:prstGeom prst="rect">
            <a:avLst/>
          </a:prstGeom>
          <a:noFill/>
          <a:ln/>
        </p:spPr>
        <p:txBody>
          <a:bodyPr wrap="square" lIns="0" tIns="0" rIns="0" bIns="0" rtlCol="0" anchor="ctr"/>
          <a:lstStyle/>
          <a:p>
            <a:pPr indent="0" marL="0">
              <a:buNone/>
            </a:pPr>
            <a:r>
              <a:rPr lang="en-US" sz="1050" b="1" dirty="0">
                <a:solidFill>
                  <a:srgbClr val="0B7A6B"/>
                </a:solidFill>
                <a:latin typeface="Calibri" pitchFamily="34" charset="0"/>
                <a:ea typeface="Calibri" pitchFamily="34" charset="-122"/>
                <a:cs typeface="Calibri" pitchFamily="34" charset="-120"/>
              </a:rPr>
              <a:t>+5,877</a:t>
            </a:r>
            <a:endParaRPr lang="en-US" sz="1050" dirty="0"/>
          </a:p>
        </p:txBody>
      </p:sp>
      <p:sp>
        <p:nvSpPr>
          <p:cNvPr id="22" name="Text 20"/>
          <p:cNvSpPr txBox="1"/>
          <p:nvPr/>
        </p:nvSpPr>
        <p:spPr>
          <a:xfrm>
            <a:off x="731520" y="4114800"/>
            <a:ext cx="1874520" cy="274320"/>
          </a:xfrm>
          <a:prstGeom prst="rect">
            <a:avLst/>
          </a:prstGeom>
          <a:noFill/>
          <a:ln/>
        </p:spPr>
        <p:txBody>
          <a:bodyPr wrap="square" lIns="0" tIns="0" rIns="0" bIns="0" rtlCol="0" anchor="ctr"/>
          <a:lstStyle/>
          <a:p>
            <a:pPr algn="r" indent="0" marL="0">
              <a:buNone/>
            </a:pPr>
            <a:r>
              <a:rPr lang="en-US" sz="1100" dirty="0">
                <a:solidFill>
                  <a:srgbClr val="1B2733"/>
                </a:solidFill>
                <a:latin typeface="Calibri" pitchFamily="34" charset="0"/>
                <a:ea typeface="Calibri" pitchFamily="34" charset="-122"/>
                <a:cs typeface="Calibri" pitchFamily="34" charset="-120"/>
              </a:rPr>
              <a:t>Oracle + abstention *</a:t>
            </a:r>
            <a:endParaRPr lang="en-US" sz="1100" dirty="0"/>
          </a:p>
        </p:txBody>
      </p:sp>
      <p:sp>
        <p:nvSpPr>
          <p:cNvPr id="23" name="Shape 21"/>
          <p:cNvSpPr/>
          <p:nvPr/>
        </p:nvSpPr>
        <p:spPr>
          <a:xfrm>
            <a:off x="4960620" y="4114800"/>
            <a:ext cx="649521" cy="274320"/>
          </a:xfrm>
          <a:prstGeom prst="rect">
            <a:avLst/>
          </a:prstGeom>
          <a:solidFill>
            <a:srgbClr val="0F9D8A"/>
          </a:solidFill>
          <a:ln/>
        </p:spPr>
      </p:sp>
      <p:sp>
        <p:nvSpPr>
          <p:cNvPr id="24" name="Text 22"/>
          <p:cNvSpPr txBox="1"/>
          <p:nvPr/>
        </p:nvSpPr>
        <p:spPr>
          <a:xfrm>
            <a:off x="5665005" y="4114800"/>
            <a:ext cx="777240" cy="274320"/>
          </a:xfrm>
          <a:prstGeom prst="rect">
            <a:avLst/>
          </a:prstGeom>
          <a:noFill/>
          <a:ln/>
        </p:spPr>
        <p:txBody>
          <a:bodyPr wrap="square" lIns="0" tIns="0" rIns="0" bIns="0" rtlCol="0" anchor="ctr"/>
          <a:lstStyle/>
          <a:p>
            <a:pPr indent="0" marL="0">
              <a:buNone/>
            </a:pPr>
            <a:r>
              <a:rPr lang="en-US" sz="1050" b="1" dirty="0">
                <a:solidFill>
                  <a:srgbClr val="0B7A6B"/>
                </a:solidFill>
                <a:latin typeface="Calibri" pitchFamily="34" charset="0"/>
                <a:ea typeface="Calibri" pitchFamily="34" charset="-122"/>
                <a:cs typeface="Calibri" pitchFamily="34" charset="-120"/>
              </a:rPr>
              <a:t>+8,610</a:t>
            </a:r>
            <a:endParaRPr lang="en-US" sz="1050" dirty="0"/>
          </a:p>
        </p:txBody>
      </p:sp>
      <p:sp>
        <p:nvSpPr>
          <p:cNvPr id="25" name="Text 23"/>
          <p:cNvSpPr txBox="1"/>
          <p:nvPr/>
        </p:nvSpPr>
        <p:spPr>
          <a:xfrm>
            <a:off x="777240" y="4572000"/>
            <a:ext cx="5715000" cy="274320"/>
          </a:xfrm>
          <a:prstGeom prst="rect">
            <a:avLst/>
          </a:prstGeom>
          <a:noFill/>
          <a:ln/>
        </p:spPr>
        <p:txBody>
          <a:bodyPr wrap="square" lIns="0" tIns="0" rIns="0" bIns="0" rtlCol="0" anchor="t"/>
          <a:lstStyle/>
          <a:p>
            <a:pPr indent="0" marL="0">
              <a:buNone/>
            </a:pPr>
            <a:r>
              <a:rPr lang="en-US" sz="950" i="1" dirty="0">
                <a:solidFill>
                  <a:srgbClr val="5F6F80"/>
                </a:solidFill>
                <a:latin typeface="Calibri" pitchFamily="34" charset="0"/>
                <a:ea typeface="Calibri" pitchFamily="34" charset="-122"/>
                <a:cs typeface="Calibri" pitchFamily="34" charset="-120"/>
              </a:rPr>
              <a:t>* oracle rows use the simulator's true effects: an upper bound, not an achievable result</a:t>
            </a:r>
            <a:endParaRPr lang="en-US" sz="950" dirty="0"/>
          </a:p>
        </p:txBody>
      </p:sp>
      <p:sp>
        <p:nvSpPr>
          <p:cNvPr id="26" name="Text 24"/>
          <p:cNvSpPr txBox="1"/>
          <p:nvPr/>
        </p:nvSpPr>
        <p:spPr>
          <a:xfrm>
            <a:off x="6903720" y="1325880"/>
            <a:ext cx="4754880" cy="548640"/>
          </a:xfrm>
          <a:prstGeom prst="rect">
            <a:avLst/>
          </a:prstGeom>
          <a:noFill/>
          <a:ln/>
        </p:spPr>
        <p:txBody>
          <a:bodyPr wrap="square" lIns="0" tIns="0" rIns="0" bIns="0" rtlCol="0" anchor="t"/>
          <a:lstStyle/>
          <a:p>
            <a:pPr indent="0" marL="0">
              <a:buNone/>
            </a:pPr>
            <a:r>
              <a:rPr lang="en-US" sz="1300" b="1" dirty="0">
                <a:solidFill>
                  <a:srgbClr val="12263A"/>
                </a:solidFill>
                <a:latin typeface="Calibri" pitchFamily="34" charset="0"/>
                <a:ea typeface="Calibri" pitchFamily="34" charset="-122"/>
                <a:cs typeface="Calibri" pitchFamily="34" charset="-120"/>
              </a:rPr>
              <a:t>When does causal (uplift) targeting pay?</a:t>
            </a:r>
            <a:endParaRPr lang="en-US" sz="1300" dirty="0"/>
          </a:p>
          <a:p>
            <a:pPr indent="0" marL="0">
              <a:buNone/>
            </a:pPr>
            <a:r>
              <a:rPr lang="en-US" sz="1000" dirty="0">
                <a:solidFill>
                  <a:srgbClr val="5F6F80"/>
                </a:solidFill>
                <a:latin typeface="Calibri" pitchFamily="34" charset="0"/>
                <a:ea typeface="Calibri" pitchFamily="34" charset="-122"/>
                <a:cs typeface="Calibri" pitchFamily="34" charset="-120"/>
              </a:rPr>
              <a:t>τ = offer effect, π = outcome propensity  ·  correlation after Ascarza (2018)</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903720" y="1920240"/>
          <a:ext cx="4754880" cy="914400"/>
        </p:xfrm>
        <a:graphic>
          <a:graphicData uri="http://schemas.openxmlformats.org/drawingml/2006/table">
            <a:tbl>
              <a:tblPr/>
              <a:tblGrid>
                <a:gridCol w="1737360"/>
                <a:gridCol w="1508760"/>
                <a:gridCol w="1508760"/>
              </a:tblGrid>
              <a:tr h="34747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Setting</a:t>
                      </a:r>
                      <a:endParaRPr lang="en-US" sz="1000" dirty="0">
                        <a:latin typeface="Calibri" charset="0"/>
                        <a:ea typeface="Calibri" charset="0"/>
                        <a:cs typeface="Calibri" charset="0"/>
                      </a:endParaRPr>
                    </a:p>
                  </a:txBody>
                  <a:tcPr marL="50800" marR="508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226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corr(τ, π)</a:t>
                      </a:r>
                      <a:endParaRPr lang="en-US" sz="1000" dirty="0">
                        <a:latin typeface="Calibri" charset="0"/>
                        <a:ea typeface="Calibri" charset="0"/>
                        <a:cs typeface="Calibri" charset="0"/>
                      </a:endParaRPr>
                    </a:p>
                  </a:txBody>
                  <a:tcPr marL="50800" marR="508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226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Uplift gain per 1,000</a:t>
                      </a:r>
                      <a:endParaRPr lang="en-US" sz="1000" dirty="0">
                        <a:latin typeface="Calibri" charset="0"/>
                        <a:ea typeface="Calibri" charset="0"/>
                        <a:cs typeface="Calibri" charset="0"/>
                      </a:endParaRPr>
                    </a:p>
                  </a:txBody>
                  <a:tcPr marL="50800" marR="508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2263A"/>
                    </a:solidFill>
                  </a:tcPr>
                </a:tc>
              </a:tr>
              <a:tr h="347472">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Criteo · advertising</a:t>
                      </a:r>
                      <a:endParaRPr lang="en-US" sz="1000" dirty="0">
                        <a:latin typeface="Calibri" charset="0"/>
                        <a:ea typeface="Calibri" charset="0"/>
                        <a:cs typeface="Calibri" charset="0"/>
                      </a:endParaRPr>
                    </a:p>
                  </a:txBody>
                  <a:tcPr marL="50800" marR="508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733"/>
                          </a:solidFill>
                          <a:latin typeface="Calibri" pitchFamily="34" charset="0"/>
                          <a:ea typeface="Calibri" pitchFamily="34" charset="-122"/>
                          <a:cs typeface="Calibri" pitchFamily="34" charset="-120"/>
                        </a:rPr>
                        <a:t>+0.58 [+0.51, +0.65]</a:t>
                      </a:r>
                      <a:endParaRPr lang="en-US" sz="1000" dirty="0">
                        <a:latin typeface="Calibri" charset="0"/>
                        <a:ea typeface="Calibri" charset="0"/>
                        <a:cs typeface="Calibri" charset="0"/>
                      </a:endParaRPr>
                    </a:p>
                  </a:txBody>
                  <a:tcPr marL="50800" marR="508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733"/>
                          </a:solidFill>
                          <a:latin typeface="Calibri" pitchFamily="34" charset="0"/>
                          <a:ea typeface="Calibri" pitchFamily="34" charset="-122"/>
                          <a:cs typeface="Calibri" pitchFamily="34" charset="-120"/>
                        </a:rPr>
                        <a:t>+0.1 [−0.1, +0.3]</a:t>
                      </a:r>
                      <a:endParaRPr lang="en-US" sz="1000" dirty="0">
                        <a:latin typeface="Calibri" charset="0"/>
                        <a:ea typeface="Calibri" charset="0"/>
                        <a:cs typeface="Calibri" charset="0"/>
                      </a:endParaRPr>
                    </a:p>
                  </a:txBody>
                  <a:tcPr marL="50800" marR="508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Hillstrom · men's e-mail</a:t>
                      </a:r>
                      <a:endParaRPr lang="en-US" sz="1000" dirty="0">
                        <a:latin typeface="Calibri" charset="0"/>
                        <a:ea typeface="Calibri" charset="0"/>
                        <a:cs typeface="Calibri" charset="0"/>
                      </a:endParaRPr>
                    </a:p>
                  </a:txBody>
                  <a:tcPr marL="50800" marR="508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c>
                  <a:txBody>
                    <a:bodyPr/>
                    <a:lstStyle/>
                    <a:p>
                      <a:pPr algn="ctr" indent="0" marL="0">
                        <a:buNone/>
                      </a:pPr>
                      <a:r>
                        <a:rPr lang="en-US" sz="1000" dirty="0">
                          <a:solidFill>
                            <a:srgbClr val="1B2733"/>
                          </a:solidFill>
                          <a:latin typeface="Calibri" pitchFamily="34" charset="0"/>
                          <a:ea typeface="Calibri" pitchFamily="34" charset="-122"/>
                          <a:cs typeface="Calibri" pitchFamily="34" charset="-120"/>
                        </a:rPr>
                        <a:t>+0.28 [−0.21, +0.66]</a:t>
                      </a:r>
                      <a:endParaRPr lang="en-US" sz="1000" dirty="0">
                        <a:latin typeface="Calibri" charset="0"/>
                        <a:ea typeface="Calibri" charset="0"/>
                        <a:cs typeface="Calibri" charset="0"/>
                      </a:endParaRPr>
                    </a:p>
                  </a:txBody>
                  <a:tcPr marL="50800" marR="508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c>
                  <a:txBody>
                    <a:bodyPr/>
                    <a:lstStyle/>
                    <a:p>
                      <a:pPr algn="ctr" indent="0" marL="0">
                        <a:buNone/>
                      </a:pPr>
                      <a:r>
                        <a:rPr lang="en-US" sz="1000" dirty="0">
                          <a:solidFill>
                            <a:srgbClr val="1B2733"/>
                          </a:solidFill>
                          <a:latin typeface="Calibri" pitchFamily="34" charset="0"/>
                          <a:ea typeface="Calibri" pitchFamily="34" charset="-122"/>
                          <a:cs typeface="Calibri" pitchFamily="34" charset="-120"/>
                        </a:rPr>
                        <a:t>−0.1 [−3.0, +2.8]</a:t>
                      </a:r>
                      <a:endParaRPr lang="en-US" sz="1000" dirty="0">
                        <a:latin typeface="Calibri" charset="0"/>
                        <a:ea typeface="Calibri" charset="0"/>
                        <a:cs typeface="Calibri" charset="0"/>
                      </a:endParaRPr>
                    </a:p>
                  </a:txBody>
                  <a:tcPr marL="50800" marR="508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r>
              <a:tr h="347472">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Hillstrom · women's e-mail</a:t>
                      </a:r>
                      <a:endParaRPr lang="en-US" sz="1000" dirty="0">
                        <a:latin typeface="Calibri" charset="0"/>
                        <a:ea typeface="Calibri" charset="0"/>
                        <a:cs typeface="Calibri" charset="0"/>
                      </a:endParaRPr>
                    </a:p>
                  </a:txBody>
                  <a:tcPr marL="50800" marR="508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733"/>
                          </a:solidFill>
                          <a:latin typeface="Calibri" pitchFamily="34" charset="0"/>
                          <a:ea typeface="Calibri" pitchFamily="34" charset="-122"/>
                          <a:cs typeface="Calibri" pitchFamily="34" charset="-120"/>
                        </a:rPr>
                        <a:t>+0.18 [−0.07, +0.49]</a:t>
                      </a:r>
                      <a:endParaRPr lang="en-US" sz="1000" dirty="0">
                        <a:latin typeface="Calibri" charset="0"/>
                        <a:ea typeface="Calibri" charset="0"/>
                        <a:cs typeface="Calibri" charset="0"/>
                      </a:endParaRPr>
                    </a:p>
                  </a:txBody>
                  <a:tcPr marL="50800" marR="508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733"/>
                          </a:solidFill>
                          <a:latin typeface="Calibri" pitchFamily="34" charset="0"/>
                          <a:ea typeface="Calibri" pitchFamily="34" charset="-122"/>
                          <a:cs typeface="Calibri" pitchFamily="34" charset="-120"/>
                        </a:rPr>
                        <a:t>+2.6 [−1.9, +6.2]</a:t>
                      </a:r>
                      <a:endParaRPr lang="en-US" sz="1000" dirty="0">
                        <a:latin typeface="Calibri" charset="0"/>
                        <a:ea typeface="Calibri" charset="0"/>
                        <a:cs typeface="Calibri" charset="0"/>
                      </a:endParaRPr>
                    </a:p>
                  </a:txBody>
                  <a:tcPr marL="50800" marR="508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Lenta · retail promotion</a:t>
                      </a:r>
                      <a:endParaRPr lang="en-US" sz="1000" dirty="0">
                        <a:latin typeface="Calibri" charset="0"/>
                        <a:ea typeface="Calibri" charset="0"/>
                        <a:cs typeface="Calibri" charset="0"/>
                      </a:endParaRPr>
                    </a:p>
                  </a:txBody>
                  <a:tcPr marL="50800" marR="508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c>
                  <a:txBody>
                    <a:bodyPr/>
                    <a:lstStyle/>
                    <a:p>
                      <a:pPr algn="ctr" indent="0" marL="0">
                        <a:buNone/>
                      </a:pPr>
                      <a:r>
                        <a:rPr lang="en-US" sz="1000" dirty="0">
                          <a:solidFill>
                            <a:srgbClr val="1B2733"/>
                          </a:solidFill>
                          <a:latin typeface="Calibri" pitchFamily="34" charset="0"/>
                          <a:ea typeface="Calibri" pitchFamily="34" charset="-122"/>
                          <a:cs typeface="Calibri" pitchFamily="34" charset="-120"/>
                        </a:rPr>
                        <a:t>+0.13 [+0.05, +0.22]</a:t>
                      </a:r>
                      <a:endParaRPr lang="en-US" sz="1000" dirty="0">
                        <a:latin typeface="Calibri" charset="0"/>
                        <a:ea typeface="Calibri" charset="0"/>
                        <a:cs typeface="Calibri" charset="0"/>
                      </a:endParaRPr>
                    </a:p>
                  </a:txBody>
                  <a:tcPr marL="50800" marR="508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c>
                  <a:txBody>
                    <a:bodyPr/>
                    <a:lstStyle/>
                    <a:p>
                      <a:pPr algn="ctr" indent="0" marL="0">
                        <a:buNone/>
                      </a:pPr>
                      <a:r>
                        <a:rPr lang="en-US" sz="1000" dirty="0">
                          <a:solidFill>
                            <a:srgbClr val="1B2733"/>
                          </a:solidFill>
                          <a:latin typeface="Calibri" pitchFamily="34" charset="0"/>
                          <a:ea typeface="Calibri" pitchFamily="34" charset="-122"/>
                          <a:cs typeface="Calibri" pitchFamily="34" charset="-120"/>
                        </a:rPr>
                        <a:t>+0.6 [−0.1, +1.5]</a:t>
                      </a:r>
                      <a:endParaRPr lang="en-US" sz="1000" dirty="0">
                        <a:latin typeface="Calibri" charset="0"/>
                        <a:ea typeface="Calibri" charset="0"/>
                        <a:cs typeface="Calibri" charset="0"/>
                      </a:endParaRPr>
                    </a:p>
                  </a:txBody>
                  <a:tcPr marL="50800" marR="508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r>
              <a:tr h="347472">
                <a:tc>
                  <a:txBody>
                    <a:bodyPr/>
                    <a:lstStyle/>
                    <a:p>
                      <a:pPr indent="0" marL="0">
                        <a:buNone/>
                      </a:pPr>
                      <a:r>
                        <a:rPr lang="en-US" sz="1000" i="1" dirty="0">
                          <a:solidFill>
                            <a:srgbClr val="1B2733"/>
                          </a:solidFill>
                          <a:latin typeface="Calibri" pitchFamily="34" charset="0"/>
                          <a:ea typeface="Calibri" pitchFamily="34" charset="-122"/>
                          <a:cs typeface="Calibri" pitchFamily="34" charset="-120"/>
                        </a:rPr>
                        <a:t>SubSim · simulated trial*</a:t>
                      </a:r>
                      <a:endParaRPr lang="en-US" sz="1000" dirty="0">
                        <a:latin typeface="Calibri" charset="0"/>
                        <a:ea typeface="Calibri" charset="0"/>
                        <a:cs typeface="Calibri" charset="0"/>
                      </a:endParaRPr>
                    </a:p>
                  </a:txBody>
                  <a:tcPr marL="50800" marR="508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1000" i="1" dirty="0">
                          <a:solidFill>
                            <a:srgbClr val="1B2733"/>
                          </a:solidFill>
                          <a:latin typeface="Calibri" pitchFamily="34" charset="0"/>
                          <a:ea typeface="Calibri" pitchFamily="34" charset="-122"/>
                          <a:cs typeface="Calibri" pitchFamily="34" charset="-120"/>
                        </a:rPr>
                        <a:t>−0.21 [−0.33, −0.07]</a:t>
                      </a:r>
                      <a:endParaRPr lang="en-US" sz="1000" dirty="0">
                        <a:latin typeface="Calibri" charset="0"/>
                        <a:ea typeface="Calibri" charset="0"/>
                        <a:cs typeface="Calibri" charset="0"/>
                      </a:endParaRPr>
                    </a:p>
                  </a:txBody>
                  <a:tcPr marL="50800" marR="508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1000" b="1" i="1" dirty="0">
                          <a:solidFill>
                            <a:srgbClr val="0B7A6B"/>
                          </a:solidFill>
                          <a:latin typeface="Calibri" pitchFamily="34" charset="0"/>
                          <a:ea typeface="Calibri" pitchFamily="34" charset="-122"/>
                          <a:cs typeface="Calibri" pitchFamily="34" charset="-120"/>
                        </a:rPr>
                        <a:t>+9.7 [+5.0, +14.4]</a:t>
                      </a:r>
                      <a:endParaRPr lang="en-US" sz="1000" dirty="0">
                        <a:latin typeface="Calibri" charset="0"/>
                        <a:ea typeface="Calibri" charset="0"/>
                        <a:cs typeface="Calibri" charset="0"/>
                      </a:endParaRPr>
                    </a:p>
                  </a:txBody>
                  <a:tcPr marL="50800" marR="50800" marT="25400" marB="2540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bl>
          </a:graphicData>
        </a:graphic>
      </p:graphicFrame>
      <p:sp>
        <p:nvSpPr>
          <p:cNvPr id="28" name="Text 25"/>
          <p:cNvSpPr txBox="1"/>
          <p:nvPr/>
        </p:nvSpPr>
        <p:spPr>
          <a:xfrm>
            <a:off x="6903720" y="4069080"/>
            <a:ext cx="4754880" cy="868680"/>
          </a:xfrm>
          <a:prstGeom prst="rect">
            <a:avLst/>
          </a:prstGeom>
          <a:noFill/>
          <a:ln/>
        </p:spPr>
        <p:txBody>
          <a:bodyPr wrap="square" lIns="0" tIns="0" rIns="0" bIns="0" rtlCol="0" anchor="t"/>
          <a:lstStyle/>
          <a:p>
            <a:pPr indent="0" marL="0">
              <a:buNone/>
            </a:pPr>
            <a:r>
              <a:rPr lang="en-US" sz="1050" dirty="0">
                <a:solidFill>
                  <a:srgbClr val="5F6F80"/>
                </a:solidFill>
                <a:latin typeface="Calibri" pitchFamily="34" charset="0"/>
                <a:ea typeface="Calibri" pitchFamily="34" charset="-122"/>
                <a:cs typeface="Calibri" pitchFamily="34" charset="-120"/>
              </a:rPr>
              <a:t>Fitted models; mean of 30 splits [2.5th–97.5th percentile]. Rows 1–4 are public experiments: no gain is clear of zero and they cannot be ordered. On the log-odds scale their correlations are −0.46 to +0.06. * 60,000 simulated customers; the negative correlation is configured.</a:t>
            </a:r>
            <a:endParaRPr lang="en-US" sz="1050" dirty="0"/>
          </a:p>
        </p:txBody>
      </p:sp>
      <p:sp>
        <p:nvSpPr>
          <p:cNvPr id="29" name="Shape 26"/>
          <p:cNvSpPr/>
          <p:nvPr/>
        </p:nvSpPr>
        <p:spPr>
          <a:xfrm>
            <a:off x="548640" y="5102352"/>
            <a:ext cx="2651760" cy="1252728"/>
          </a:xfrm>
          <a:prstGeom prst="roundRect">
            <a:avLst>
              <a:gd name="adj" fmla="val 5839"/>
            </a:avLst>
          </a:prstGeom>
          <a:solidFill>
            <a:srgbClr val="F2F5F8"/>
          </a:solidFill>
          <a:ln/>
        </p:spPr>
      </p:sp>
      <p:sp>
        <p:nvSpPr>
          <p:cNvPr id="30" name="Text 27"/>
          <p:cNvSpPr txBox="1"/>
          <p:nvPr/>
        </p:nvSpPr>
        <p:spPr>
          <a:xfrm>
            <a:off x="731520" y="5175504"/>
            <a:ext cx="2331720" cy="457200"/>
          </a:xfrm>
          <a:prstGeom prst="rect">
            <a:avLst/>
          </a:prstGeom>
          <a:noFill/>
          <a:ln/>
        </p:spPr>
        <p:txBody>
          <a:bodyPr wrap="square" lIns="0" tIns="0" rIns="0" bIns="0" rtlCol="0" anchor="ctr"/>
          <a:lstStyle/>
          <a:p>
            <a:pPr indent="0" marL="0">
              <a:buNone/>
            </a:pPr>
            <a:r>
              <a:rPr lang="en-US" sz="2600" b="1" dirty="0">
                <a:solidFill>
                  <a:srgbClr val="12263A"/>
                </a:solidFill>
                <a:latin typeface="Cambria" pitchFamily="34" charset="0"/>
                <a:ea typeface="Cambria" pitchFamily="34" charset="-122"/>
                <a:cs typeface="Cambria" pitchFamily="34" charset="-120"/>
              </a:rPr>
              <a:t>72.5%</a:t>
            </a:r>
            <a:endParaRPr lang="en-US" sz="2600" dirty="0"/>
          </a:p>
        </p:txBody>
      </p:sp>
      <p:sp>
        <p:nvSpPr>
          <p:cNvPr id="31" name="Text 28"/>
          <p:cNvSpPr txBox="1"/>
          <p:nvPr/>
        </p:nvSpPr>
        <p:spPr>
          <a:xfrm>
            <a:off x="731520" y="5650992"/>
            <a:ext cx="2331720" cy="676656"/>
          </a:xfrm>
          <a:prstGeom prst="rect">
            <a:avLst/>
          </a:prstGeom>
          <a:noFill/>
          <a:ln/>
        </p:spPr>
        <p:txBody>
          <a:bodyPr wrap="square" lIns="0" tIns="0" rIns="0" bIns="0" rtlCol="0" anchor="t"/>
          <a:lstStyle/>
          <a:p>
            <a:pPr indent="0" marL="0">
              <a:buNone/>
            </a:pPr>
            <a:r>
              <a:rPr lang="en-US" sz="1050" dirty="0">
                <a:solidFill>
                  <a:srgbClr val="1B2733"/>
                </a:solidFill>
                <a:latin typeface="Calibri" pitchFamily="34" charset="0"/>
                <a:ea typeface="Calibri" pitchFamily="34" charset="-122"/>
                <a:cs typeface="Calibri" pitchFamily="34" charset="-120"/>
              </a:rPr>
              <a:t>of 200 draws where the best method beats random at n = 500 (real Hillstrom RCT; 95% interval 66–79%)</a:t>
            </a:r>
            <a:endParaRPr lang="en-US" sz="1050" dirty="0"/>
          </a:p>
        </p:txBody>
      </p:sp>
      <p:sp>
        <p:nvSpPr>
          <p:cNvPr id="32" name="Shape 29"/>
          <p:cNvSpPr/>
          <p:nvPr/>
        </p:nvSpPr>
        <p:spPr>
          <a:xfrm>
            <a:off x="3364992" y="5102352"/>
            <a:ext cx="2651760" cy="1252728"/>
          </a:xfrm>
          <a:prstGeom prst="roundRect">
            <a:avLst>
              <a:gd name="adj" fmla="val 5839"/>
            </a:avLst>
          </a:prstGeom>
          <a:solidFill>
            <a:srgbClr val="F2F5F8"/>
          </a:solidFill>
          <a:ln/>
        </p:spPr>
      </p:sp>
      <p:sp>
        <p:nvSpPr>
          <p:cNvPr id="33" name="Text 30"/>
          <p:cNvSpPr txBox="1"/>
          <p:nvPr/>
        </p:nvSpPr>
        <p:spPr>
          <a:xfrm>
            <a:off x="3547872" y="5175504"/>
            <a:ext cx="2331720" cy="457200"/>
          </a:xfrm>
          <a:prstGeom prst="rect">
            <a:avLst/>
          </a:prstGeom>
          <a:noFill/>
          <a:ln/>
        </p:spPr>
        <p:txBody>
          <a:bodyPr wrap="square" lIns="0" tIns="0" rIns="0" bIns="0" rtlCol="0" anchor="ctr"/>
          <a:lstStyle/>
          <a:p>
            <a:pPr indent="0" marL="0">
              <a:buNone/>
            </a:pPr>
            <a:r>
              <a:rPr lang="en-US" sz="2600" b="1" dirty="0">
                <a:solidFill>
                  <a:srgbClr val="12263A"/>
                </a:solidFill>
                <a:latin typeface="Cambria" pitchFamily="34" charset="0"/>
                <a:ea typeface="Cambria" pitchFamily="34" charset="-122"/>
                <a:cs typeface="Cambria" pitchFamily="34" charset="-120"/>
              </a:rPr>
              <a:t>93%</a:t>
            </a:r>
            <a:endParaRPr lang="en-US" sz="2600" dirty="0"/>
          </a:p>
        </p:txBody>
      </p:sp>
      <p:sp>
        <p:nvSpPr>
          <p:cNvPr id="34" name="Text 31"/>
          <p:cNvSpPr txBox="1"/>
          <p:nvPr/>
        </p:nvSpPr>
        <p:spPr>
          <a:xfrm>
            <a:off x="3547872" y="5650992"/>
            <a:ext cx="2331720" cy="676656"/>
          </a:xfrm>
          <a:prstGeom prst="rect">
            <a:avLst/>
          </a:prstGeom>
          <a:noFill/>
          <a:ln/>
        </p:spPr>
        <p:txBody>
          <a:bodyPr wrap="square" lIns="0" tIns="0" rIns="0" bIns="0" rtlCol="0" anchor="t"/>
          <a:lstStyle/>
          <a:p>
            <a:pPr indent="0" marL="0">
              <a:buNone/>
            </a:pPr>
            <a:r>
              <a:rPr lang="en-US" sz="1050" dirty="0">
                <a:solidFill>
                  <a:srgbClr val="1B2733"/>
                </a:solidFill>
                <a:latin typeface="Calibri" pitchFamily="34" charset="0"/>
                <a:ea typeface="Calibri" pitchFamily="34" charset="-122"/>
                <a:cs typeface="Calibri" pitchFamily="34" charset="-120"/>
              </a:rPr>
              <a:t>of draws where abstaining beats risk ranking; ahead of Lemmens &amp; Gupta's rule only from n ≈ 1,000; never beats doing nothing</a:t>
            </a:r>
            <a:endParaRPr lang="en-US" sz="1050" dirty="0"/>
          </a:p>
        </p:txBody>
      </p:sp>
      <p:sp>
        <p:nvSpPr>
          <p:cNvPr id="35" name="Shape 32"/>
          <p:cNvSpPr/>
          <p:nvPr/>
        </p:nvSpPr>
        <p:spPr>
          <a:xfrm>
            <a:off x="6181344" y="5102352"/>
            <a:ext cx="2651760" cy="1252728"/>
          </a:xfrm>
          <a:prstGeom prst="roundRect">
            <a:avLst>
              <a:gd name="adj" fmla="val 5839"/>
            </a:avLst>
          </a:prstGeom>
          <a:solidFill>
            <a:srgbClr val="F2F5F8"/>
          </a:solidFill>
          <a:ln/>
        </p:spPr>
      </p:sp>
      <p:sp>
        <p:nvSpPr>
          <p:cNvPr id="36" name="Text 33"/>
          <p:cNvSpPr txBox="1"/>
          <p:nvPr/>
        </p:nvSpPr>
        <p:spPr>
          <a:xfrm>
            <a:off x="6364224" y="5175504"/>
            <a:ext cx="2331720" cy="457200"/>
          </a:xfrm>
          <a:prstGeom prst="rect">
            <a:avLst/>
          </a:prstGeom>
          <a:noFill/>
          <a:ln/>
        </p:spPr>
        <p:txBody>
          <a:bodyPr wrap="square" lIns="0" tIns="0" rIns="0" bIns="0" rtlCol="0" anchor="ctr"/>
          <a:lstStyle/>
          <a:p>
            <a:pPr indent="0" marL="0">
              <a:buNone/>
            </a:pPr>
            <a:r>
              <a:rPr lang="en-US" sz="2600" b="1" dirty="0">
                <a:solidFill>
                  <a:srgbClr val="12263A"/>
                </a:solidFill>
                <a:latin typeface="Cambria" pitchFamily="34" charset="0"/>
                <a:ea typeface="Cambria" pitchFamily="34" charset="-122"/>
                <a:cs typeface="Cambria" pitchFamily="34" charset="-120"/>
              </a:rPr>
              <a:t>58%</a:t>
            </a:r>
            <a:endParaRPr lang="en-US" sz="2600" dirty="0"/>
          </a:p>
        </p:txBody>
      </p:sp>
      <p:sp>
        <p:nvSpPr>
          <p:cNvPr id="37" name="Text 34"/>
          <p:cNvSpPr txBox="1"/>
          <p:nvPr/>
        </p:nvSpPr>
        <p:spPr>
          <a:xfrm>
            <a:off x="6364224" y="5650992"/>
            <a:ext cx="2331720" cy="676656"/>
          </a:xfrm>
          <a:prstGeom prst="rect">
            <a:avLst/>
          </a:prstGeom>
          <a:noFill/>
          <a:ln/>
        </p:spPr>
        <p:txBody>
          <a:bodyPr wrap="square" lIns="0" tIns="0" rIns="0" bIns="0" rtlCol="0" anchor="t"/>
          <a:lstStyle/>
          <a:p>
            <a:pPr indent="0" marL="0">
              <a:buNone/>
            </a:pPr>
            <a:r>
              <a:rPr lang="en-US" sz="1050" dirty="0">
                <a:solidFill>
                  <a:srgbClr val="1B2733"/>
                </a:solidFill>
                <a:latin typeface="Calibri" pitchFamily="34" charset="0"/>
                <a:ea typeface="Calibri" pitchFamily="34" charset="-122"/>
                <a:cs typeface="Calibri" pitchFamily="34" charset="-120"/>
              </a:rPr>
              <a:t>per-customer offer choice vs one well-chosen offer: CI 42–72%, not distinguishable from chance</a:t>
            </a:r>
            <a:endParaRPr lang="en-US" sz="1050" dirty="0"/>
          </a:p>
        </p:txBody>
      </p:sp>
      <p:sp>
        <p:nvSpPr>
          <p:cNvPr id="38" name="Shape 35"/>
          <p:cNvSpPr/>
          <p:nvPr/>
        </p:nvSpPr>
        <p:spPr>
          <a:xfrm>
            <a:off x="8997696" y="5102352"/>
            <a:ext cx="2651760" cy="1252728"/>
          </a:xfrm>
          <a:prstGeom prst="roundRect">
            <a:avLst>
              <a:gd name="adj" fmla="val 5839"/>
            </a:avLst>
          </a:prstGeom>
          <a:solidFill>
            <a:srgbClr val="FBE2D8"/>
          </a:solidFill>
          <a:ln/>
        </p:spPr>
      </p:sp>
      <p:sp>
        <p:nvSpPr>
          <p:cNvPr id="39" name="Text 36"/>
          <p:cNvSpPr txBox="1"/>
          <p:nvPr/>
        </p:nvSpPr>
        <p:spPr>
          <a:xfrm>
            <a:off x="9180576" y="5175504"/>
            <a:ext cx="2331720" cy="457200"/>
          </a:xfrm>
          <a:prstGeom prst="rect">
            <a:avLst/>
          </a:prstGeom>
          <a:noFill/>
          <a:ln/>
        </p:spPr>
        <p:txBody>
          <a:bodyPr wrap="square" lIns="0" tIns="0" rIns="0" bIns="0" rtlCol="0" anchor="ctr"/>
          <a:lstStyle/>
          <a:p>
            <a:pPr indent="0" marL="0">
              <a:buNone/>
            </a:pPr>
            <a:r>
              <a:rPr lang="en-US" sz="2600" b="1" dirty="0">
                <a:solidFill>
                  <a:srgbClr val="D9480F"/>
                </a:solidFill>
                <a:latin typeface="Cambria" pitchFamily="34" charset="0"/>
                <a:ea typeface="Cambria" pitchFamily="34" charset="-122"/>
                <a:cs typeface="Cambria" pitchFamily="34" charset="-120"/>
              </a:rPr>
              <a:t>≈119,500</a:t>
            </a:r>
            <a:endParaRPr lang="en-US" sz="2600" dirty="0"/>
          </a:p>
        </p:txBody>
      </p:sp>
      <p:sp>
        <p:nvSpPr>
          <p:cNvPr id="40" name="Text 37"/>
          <p:cNvSpPr txBox="1"/>
          <p:nvPr/>
        </p:nvSpPr>
        <p:spPr>
          <a:xfrm>
            <a:off x="9180576" y="5650992"/>
            <a:ext cx="2331720" cy="676656"/>
          </a:xfrm>
          <a:prstGeom prst="rect">
            <a:avLst/>
          </a:prstGeom>
          <a:noFill/>
          <a:ln/>
        </p:spPr>
        <p:txBody>
          <a:bodyPr wrap="square" lIns="0" tIns="0" rIns="0" bIns="0" rtlCol="0" anchor="t"/>
          <a:lstStyle/>
          <a:p>
            <a:pPr indent="0" marL="0">
              <a:buNone/>
            </a:pPr>
            <a:r>
              <a:rPr lang="en-US" sz="1050" dirty="0">
                <a:solidFill>
                  <a:srgbClr val="1B2733"/>
                </a:solidFill>
                <a:latin typeface="Calibri" pitchFamily="34" charset="0"/>
                <a:ea typeface="Calibri" pitchFamily="34" charset="-122"/>
                <a:cs typeface="Calibri" pitchFamily="34" charset="-120"/>
              </a:rPr>
              <a:t>customers needed to detect the delivered 1.1-point retention lift with a 10% holdout</a:t>
            </a:r>
            <a:endParaRPr lang="en-US" sz="1050" dirty="0"/>
          </a:p>
        </p:txBody>
      </p:sp>
      <p:sp>
        <p:nvSpPr>
          <p:cNvPr id="41" name="Text 38"/>
          <p:cNvSpPr txBox="1"/>
          <p:nvPr/>
        </p:nvSpPr>
        <p:spPr>
          <a:xfrm>
            <a:off x="548640" y="6492240"/>
            <a:ext cx="8686800" cy="228600"/>
          </a:xfrm>
          <a:prstGeom prst="rect">
            <a:avLst/>
          </a:prstGeom>
          <a:noFill/>
          <a:ln/>
        </p:spPr>
        <p:txBody>
          <a:bodyPr wrap="square" lIns="0" tIns="0" rIns="0" bIns="0" rtlCol="0" anchor="t"/>
          <a:lstStyle/>
          <a:p>
            <a:pPr indent="0" marL="0">
              <a:buNone/>
            </a:pPr>
            <a:r>
              <a:rPr lang="en-US" sz="900" dirty="0">
                <a:solidFill>
                  <a:srgbClr val="8A97A6"/>
                </a:solidFill>
                <a:latin typeface="Calibri" pitchFamily="34" charset="0"/>
                <a:ea typeface="Calibri" pitchFamily="34" charset="-122"/>
                <a:cs typeface="Calibri" pitchFamily="34" charset="-120"/>
              </a:rPr>
              <a:t>RetainIQ  ·  Prasham Jain (2427030155)  ·  Mentor: Dr. Rishi Gupta  ·  Manipal University Jaipur</a:t>
            </a:r>
            <a:endParaRPr lang="en-US" sz="900" dirty="0"/>
          </a:p>
        </p:txBody>
      </p:sp>
      <p:sp>
        <p:nvSpPr>
          <p:cNvPr id="42" name="Text 39"/>
          <p:cNvSpPr txBox="1"/>
          <p:nvPr/>
        </p:nvSpPr>
        <p:spPr>
          <a:xfrm>
            <a:off x="10725912" y="6492240"/>
            <a:ext cx="914400" cy="228600"/>
          </a:xfrm>
          <a:prstGeom prst="rect">
            <a:avLst/>
          </a:prstGeom>
          <a:noFill/>
          <a:ln/>
        </p:spPr>
        <p:txBody>
          <a:bodyPr wrap="square" lIns="0" tIns="0" rIns="0" bIns="0" rtlCol="0" anchor="t"/>
          <a:lstStyle/>
          <a:p>
            <a:pPr algn="r" indent="0" marL="0">
              <a:buNone/>
            </a:pPr>
            <a:r>
              <a:rPr lang="en-US" sz="900" dirty="0">
                <a:solidFill>
                  <a:srgbClr val="8A97A6"/>
                </a:solidFill>
                <a:latin typeface="Calibri" pitchFamily="34" charset="0"/>
                <a:ea typeface="Calibri" pitchFamily="34" charset="-122"/>
                <a:cs typeface="Calibri" pitchFamily="34" charset="-120"/>
              </a:rPr>
              <a:t>6 / 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274320"/>
          </a:xfrm>
          <a:prstGeom prst="rect">
            <a:avLst/>
          </a:prstGeom>
          <a:noFill/>
          <a:ln/>
        </p:spPr>
        <p:txBody>
          <a:bodyPr wrap="square" lIns="0" tIns="0" rIns="0" bIns="0" rtlCol="0" anchor="t"/>
          <a:lstStyle/>
          <a:p>
            <a:pPr indent="0" marL="0">
              <a:buNone/>
            </a:pPr>
            <a:r>
              <a:rPr lang="en-US" sz="1100" b="1" spc="200" kern="0" dirty="0">
                <a:solidFill>
                  <a:srgbClr val="0F9D8A"/>
                </a:solidFill>
                <a:latin typeface="Calibri" pitchFamily="34" charset="0"/>
                <a:ea typeface="Calibri" pitchFamily="34" charset="-122"/>
                <a:cs typeface="Calibri" pitchFamily="34" charset="-120"/>
              </a:rPr>
              <a:t>06  ·  WORKING SYSTEM</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ctr"/>
          <a:lstStyle/>
          <a:p>
            <a:pPr indent="0" marL="0">
              <a:buNone/>
            </a:pPr>
            <a:r>
              <a:rPr lang="en-US" sz="3000" b="1" dirty="0">
                <a:solidFill>
                  <a:srgbClr val="12263A"/>
                </a:solidFill>
                <a:latin typeface="Cambria" pitchFamily="34" charset="0"/>
                <a:ea typeface="Cambria" pitchFamily="34" charset="-122"/>
                <a:cs typeface="Cambria" pitchFamily="34" charset="-120"/>
              </a:rPr>
              <a:t>Evidence: the system runs end to end</a:t>
            </a:r>
            <a:endParaRPr lang="en-US" sz="3000" dirty="0"/>
          </a:p>
        </p:txBody>
      </p:sp>
      <p:pic>
        <p:nvPicPr>
          <p:cNvPr id="4" name="Image 0" descr="/Users/prasham/Desktop/pbl-proj/presentation/build/assets/dash_top.png">    </p:cNvPr>
          <p:cNvPicPr>
            <a:picLocks noChangeAspect="1"/>
          </p:cNvPicPr>
          <p:nvPr/>
        </p:nvPicPr>
        <p:blipFill>
          <a:blip r:embed="rId1"/>
          <a:stretch>
            <a:fillRect/>
          </a:stretch>
        </p:blipFill>
        <p:spPr>
          <a:xfrm>
            <a:off x="548640" y="1325880"/>
            <a:ext cx="3096618" cy="3154680"/>
          </a:xfrm>
          <a:prstGeom prst="rect">
            <a:avLst/>
          </a:prstGeom>
        </p:spPr>
      </p:pic>
      <p:pic>
        <p:nvPicPr>
          <p:cNvPr id="5" name="Image 1" descr="/Users/prasham/Desktop/pbl-proj/presentation/build/assets/autopsy_top.png">    </p:cNvPr>
          <p:cNvPicPr>
            <a:picLocks noChangeAspect="1"/>
          </p:cNvPicPr>
          <p:nvPr/>
        </p:nvPicPr>
        <p:blipFill>
          <a:blip r:embed="rId2"/>
          <a:stretch>
            <a:fillRect/>
          </a:stretch>
        </p:blipFill>
        <p:spPr>
          <a:xfrm>
            <a:off x="3828138" y="1325880"/>
            <a:ext cx="2728372" cy="3154680"/>
          </a:xfrm>
          <a:prstGeom prst="rect">
            <a:avLst/>
          </a:prstGeom>
        </p:spPr>
      </p:pic>
      <p:sp>
        <p:nvSpPr>
          <p:cNvPr id="6" name="Text 2"/>
          <p:cNvSpPr txBox="1"/>
          <p:nvPr/>
        </p:nvSpPr>
        <p:spPr>
          <a:xfrm>
            <a:off x="548640" y="4572000"/>
            <a:ext cx="3096618" cy="685800"/>
          </a:xfrm>
          <a:prstGeom prst="rect">
            <a:avLst/>
          </a:prstGeom>
          <a:noFill/>
          <a:ln/>
        </p:spPr>
        <p:txBody>
          <a:bodyPr wrap="square" lIns="0" tIns="0" rIns="0" bIns="0" rtlCol="0" anchor="t"/>
          <a:lstStyle/>
          <a:p>
            <a:pPr indent="0" marL="0">
              <a:buNone/>
            </a:pPr>
            <a:r>
              <a:rPr lang="en-US" sz="1050" b="1" dirty="0">
                <a:solidFill>
                  <a:srgbClr val="12263A"/>
                </a:solidFill>
                <a:latin typeface="Calibri" pitchFamily="34" charset="0"/>
                <a:ea typeface="Calibri" pitchFamily="34" charset="-122"/>
                <a:cs typeface="Calibri" pitchFamily="34" charset="-120"/>
              </a:rPr>
              <a:t>Retention dashboard</a:t>
            </a:r>
            <a:endParaRPr lang="en-US" sz="1050" dirty="0"/>
          </a:p>
          <a:p>
            <a:pPr indent="0" marL="0">
              <a:buNone/>
            </a:pPr>
            <a:r>
              <a:rPr lang="en-US" sz="1050" dirty="0">
                <a:solidFill>
                  <a:srgbClr val="5F6F80"/>
                </a:solidFill>
                <a:latin typeface="Calibri" pitchFamily="34" charset="0"/>
                <a:ea typeface="Calibri" pitchFamily="34" charset="-122"/>
                <a:cs typeface="Calibri" pitchFamily="34" charset="-120"/>
              </a:rPr>
              <a:t>make dashboard: contact 142 of 472; the reliability warning always comes first</a:t>
            </a:r>
            <a:endParaRPr lang="en-US" sz="1050" dirty="0"/>
          </a:p>
        </p:txBody>
      </p:sp>
      <p:sp>
        <p:nvSpPr>
          <p:cNvPr id="7" name="Text 3"/>
          <p:cNvSpPr txBox="1"/>
          <p:nvPr/>
        </p:nvSpPr>
        <p:spPr>
          <a:xfrm>
            <a:off x="3828138" y="4572000"/>
            <a:ext cx="2728372" cy="685800"/>
          </a:xfrm>
          <a:prstGeom prst="rect">
            <a:avLst/>
          </a:prstGeom>
          <a:noFill/>
          <a:ln/>
        </p:spPr>
        <p:txBody>
          <a:bodyPr wrap="square" lIns="0" tIns="0" rIns="0" bIns="0" rtlCol="0" anchor="t"/>
          <a:lstStyle/>
          <a:p>
            <a:pPr indent="0" marL="0">
              <a:buNone/>
            </a:pPr>
            <a:r>
              <a:rPr lang="en-US" sz="1050" b="1" dirty="0">
                <a:solidFill>
                  <a:srgbClr val="12263A"/>
                </a:solidFill>
                <a:latin typeface="Calibri" pitchFamily="34" charset="0"/>
                <a:ea typeface="Calibri" pitchFamily="34" charset="-122"/>
                <a:cs typeface="Calibri" pitchFamily="34" charset="-120"/>
              </a:rPr>
              <a:t>Churn Autopsy report</a:t>
            </a:r>
            <a:endParaRPr lang="en-US" sz="1050" dirty="0"/>
          </a:p>
          <a:p>
            <a:pPr indent="0" marL="0">
              <a:buNone/>
            </a:pPr>
            <a:r>
              <a:rPr lang="en-US" sz="1050" dirty="0">
                <a:solidFill>
                  <a:srgbClr val="5F6F80"/>
                </a:solidFill>
                <a:latin typeface="Calibri" pitchFamily="34" charset="0"/>
                <a:ea typeface="Calibri" pitchFamily="34" charset="-122"/>
                <a:cs typeface="Calibri" pitchFamily="34" charset="-120"/>
              </a:rPr>
              <a:t>make sample: losses ranked by money; simulated data is labelled</a:t>
            </a:r>
            <a:endParaRPr lang="en-US" sz="1050" dirty="0"/>
          </a:p>
        </p:txBody>
      </p:sp>
      <p:sp>
        <p:nvSpPr>
          <p:cNvPr id="8" name="Shape 4"/>
          <p:cNvSpPr/>
          <p:nvPr/>
        </p:nvSpPr>
        <p:spPr>
          <a:xfrm>
            <a:off x="6830830" y="1325880"/>
            <a:ext cx="4827770" cy="2240280"/>
          </a:xfrm>
          <a:prstGeom prst="roundRect">
            <a:avLst>
              <a:gd name="adj" fmla="val 3265"/>
            </a:avLst>
          </a:prstGeom>
          <a:solidFill>
            <a:srgbClr val="0E1B29"/>
          </a:solidFill>
          <a:ln/>
        </p:spPr>
      </p:sp>
      <p:sp>
        <p:nvSpPr>
          <p:cNvPr id="9" name="Text 5"/>
          <p:cNvSpPr txBox="1"/>
          <p:nvPr/>
        </p:nvSpPr>
        <p:spPr>
          <a:xfrm>
            <a:off x="7013710" y="1444752"/>
            <a:ext cx="4553450" cy="2057400"/>
          </a:xfrm>
          <a:prstGeom prst="rect">
            <a:avLst/>
          </a:prstGeom>
          <a:noFill/>
          <a:ln/>
        </p:spPr>
        <p:txBody>
          <a:bodyPr wrap="square" lIns="0" tIns="0" rIns="0" bIns="0" rtlCol="0" anchor="t"/>
          <a:lstStyle/>
          <a:p>
            <a:pPr indent="0" marL="0">
              <a:buNone/>
            </a:pPr>
            <a:r>
              <a:rPr lang="en-US" sz="900" dirty="0">
                <a:solidFill>
                  <a:srgbClr val="FFFFFF"/>
                </a:solidFill>
                <a:latin typeface="Courier New" pitchFamily="34" charset="0"/>
                <a:ea typeface="Courier New" pitchFamily="34" charset="-122"/>
                <a:cs typeface="Courier New" pitchFamily="34" charset="-120"/>
              </a:rPr>
              <a:t>$ python -m retainiq.cli preflight \</a:t>
            </a:r>
            <a:endParaRPr lang="en-US" sz="900" dirty="0"/>
          </a:p>
          <a:p>
            <a:pPr indent="0" marL="0">
              <a:buNone/>
            </a:pPr>
            <a:r>
              <a:rPr lang="en-US" sz="900" dirty="0">
                <a:solidFill>
                  <a:srgbClr val="FFFFFF"/>
                </a:solidFill>
                <a:latin typeface="Courier New" pitchFamily="34" charset="0"/>
                <a:ea typeface="Courier New" pitchFamily="34" charset="-122"/>
                <a:cs typeface="Courier New" pitchFamily="34" charset="-120"/>
              </a:rPr>
              <a:t>    --customers customers.csv \</a:t>
            </a:r>
            <a:endParaRPr lang="en-US" sz="900" dirty="0"/>
          </a:p>
          <a:p>
            <a:pPr indent="0" marL="0">
              <a:buNone/>
            </a:pPr>
            <a:r>
              <a:rPr lang="en-US" sz="900" dirty="0">
                <a:solidFill>
                  <a:srgbClr val="FFFFFF"/>
                </a:solidFill>
                <a:latin typeface="Courier New" pitchFamily="34" charset="0"/>
                <a:ea typeface="Courier New" pitchFamily="34" charset="-122"/>
                <a:cs typeface="Courier New" pitchFamily="34" charset="-120"/>
              </a:rPr>
              <a:t>    --subscriptions subscriptions.csv</a:t>
            </a:r>
            <a:endParaRPr lang="en-US" sz="900" dirty="0"/>
          </a:p>
          <a:p>
            <a:pPr indent="0" marL="0">
              <a:buNone/>
            </a:pPr>
            <a:r>
              <a:rPr lang="en-US" sz="900" dirty="0">
                <a:solidFill>
                  <a:srgbClr val="FF8A66"/>
                </a:solidFill>
                <a:latin typeface="Courier New" pitchFamily="34" charset="0"/>
                <a:ea typeface="Courier New" pitchFamily="34" charset="-122"/>
                <a:cs typeface="Courier New" pitchFamily="34" charset="-120"/>
              </a:rPr>
              <a:t>VERDICT: BLOCKED — do not send a report</a:t>
            </a:r>
            <a:endParaRPr lang="en-US" sz="900" dirty="0"/>
          </a:p>
          <a:p>
            <a:pPr indent="0" marL="0">
              <a:buNone/>
            </a:pPr>
            <a:r>
              <a:rPr lang="en-US" sz="900" dirty="0">
                <a:solidFill>
                  <a:srgbClr val="F2A541"/>
                </a:solidFill>
                <a:latin typeface="Courier New" pitchFamily="34" charset="0"/>
                <a:ea typeface="Courier New" pitchFamily="34" charset="-122"/>
                <a:cs typeface="Courier New" pitchFamily="34" charset="-120"/>
              </a:rPr>
              <a:t>[BLOCK] median MRR 15,312, all integers:</a:t>
            </a:r>
            <a:endParaRPr lang="en-US" sz="900" dirty="0"/>
          </a:p>
          <a:p>
            <a:pPr indent="0" marL="0">
              <a:buNone/>
            </a:pPr>
            <a:r>
              <a:rPr lang="en-US" sz="900" dirty="0">
                <a:solidFill>
                  <a:srgbClr val="F2A541"/>
                </a:solidFill>
                <a:latin typeface="Courier New" pitchFamily="34" charset="0"/>
                <a:ea typeface="Courier New" pitchFamily="34" charset="-122"/>
                <a:cs typeface="Courier New" pitchFamily="34" charset="-120"/>
              </a:rPr>
              <a:t>        looks like cents (153.12/month)</a:t>
            </a:r>
            <a:endParaRPr lang="en-US" sz="900" dirty="0"/>
          </a:p>
          <a:p>
            <a:pPr indent="0" marL="0">
              <a:buNone/>
            </a:pPr>
            <a:r>
              <a:rPr lang="en-US" sz="900" dirty="0">
                <a:solidFill>
                  <a:srgbClr val="D6E2EE"/>
                </a:solidFill>
                <a:latin typeface="Courier New" pitchFamily="34" charset="0"/>
                <a:ea typeface="Courier New" pitchFamily="34" charset="-122"/>
                <a:cs typeface="Courier New" pitchFamily="34" charset="-120"/>
              </a:rPr>
              <a:t>-&gt; re-run with --divide-amounts-by 100</a:t>
            </a:r>
            <a:endParaRPr lang="en-US" sz="900" dirty="0"/>
          </a:p>
          <a:p>
            <a:pPr indent="0" marL="0">
              <a:buNone/>
            </a:pPr>
            <a:r>
              <a:rPr lang="en-US" sz="900" dirty="0">
                <a:solidFill>
                  <a:srgbClr val="D6E2EE"/>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rgbClr val="FFFFFF"/>
                </a:solidFill>
                <a:latin typeface="Courier New" pitchFamily="34" charset="0"/>
                <a:ea typeface="Courier New" pitchFamily="34" charset="-122"/>
                <a:cs typeface="Courier New" pitchFamily="34" charset="-120"/>
              </a:rPr>
              <a:t>$ python -m retainiq.cli autopsy ... \</a:t>
            </a:r>
            <a:endParaRPr lang="en-US" sz="900" dirty="0"/>
          </a:p>
          <a:p>
            <a:pPr indent="0" marL="0">
              <a:buNone/>
            </a:pPr>
            <a:r>
              <a:rPr lang="en-US" sz="900" dirty="0">
                <a:solidFill>
                  <a:srgbClr val="FFFFFF"/>
                </a:solidFill>
                <a:latin typeface="Courier New" pitchFamily="34" charset="0"/>
                <a:ea typeface="Courier New" pitchFamily="34" charset="-122"/>
                <a:cs typeface="Courier New" pitchFamily="34" charset="-120"/>
              </a:rPr>
              <a:t>    --divide-amounts-by 100 --worklists</a:t>
            </a:r>
            <a:endParaRPr lang="en-US" sz="900" dirty="0"/>
          </a:p>
          <a:p>
            <a:pPr indent="0" marL="0">
              <a:buNone/>
            </a:pPr>
            <a:r>
              <a:rPr lang="en-US" sz="900" dirty="0">
                <a:solidFill>
                  <a:srgbClr val="43C6B1"/>
                </a:solidFill>
                <a:latin typeface="Courier New" pitchFamily="34" charset="0"/>
                <a:ea typeface="Courier New" pitchFamily="34" charset="-122"/>
                <a:cs typeface="Courier New" pitchFamily="34" charset="-120"/>
              </a:rPr>
              <a:t>VERDICT: READY</a:t>
            </a:r>
            <a:endParaRPr lang="en-US" sz="900" dirty="0"/>
          </a:p>
          <a:p>
            <a:pPr indent="0" marL="0">
              <a:buNone/>
            </a:pPr>
            <a:r>
              <a:rPr lang="en-US" sz="900" dirty="0">
                <a:solidFill>
                  <a:srgbClr val="D6E2EE"/>
                </a:solidFill>
                <a:latin typeface="Courier New" pitchFamily="34" charset="0"/>
                <a:ea typeface="Courier New" pitchFamily="34" charset="-122"/>
                <a:cs typeface="Courier New" pitchFamily="34" charset="-120"/>
              </a:rPr>
              <a:t>wrote report + 2 worklist CSVs</a:t>
            </a:r>
            <a:endParaRPr lang="en-US" sz="900" dirty="0"/>
          </a:p>
        </p:txBody>
      </p:sp>
      <p:sp>
        <p:nvSpPr>
          <p:cNvPr id="10" name="Shape 6"/>
          <p:cNvSpPr/>
          <p:nvPr/>
        </p:nvSpPr>
        <p:spPr>
          <a:xfrm>
            <a:off x="6830830" y="3675888"/>
            <a:ext cx="4827770" cy="1581912"/>
          </a:xfrm>
          <a:prstGeom prst="roundRect">
            <a:avLst>
              <a:gd name="adj" fmla="val 4624"/>
            </a:avLst>
          </a:prstGeom>
          <a:solidFill>
            <a:srgbClr val="F2F5F8"/>
          </a:solidFill>
          <a:ln/>
        </p:spPr>
      </p:sp>
      <p:sp>
        <p:nvSpPr>
          <p:cNvPr id="11" name="Text 7"/>
          <p:cNvSpPr txBox="1"/>
          <p:nvPr/>
        </p:nvSpPr>
        <p:spPr>
          <a:xfrm>
            <a:off x="7013710" y="3749040"/>
            <a:ext cx="4553450" cy="228600"/>
          </a:xfrm>
          <a:prstGeom prst="rect">
            <a:avLst/>
          </a:prstGeom>
          <a:noFill/>
          <a:ln/>
        </p:spPr>
        <p:txBody>
          <a:bodyPr wrap="square" lIns="0" tIns="0" rIns="0" bIns="0" rtlCol="0" anchor="t"/>
          <a:lstStyle/>
          <a:p>
            <a:pPr indent="0" marL="0">
              <a:buNone/>
            </a:pPr>
            <a:r>
              <a:rPr lang="en-US" sz="950" b="1" dirty="0">
                <a:solidFill>
                  <a:srgbClr val="5F6F80"/>
                </a:solidFill>
                <a:latin typeface="Calibri" pitchFamily="34" charset="0"/>
                <a:ea typeface="Calibri" pitchFamily="34" charset="-122"/>
                <a:cs typeface="Calibri" pitchFamily="34" charset="-120"/>
              </a:rPr>
              <a:t>retainiq/policy/economics.py  (simplified)</a:t>
            </a:r>
            <a:endParaRPr lang="en-US" sz="950" dirty="0"/>
          </a:p>
        </p:txBody>
      </p:sp>
      <p:sp>
        <p:nvSpPr>
          <p:cNvPr id="12" name="Text 8"/>
          <p:cNvSpPr txBox="1"/>
          <p:nvPr/>
        </p:nvSpPr>
        <p:spPr>
          <a:xfrm>
            <a:off x="7013710" y="3995928"/>
            <a:ext cx="4599170" cy="777240"/>
          </a:xfrm>
          <a:prstGeom prst="rect">
            <a:avLst/>
          </a:prstGeom>
          <a:noFill/>
          <a:ln/>
        </p:spPr>
        <p:txBody>
          <a:bodyPr wrap="square" lIns="0" tIns="0" rIns="0" bIns="0" rtlCol="0" anchor="t"/>
          <a:lstStyle/>
          <a:p>
            <a:pPr indent="0" marL="0">
              <a:buNone/>
            </a:pPr>
            <a:r>
              <a:rPr lang="en-US" sz="900" dirty="0">
                <a:solidFill>
                  <a:srgbClr val="12263A"/>
                </a:solidFill>
                <a:latin typeface="Courier New" pitchFamily="34" charset="0"/>
                <a:ea typeface="Courier New" pitchFamily="34" charset="-122"/>
                <a:cs typeface="Courier New" pitchFamily="34" charset="-120"/>
              </a:rPr>
              <a:t>def benefit_posterior(model, X, value, cost):</a:t>
            </a:r>
            <a:endParaRPr lang="en-US" sz="900" dirty="0"/>
          </a:p>
          <a:p>
            <a:pPr indent="0" marL="0">
              <a:buNone/>
            </a:pPr>
            <a:r>
              <a:rPr lang="en-US" sz="900" dirty="0">
                <a:solidFill>
                  <a:srgbClr val="1B2733"/>
                </a:solidFill>
                <a:latin typeface="Courier New" pitchFamily="34" charset="0"/>
                <a:ea typeface="Courier New" pitchFamily="34" charset="-122"/>
                <a:cs typeface="Courier New" pitchFamily="34" charset="-120"/>
              </a:rPr>
              <a:t>    eta0, tau = model.joint_samples(X)  # log-odds</a:t>
            </a:r>
            <a:endParaRPr lang="en-US" sz="900" dirty="0"/>
          </a:p>
          <a:p>
            <a:pPr indent="0" marL="0">
              <a:buNone/>
            </a:pPr>
            <a:r>
              <a:rPr lang="en-US" sz="900" dirty="0">
                <a:solidFill>
                  <a:srgbClr val="1B2733"/>
                </a:solidFill>
                <a:latin typeface="Courier New" pitchFamily="34" charset="0"/>
                <a:ea typeface="Courier New" pitchFamily="34" charset="-122"/>
                <a:cs typeface="Courier New" pitchFamily="34" charset="-120"/>
              </a:rPr>
              <a:t>    dp = expit(eta0 + tau) - expit(eta0)  # prob.</a:t>
            </a:r>
            <a:endParaRPr lang="en-US" sz="900" dirty="0"/>
          </a:p>
          <a:p>
            <a:pPr indent="0" marL="0">
              <a:buNone/>
            </a:pPr>
            <a:r>
              <a:rPr lang="en-US" sz="900" dirty="0">
                <a:solidFill>
                  <a:srgbClr val="1B2733"/>
                </a:solidFill>
                <a:latin typeface="Courier New" pitchFamily="34" charset="0"/>
                <a:ea typeface="Courier New" pitchFamily="34" charset="-122"/>
                <a:cs typeface="Courier New" pitchFamily="34" charset="-120"/>
              </a:rPr>
              <a:t>    benefit = -dp * value - cost  # money</a:t>
            </a:r>
            <a:endParaRPr lang="en-US" sz="900" dirty="0"/>
          </a:p>
          <a:p>
            <a:pPr indent="0" marL="0">
              <a:buNone/>
            </a:pPr>
            <a:r>
              <a:rPr lang="en-US" sz="900" dirty="0">
                <a:solidFill>
                  <a:srgbClr val="1B2733"/>
                </a:solidFill>
                <a:latin typeface="Courier New" pitchFamily="34" charset="0"/>
                <a:ea typeface="Courier New" pitchFamily="34" charset="-122"/>
                <a:cs typeface="Courier New" pitchFamily="34" charset="-120"/>
              </a:rPr>
              <a:t>    return MoneyPosterior(benefit, dp)</a:t>
            </a:r>
            <a:endParaRPr lang="en-US" sz="900" dirty="0"/>
          </a:p>
        </p:txBody>
      </p:sp>
      <p:sp>
        <p:nvSpPr>
          <p:cNvPr id="13" name="Text 9"/>
          <p:cNvSpPr txBox="1"/>
          <p:nvPr/>
        </p:nvSpPr>
        <p:spPr>
          <a:xfrm>
            <a:off x="7013710" y="4773168"/>
            <a:ext cx="4507730" cy="457200"/>
          </a:xfrm>
          <a:prstGeom prst="rect">
            <a:avLst/>
          </a:prstGeom>
          <a:noFill/>
          <a:ln/>
        </p:spPr>
        <p:txBody>
          <a:bodyPr wrap="square" lIns="0" tIns="0" rIns="0" bIns="0" rtlCol="0" anchor="t"/>
          <a:lstStyle/>
          <a:p>
            <a:pPr indent="0" marL="0">
              <a:buNone/>
            </a:pPr>
            <a:r>
              <a:rPr lang="en-US" sz="1000" i="1" dirty="0">
                <a:solidFill>
                  <a:srgbClr val="5F6F80"/>
                </a:solidFill>
                <a:latin typeface="Calibri" pitchFamily="34" charset="0"/>
                <a:ea typeface="Calibri" pitchFamily="34" charset="-122"/>
                <a:cs typeface="Calibri" pitchFamily="34" charset="-120"/>
              </a:rPr>
              <a:t>After the D-057 fix the decision rule accepts money only, so a log-odds value can never be multiplied by revenue again.</a:t>
            </a:r>
            <a:endParaRPr lang="en-US" sz="1000" dirty="0"/>
          </a:p>
        </p:txBody>
      </p:sp>
      <p:sp>
        <p:nvSpPr>
          <p:cNvPr id="14" name="Shape 10"/>
          <p:cNvSpPr/>
          <p:nvPr/>
        </p:nvSpPr>
        <p:spPr>
          <a:xfrm>
            <a:off x="548640" y="5486400"/>
            <a:ext cx="2651760" cy="868680"/>
          </a:xfrm>
          <a:prstGeom prst="roundRect">
            <a:avLst>
              <a:gd name="adj" fmla="val 8421"/>
            </a:avLst>
          </a:prstGeom>
          <a:solidFill>
            <a:srgbClr val="F2F5F8"/>
          </a:solidFill>
          <a:ln/>
        </p:spPr>
      </p:sp>
      <p:sp>
        <p:nvSpPr>
          <p:cNvPr id="15" name="Shape 11"/>
          <p:cNvSpPr/>
          <p:nvPr/>
        </p:nvSpPr>
        <p:spPr>
          <a:xfrm>
            <a:off x="694944" y="5669280"/>
            <a:ext cx="493776" cy="493776"/>
          </a:xfrm>
          <a:prstGeom prst="ellipse">
            <a:avLst/>
          </a:prstGeom>
          <a:solidFill>
            <a:srgbClr val="12263A"/>
          </a:solidFill>
          <a:ln/>
        </p:spPr>
      </p:sp>
      <p:pic>
        <p:nvPicPr>
          <p:cNvPr id="16" name="Image 2" descr="preencoded.png">    </p:cNvPr>
          <p:cNvPicPr>
            <a:picLocks noChangeAspect="1"/>
          </p:cNvPicPr>
          <p:nvPr/>
        </p:nvPicPr>
        <p:blipFill>
          <a:blip r:embed="rId3"/>
          <a:stretch>
            <a:fillRect/>
          </a:stretch>
        </p:blipFill>
        <p:spPr>
          <a:xfrm>
            <a:off x="818388" y="5792724"/>
            <a:ext cx="246888" cy="246888"/>
          </a:xfrm>
          <a:prstGeom prst="rect">
            <a:avLst/>
          </a:prstGeom>
        </p:spPr>
      </p:pic>
      <p:sp>
        <p:nvSpPr>
          <p:cNvPr id="17" name="Text 12"/>
          <p:cNvSpPr txBox="1"/>
          <p:nvPr/>
        </p:nvSpPr>
        <p:spPr>
          <a:xfrm>
            <a:off x="1325880" y="5605272"/>
            <a:ext cx="1828800" cy="310896"/>
          </a:xfrm>
          <a:prstGeom prst="rect">
            <a:avLst/>
          </a:prstGeom>
          <a:noFill/>
          <a:ln/>
        </p:spPr>
        <p:txBody>
          <a:bodyPr wrap="square" lIns="0" tIns="0" rIns="0" bIns="0" rtlCol="0" anchor="t"/>
          <a:lstStyle/>
          <a:p>
            <a:pPr indent="0" marL="0">
              <a:buNone/>
            </a:pPr>
            <a:r>
              <a:rPr lang="en-US" sz="1300" b="1" dirty="0">
                <a:solidFill>
                  <a:srgbClr val="12263A"/>
                </a:solidFill>
                <a:latin typeface="Calibri" pitchFamily="34" charset="0"/>
                <a:ea typeface="Calibri" pitchFamily="34" charset="-122"/>
                <a:cs typeface="Calibri" pitchFamily="34" charset="-120"/>
              </a:rPr>
              <a:t>721 automated tests</a:t>
            </a:r>
            <a:endParaRPr lang="en-US" sz="1300" dirty="0"/>
          </a:p>
        </p:txBody>
      </p:sp>
      <p:sp>
        <p:nvSpPr>
          <p:cNvPr id="18" name="Text 13"/>
          <p:cNvSpPr txBox="1"/>
          <p:nvPr/>
        </p:nvSpPr>
        <p:spPr>
          <a:xfrm>
            <a:off x="1325880" y="5907024"/>
            <a:ext cx="1828800" cy="384048"/>
          </a:xfrm>
          <a:prstGeom prst="rect">
            <a:avLst/>
          </a:prstGeom>
          <a:noFill/>
          <a:ln/>
        </p:spPr>
        <p:txBody>
          <a:bodyPr wrap="square" lIns="0" tIns="0" rIns="0" bIns="0" rtlCol="0" anchor="t"/>
          <a:lstStyle/>
          <a:p>
            <a:pPr indent="0" marL="0">
              <a:buNone/>
            </a:pPr>
            <a:r>
              <a:rPr lang="en-US" sz="1050" dirty="0">
                <a:solidFill>
                  <a:srgbClr val="5F6F80"/>
                </a:solidFill>
                <a:latin typeface="Calibri" pitchFamily="34" charset="0"/>
                <a:ea typeface="Calibri" pitchFamily="34" charset="-122"/>
                <a:cs typeface="Calibri" pitchFamily="34" charset="-120"/>
              </a:rPr>
              <a:t>edge cases, fairness, leakage</a:t>
            </a:r>
            <a:endParaRPr lang="en-US" sz="1050" dirty="0"/>
          </a:p>
        </p:txBody>
      </p:sp>
      <p:sp>
        <p:nvSpPr>
          <p:cNvPr id="19" name="Shape 14"/>
          <p:cNvSpPr/>
          <p:nvPr/>
        </p:nvSpPr>
        <p:spPr>
          <a:xfrm>
            <a:off x="3364992" y="5486400"/>
            <a:ext cx="2651760" cy="868680"/>
          </a:xfrm>
          <a:prstGeom prst="roundRect">
            <a:avLst>
              <a:gd name="adj" fmla="val 8421"/>
            </a:avLst>
          </a:prstGeom>
          <a:solidFill>
            <a:srgbClr val="F2F5F8"/>
          </a:solidFill>
          <a:ln/>
        </p:spPr>
      </p:sp>
      <p:sp>
        <p:nvSpPr>
          <p:cNvPr id="20" name="Shape 15"/>
          <p:cNvSpPr/>
          <p:nvPr/>
        </p:nvSpPr>
        <p:spPr>
          <a:xfrm>
            <a:off x="3511296" y="5669280"/>
            <a:ext cx="493776" cy="493776"/>
          </a:xfrm>
          <a:prstGeom prst="ellipse">
            <a:avLst/>
          </a:prstGeom>
          <a:solidFill>
            <a:srgbClr val="12263A"/>
          </a:solidFill>
          <a:ln/>
        </p:spPr>
      </p:sp>
      <p:pic>
        <p:nvPicPr>
          <p:cNvPr id="21" name="Image 3" descr="preencoded.png">    </p:cNvPr>
          <p:cNvPicPr>
            <a:picLocks noChangeAspect="1"/>
          </p:cNvPicPr>
          <p:nvPr/>
        </p:nvPicPr>
        <p:blipFill>
          <a:blip r:embed="rId4"/>
          <a:stretch>
            <a:fillRect/>
          </a:stretch>
        </p:blipFill>
        <p:spPr>
          <a:xfrm>
            <a:off x="3634740" y="5792724"/>
            <a:ext cx="246888" cy="246888"/>
          </a:xfrm>
          <a:prstGeom prst="rect">
            <a:avLst/>
          </a:prstGeom>
        </p:spPr>
      </p:pic>
      <p:sp>
        <p:nvSpPr>
          <p:cNvPr id="22" name="Text 16"/>
          <p:cNvSpPr txBox="1"/>
          <p:nvPr/>
        </p:nvSpPr>
        <p:spPr>
          <a:xfrm>
            <a:off x="4142232" y="5605272"/>
            <a:ext cx="1828800" cy="310896"/>
          </a:xfrm>
          <a:prstGeom prst="rect">
            <a:avLst/>
          </a:prstGeom>
          <a:noFill/>
          <a:ln/>
        </p:spPr>
        <p:txBody>
          <a:bodyPr wrap="square" lIns="0" tIns="0" rIns="0" bIns="0" rtlCol="0" anchor="t"/>
          <a:lstStyle/>
          <a:p>
            <a:pPr indent="0" marL="0">
              <a:buNone/>
            </a:pPr>
            <a:r>
              <a:rPr lang="en-US" sz="1300" b="1" dirty="0">
                <a:solidFill>
                  <a:srgbClr val="12263A"/>
                </a:solidFill>
                <a:latin typeface="Calibri" pitchFamily="34" charset="0"/>
                <a:ea typeface="Calibri" pitchFamily="34" charset="-122"/>
                <a:cs typeface="Calibri" pitchFamily="34" charset="-120"/>
              </a:rPr>
              <a:t>CI on every push</a:t>
            </a:r>
            <a:endParaRPr lang="en-US" sz="1300" dirty="0"/>
          </a:p>
        </p:txBody>
      </p:sp>
      <p:sp>
        <p:nvSpPr>
          <p:cNvPr id="23" name="Text 17"/>
          <p:cNvSpPr txBox="1"/>
          <p:nvPr/>
        </p:nvSpPr>
        <p:spPr>
          <a:xfrm>
            <a:off x="4142232" y="5907024"/>
            <a:ext cx="1828800" cy="384048"/>
          </a:xfrm>
          <a:prstGeom prst="rect">
            <a:avLst/>
          </a:prstGeom>
          <a:noFill/>
          <a:ln/>
        </p:spPr>
        <p:txBody>
          <a:bodyPr wrap="square" lIns="0" tIns="0" rIns="0" bIns="0" rtlCol="0" anchor="t"/>
          <a:lstStyle/>
          <a:p>
            <a:pPr indent="0" marL="0">
              <a:buNone/>
            </a:pPr>
            <a:r>
              <a:rPr lang="en-US" sz="1050" dirty="0">
                <a:solidFill>
                  <a:srgbClr val="5F6F80"/>
                </a:solidFill>
                <a:latin typeface="Calibri" pitchFamily="34" charset="0"/>
                <a:ea typeface="Calibri" pitchFamily="34" charset="-122"/>
                <a:cs typeface="Calibri" pitchFamily="34" charset="-120"/>
              </a:rPr>
              <a:t>Python 3.11, 3.12 and 3.13</a:t>
            </a:r>
            <a:endParaRPr lang="en-US" sz="1050" dirty="0"/>
          </a:p>
        </p:txBody>
      </p:sp>
      <p:sp>
        <p:nvSpPr>
          <p:cNvPr id="24" name="Shape 18"/>
          <p:cNvSpPr/>
          <p:nvPr/>
        </p:nvSpPr>
        <p:spPr>
          <a:xfrm>
            <a:off x="6181344" y="5486400"/>
            <a:ext cx="2651760" cy="868680"/>
          </a:xfrm>
          <a:prstGeom prst="roundRect">
            <a:avLst>
              <a:gd name="adj" fmla="val 8421"/>
            </a:avLst>
          </a:prstGeom>
          <a:solidFill>
            <a:srgbClr val="F2F5F8"/>
          </a:solidFill>
          <a:ln/>
        </p:spPr>
      </p:sp>
      <p:sp>
        <p:nvSpPr>
          <p:cNvPr id="25" name="Shape 19"/>
          <p:cNvSpPr/>
          <p:nvPr/>
        </p:nvSpPr>
        <p:spPr>
          <a:xfrm>
            <a:off x="6327648" y="5669280"/>
            <a:ext cx="493776" cy="493776"/>
          </a:xfrm>
          <a:prstGeom prst="ellipse">
            <a:avLst/>
          </a:prstGeom>
          <a:solidFill>
            <a:srgbClr val="0F9D8A"/>
          </a:solidFill>
          <a:ln/>
        </p:spPr>
      </p:sp>
      <p:pic>
        <p:nvPicPr>
          <p:cNvPr id="26" name="Image 4" descr="preencoded.png">    </p:cNvPr>
          <p:cNvPicPr>
            <a:picLocks noChangeAspect="1"/>
          </p:cNvPicPr>
          <p:nvPr/>
        </p:nvPicPr>
        <p:blipFill>
          <a:blip r:embed="rId5"/>
          <a:stretch>
            <a:fillRect/>
          </a:stretch>
        </p:blipFill>
        <p:spPr>
          <a:xfrm>
            <a:off x="6451092" y="5792724"/>
            <a:ext cx="246888" cy="246888"/>
          </a:xfrm>
          <a:prstGeom prst="rect">
            <a:avLst/>
          </a:prstGeom>
        </p:spPr>
      </p:pic>
      <p:sp>
        <p:nvSpPr>
          <p:cNvPr id="27" name="Text 20"/>
          <p:cNvSpPr txBox="1"/>
          <p:nvPr/>
        </p:nvSpPr>
        <p:spPr>
          <a:xfrm>
            <a:off x="6958584" y="5605272"/>
            <a:ext cx="1828800" cy="310896"/>
          </a:xfrm>
          <a:prstGeom prst="rect">
            <a:avLst/>
          </a:prstGeom>
          <a:noFill/>
          <a:ln/>
        </p:spPr>
        <p:txBody>
          <a:bodyPr wrap="square" lIns="0" tIns="0" rIns="0" bIns="0" rtlCol="0" anchor="t"/>
          <a:lstStyle/>
          <a:p>
            <a:pPr indent="0" marL="0">
              <a:buNone/>
            </a:pPr>
            <a:r>
              <a:rPr lang="en-US" sz="1300" b="1" dirty="0">
                <a:solidFill>
                  <a:srgbClr val="12263A"/>
                </a:solidFill>
                <a:latin typeface="Calibri" pitchFamily="34" charset="0"/>
                <a:ea typeface="Calibri" pitchFamily="34" charset="-122"/>
                <a:cs typeface="Calibri" pitchFamily="34" charset="-120"/>
              </a:rPr>
              <a:t>4 CI gates</a:t>
            </a:r>
            <a:endParaRPr lang="en-US" sz="1300" dirty="0"/>
          </a:p>
        </p:txBody>
      </p:sp>
      <p:sp>
        <p:nvSpPr>
          <p:cNvPr id="28" name="Text 21"/>
          <p:cNvSpPr txBox="1"/>
          <p:nvPr/>
        </p:nvSpPr>
        <p:spPr>
          <a:xfrm>
            <a:off x="6958584" y="5907024"/>
            <a:ext cx="1828800" cy="384048"/>
          </a:xfrm>
          <a:prstGeom prst="rect">
            <a:avLst/>
          </a:prstGeom>
          <a:noFill/>
          <a:ln/>
        </p:spPr>
        <p:txBody>
          <a:bodyPr wrap="square" lIns="0" tIns="0" rIns="0" bIns="0" rtlCol="0" anchor="t"/>
          <a:lstStyle/>
          <a:p>
            <a:pPr indent="0" marL="0">
              <a:buNone/>
            </a:pPr>
            <a:r>
              <a:rPr lang="en-US" sz="1050" dirty="0">
                <a:solidFill>
                  <a:srgbClr val="5F6F80"/>
                </a:solidFill>
                <a:latin typeface="Calibri" pitchFamily="34" charset="0"/>
                <a:ea typeface="Calibri" pitchFamily="34" charset="-122"/>
                <a:cs typeface="Calibri" pitchFamily="34" charset="-120"/>
              </a:rPr>
              <a:t>tests · calibration · leakage · kill test</a:t>
            </a:r>
            <a:endParaRPr lang="en-US" sz="1050" dirty="0"/>
          </a:p>
        </p:txBody>
      </p:sp>
      <p:sp>
        <p:nvSpPr>
          <p:cNvPr id="29" name="Shape 22"/>
          <p:cNvSpPr/>
          <p:nvPr/>
        </p:nvSpPr>
        <p:spPr>
          <a:xfrm>
            <a:off x="8997696" y="5486400"/>
            <a:ext cx="2651760" cy="868680"/>
          </a:xfrm>
          <a:prstGeom prst="roundRect">
            <a:avLst>
              <a:gd name="adj" fmla="val 8421"/>
            </a:avLst>
          </a:prstGeom>
          <a:solidFill>
            <a:srgbClr val="F2F5F8"/>
          </a:solidFill>
          <a:ln/>
        </p:spPr>
      </p:sp>
      <p:sp>
        <p:nvSpPr>
          <p:cNvPr id="30" name="Shape 23"/>
          <p:cNvSpPr/>
          <p:nvPr/>
        </p:nvSpPr>
        <p:spPr>
          <a:xfrm>
            <a:off x="9144000" y="5669280"/>
            <a:ext cx="493776" cy="493776"/>
          </a:xfrm>
          <a:prstGeom prst="ellipse">
            <a:avLst/>
          </a:prstGeom>
          <a:solidFill>
            <a:srgbClr val="12263A"/>
          </a:solidFill>
          <a:ln/>
        </p:spPr>
      </p:sp>
      <p:pic>
        <p:nvPicPr>
          <p:cNvPr id="31" name="Image 5" descr="preencoded.png">    </p:cNvPr>
          <p:cNvPicPr>
            <a:picLocks noChangeAspect="1"/>
          </p:cNvPicPr>
          <p:nvPr/>
        </p:nvPicPr>
        <p:blipFill>
          <a:blip r:embed="rId6"/>
          <a:stretch>
            <a:fillRect/>
          </a:stretch>
        </p:blipFill>
        <p:spPr>
          <a:xfrm>
            <a:off x="9267444" y="5792724"/>
            <a:ext cx="246888" cy="246888"/>
          </a:xfrm>
          <a:prstGeom prst="rect">
            <a:avLst/>
          </a:prstGeom>
        </p:spPr>
      </p:pic>
      <p:sp>
        <p:nvSpPr>
          <p:cNvPr id="32" name="Text 24"/>
          <p:cNvSpPr txBox="1"/>
          <p:nvPr/>
        </p:nvSpPr>
        <p:spPr>
          <a:xfrm>
            <a:off x="9774936" y="5605272"/>
            <a:ext cx="1828800" cy="310896"/>
          </a:xfrm>
          <a:prstGeom prst="rect">
            <a:avLst/>
          </a:prstGeom>
          <a:noFill/>
          <a:ln/>
        </p:spPr>
        <p:txBody>
          <a:bodyPr wrap="square" lIns="0" tIns="0" rIns="0" bIns="0" rtlCol="0" anchor="t"/>
          <a:lstStyle/>
          <a:p>
            <a:pPr indent="0" marL="0">
              <a:buNone/>
            </a:pPr>
            <a:r>
              <a:rPr lang="en-US" sz="1300" b="1" dirty="0">
                <a:solidFill>
                  <a:srgbClr val="12263A"/>
                </a:solidFill>
                <a:latin typeface="Calibri" pitchFamily="34" charset="0"/>
                <a:ea typeface="Calibri" pitchFamily="34" charset="-122"/>
                <a:cs typeface="Calibri" pitchFamily="34" charset="-120"/>
              </a:rPr>
              <a:t>Archived releases</a:t>
            </a:r>
            <a:endParaRPr lang="en-US" sz="1300" dirty="0"/>
          </a:p>
        </p:txBody>
      </p:sp>
      <p:sp>
        <p:nvSpPr>
          <p:cNvPr id="33" name="Text 25"/>
          <p:cNvSpPr txBox="1"/>
          <p:nvPr/>
        </p:nvSpPr>
        <p:spPr>
          <a:xfrm>
            <a:off x="9774936" y="5907024"/>
            <a:ext cx="1828800" cy="384048"/>
          </a:xfrm>
          <a:prstGeom prst="rect">
            <a:avLst/>
          </a:prstGeom>
          <a:noFill/>
          <a:ln/>
        </p:spPr>
        <p:txBody>
          <a:bodyPr wrap="square" lIns="0" tIns="0" rIns="0" bIns="0" rtlCol="0" anchor="t"/>
          <a:lstStyle/>
          <a:p>
            <a:pPr indent="0" marL="0">
              <a:buNone/>
            </a:pPr>
            <a:r>
              <a:rPr lang="en-US" sz="1050" dirty="0">
                <a:solidFill>
                  <a:srgbClr val="5F6F80"/>
                </a:solidFill>
                <a:latin typeface="Calibri" pitchFamily="34" charset="0"/>
                <a:ea typeface="Calibri" pitchFamily="34" charset="-122"/>
                <a:cs typeface="Calibri" pitchFamily="34" charset="-120"/>
              </a:rPr>
              <a:t>software, data and paper on Zenodo</a:t>
            </a:r>
            <a:endParaRPr lang="en-US" sz="1050" dirty="0"/>
          </a:p>
        </p:txBody>
      </p:sp>
      <p:sp>
        <p:nvSpPr>
          <p:cNvPr id="34" name="Text 26"/>
          <p:cNvSpPr txBox="1"/>
          <p:nvPr/>
        </p:nvSpPr>
        <p:spPr>
          <a:xfrm>
            <a:off x="548640" y="6492240"/>
            <a:ext cx="8686800" cy="228600"/>
          </a:xfrm>
          <a:prstGeom prst="rect">
            <a:avLst/>
          </a:prstGeom>
          <a:noFill/>
          <a:ln/>
        </p:spPr>
        <p:txBody>
          <a:bodyPr wrap="square" lIns="0" tIns="0" rIns="0" bIns="0" rtlCol="0" anchor="t"/>
          <a:lstStyle/>
          <a:p>
            <a:pPr indent="0" marL="0">
              <a:buNone/>
            </a:pPr>
            <a:r>
              <a:rPr lang="en-US" sz="900" dirty="0">
                <a:solidFill>
                  <a:srgbClr val="8A97A6"/>
                </a:solidFill>
                <a:latin typeface="Calibri" pitchFamily="34" charset="0"/>
                <a:ea typeface="Calibri" pitchFamily="34" charset="-122"/>
                <a:cs typeface="Calibri" pitchFamily="34" charset="-120"/>
              </a:rPr>
              <a:t>RetainIQ  ·  Prasham Jain (2427030155)  ·  Mentor: Dr. Rishi Gupta  ·  Manipal University Jaipur</a:t>
            </a:r>
            <a:endParaRPr lang="en-US" sz="900" dirty="0"/>
          </a:p>
        </p:txBody>
      </p:sp>
      <p:sp>
        <p:nvSpPr>
          <p:cNvPr id="35" name="Text 27"/>
          <p:cNvSpPr txBox="1"/>
          <p:nvPr/>
        </p:nvSpPr>
        <p:spPr>
          <a:xfrm>
            <a:off x="10725912" y="6492240"/>
            <a:ext cx="914400" cy="228600"/>
          </a:xfrm>
          <a:prstGeom prst="rect">
            <a:avLst/>
          </a:prstGeom>
          <a:noFill/>
          <a:ln/>
        </p:spPr>
        <p:txBody>
          <a:bodyPr wrap="square" lIns="0" tIns="0" rIns="0" bIns="0" rtlCol="0" anchor="t"/>
          <a:lstStyle/>
          <a:p>
            <a:pPr algn="r" indent="0" marL="0">
              <a:buNone/>
            </a:pPr>
            <a:r>
              <a:rPr lang="en-US" sz="900" dirty="0">
                <a:solidFill>
                  <a:srgbClr val="8A97A6"/>
                </a:solidFill>
                <a:latin typeface="Calibri" pitchFamily="34" charset="0"/>
                <a:ea typeface="Calibri" pitchFamily="34" charset="-122"/>
                <a:cs typeface="Calibri" pitchFamily="34" charset="-120"/>
              </a:rPr>
              <a:t>7 / 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263A"/>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274320"/>
          </a:xfrm>
          <a:prstGeom prst="rect">
            <a:avLst/>
          </a:prstGeom>
          <a:noFill/>
          <a:ln/>
        </p:spPr>
        <p:txBody>
          <a:bodyPr wrap="square" lIns="0" tIns="0" rIns="0" bIns="0" rtlCol="0" anchor="t"/>
          <a:lstStyle/>
          <a:p>
            <a:pPr indent="0" marL="0">
              <a:buNone/>
            </a:pPr>
            <a:r>
              <a:rPr lang="en-US" sz="1100" b="1" spc="200" kern="0" dirty="0">
                <a:solidFill>
                  <a:srgbClr val="43C6B1"/>
                </a:solidFill>
                <a:latin typeface="Calibri" pitchFamily="34" charset="0"/>
                <a:ea typeface="Calibri" pitchFamily="34" charset="-122"/>
                <a:cs typeface="Calibri" pitchFamily="34" charset="-120"/>
              </a:rPr>
              <a:t>07  ·  CONCLUSION</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Conclusions, readiness and next steps</a:t>
            </a:r>
            <a:endParaRPr lang="en-US" sz="3000" dirty="0"/>
          </a:p>
        </p:txBody>
      </p:sp>
      <p:sp>
        <p:nvSpPr>
          <p:cNvPr id="4" name="Shape 2"/>
          <p:cNvSpPr/>
          <p:nvPr/>
        </p:nvSpPr>
        <p:spPr>
          <a:xfrm>
            <a:off x="548640" y="1325880"/>
            <a:ext cx="3566160" cy="3611880"/>
          </a:xfrm>
          <a:prstGeom prst="roundRect">
            <a:avLst>
              <a:gd name="adj" fmla="val 2051"/>
            </a:avLst>
          </a:prstGeom>
          <a:solidFill>
            <a:srgbClr val="1D3651"/>
          </a:solidFill>
          <a:ln/>
        </p:spPr>
      </p:sp>
      <p:sp>
        <p:nvSpPr>
          <p:cNvPr id="5" name="Text 3"/>
          <p:cNvSpPr txBox="1"/>
          <p:nvPr/>
        </p:nvSpPr>
        <p:spPr>
          <a:xfrm>
            <a:off x="777240" y="1463040"/>
            <a:ext cx="3108960" cy="347472"/>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Key takeaways</a:t>
            </a:r>
            <a:endParaRPr lang="en-US" sz="1600" dirty="0"/>
          </a:p>
        </p:txBody>
      </p:sp>
      <p:sp>
        <p:nvSpPr>
          <p:cNvPr id="6" name="Text 4"/>
          <p:cNvSpPr txBox="1"/>
          <p:nvPr/>
        </p:nvSpPr>
        <p:spPr>
          <a:xfrm>
            <a:off x="777240" y="1901952"/>
            <a:ext cx="3154680" cy="292608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250" dirty="0">
                <a:solidFill>
                  <a:srgbClr val="C9D6E3"/>
                </a:solidFill>
                <a:latin typeface="Calibri" pitchFamily="34" charset="0"/>
                <a:ea typeface="Calibri" pitchFamily="34" charset="-122"/>
                <a:cs typeface="Calibri" pitchFamily="34" charset="-120"/>
              </a:rPr>
              <a:t>A churn model can be accurate and still lose money: AUC 0.700, yet targeting its top 20% returns −22,823.</a:t>
            </a:r>
            <a:endParaRPr lang="en-US" sz="1250" dirty="0"/>
          </a:p>
          <a:p>
            <a:pPr marL="342900" indent="-342900">
              <a:spcAft>
                <a:spcPts val="1000"/>
              </a:spcAft>
              <a:buSzPct val="100000"/>
              <a:buFont typeface="+mj-lt"/>
              <a:buAutoNum type="arabicPeriod" startAt="1"/>
            </a:pPr>
            <a:r>
              <a:rPr lang="en-US" sz="1250" dirty="0">
                <a:solidFill>
                  <a:srgbClr val="C9D6E3"/>
                </a:solidFill>
                <a:latin typeface="Calibri" pitchFamily="34" charset="0"/>
                <a:ea typeface="Calibri" pitchFamily="34" charset="-122"/>
                <a:cs typeface="Calibri" pitchFamily="34" charset="-120"/>
              </a:rPr>
              <a:t>Causal targeting does not always pay: on four public experiments a plain model did as well, and at n = 500 the best method beats random on 72.5% of draws.</a:t>
            </a:r>
            <a:endParaRPr lang="en-US" sz="1250" dirty="0"/>
          </a:p>
          <a:p>
            <a:pPr marL="342900" indent="-342900">
              <a:spcAft>
                <a:spcPts val="1000"/>
              </a:spcAft>
              <a:buSzPct val="100000"/>
              <a:buFont typeface="+mj-lt"/>
              <a:buAutoNum type="arabicPeriod" startAt="1"/>
            </a:pPr>
            <a:r>
              <a:rPr lang="en-US" sz="1250" dirty="0">
                <a:solidFill>
                  <a:srgbClr val="C9D6E3"/>
                </a:solidFill>
                <a:latin typeface="Calibri" pitchFamily="34" charset="0"/>
                <a:ea typeface="Calibri" pitchFamily="34" charset="-122"/>
                <a:cs typeface="Calibri" pitchFamily="34" charset="-120"/>
              </a:rPr>
              <a:t>For small businesses, reliability and measurability limit results more than the choice of model.</a:t>
            </a:r>
            <a:endParaRPr lang="en-US" sz="1250" dirty="0"/>
          </a:p>
        </p:txBody>
      </p:sp>
      <p:sp>
        <p:nvSpPr>
          <p:cNvPr id="7" name="Shape 5"/>
          <p:cNvSpPr/>
          <p:nvPr/>
        </p:nvSpPr>
        <p:spPr>
          <a:xfrm>
            <a:off x="4315968" y="1325880"/>
            <a:ext cx="3657600" cy="3611880"/>
          </a:xfrm>
          <a:prstGeom prst="roundRect">
            <a:avLst>
              <a:gd name="adj" fmla="val 2025"/>
            </a:avLst>
          </a:prstGeom>
          <a:solidFill>
            <a:srgbClr val="1D3651"/>
          </a:solidFill>
          <a:ln/>
        </p:spPr>
      </p:sp>
      <p:sp>
        <p:nvSpPr>
          <p:cNvPr id="8" name="Text 6"/>
          <p:cNvSpPr txBox="1"/>
          <p:nvPr/>
        </p:nvSpPr>
        <p:spPr>
          <a:xfrm>
            <a:off x="4544568" y="1463040"/>
            <a:ext cx="3200400" cy="347472"/>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Production readiness</a:t>
            </a:r>
            <a:endParaRPr lang="en-US" sz="1600" dirty="0"/>
          </a:p>
        </p:txBody>
      </p:sp>
      <p:pic>
        <p:nvPicPr>
          <p:cNvPr id="9" name="Image 0" descr="preencoded.png">    </p:cNvPr>
          <p:cNvPicPr>
            <a:picLocks noChangeAspect="1"/>
          </p:cNvPicPr>
          <p:nvPr/>
        </p:nvPicPr>
        <p:blipFill>
          <a:blip r:embed="rId1"/>
          <a:stretch>
            <a:fillRect/>
          </a:stretch>
        </p:blipFill>
        <p:spPr>
          <a:xfrm>
            <a:off x="4544568" y="1947672"/>
            <a:ext cx="256032" cy="256032"/>
          </a:xfrm>
          <a:prstGeom prst="rect">
            <a:avLst/>
          </a:prstGeom>
        </p:spPr>
      </p:pic>
      <p:sp>
        <p:nvSpPr>
          <p:cNvPr id="10" name="Text 7"/>
          <p:cNvSpPr txBox="1"/>
          <p:nvPr/>
        </p:nvSpPr>
        <p:spPr>
          <a:xfrm>
            <a:off x="4919472" y="1920240"/>
            <a:ext cx="2926080" cy="292608"/>
          </a:xfrm>
          <a:prstGeom prst="rect">
            <a:avLst/>
          </a:prstGeom>
          <a:noFill/>
          <a:ln/>
        </p:spPr>
        <p:txBody>
          <a:bodyPr wrap="square" lIns="0" tIns="0" rIns="0" bIns="0" rtlCol="0" anchor="t"/>
          <a:lstStyle/>
          <a:p>
            <a:pPr indent="0" marL="0">
              <a:buNone/>
            </a:pPr>
            <a:r>
              <a:rPr lang="en-US" sz="1250" b="1" dirty="0">
                <a:solidFill>
                  <a:srgbClr val="43C6B1"/>
                </a:solidFill>
                <a:latin typeface="Calibri" pitchFamily="34" charset="0"/>
                <a:ea typeface="Calibri" pitchFamily="34" charset="-122"/>
                <a:cs typeface="Calibri" pitchFamily="34" charset="-120"/>
              </a:rPr>
              <a:t>Ready</a:t>
            </a:r>
            <a:endParaRPr lang="en-US" sz="1250" dirty="0"/>
          </a:p>
        </p:txBody>
      </p:sp>
      <p:sp>
        <p:nvSpPr>
          <p:cNvPr id="11" name="Text 8"/>
          <p:cNvSpPr txBox="1"/>
          <p:nvPr/>
        </p:nvSpPr>
        <p:spPr>
          <a:xfrm>
            <a:off x="4919472" y="2221992"/>
            <a:ext cx="2926080" cy="621792"/>
          </a:xfrm>
          <a:prstGeom prst="rect">
            <a:avLst/>
          </a:prstGeom>
          <a:noFill/>
          <a:ln/>
        </p:spPr>
        <p:txBody>
          <a:bodyPr wrap="square" lIns="0" tIns="0" rIns="0" bIns="0" rtlCol="0" anchor="t"/>
          <a:lstStyle/>
          <a:p>
            <a:pPr indent="0" marL="0">
              <a:buNone/>
            </a:pPr>
            <a:r>
              <a:rPr lang="en-US" sz="1100" dirty="0">
                <a:solidFill>
                  <a:srgbClr val="C9D6E3"/>
                </a:solidFill>
                <a:latin typeface="Calibri" pitchFamily="34" charset="0"/>
                <a:ea typeface="Calibri" pitchFamily="34" charset="-122"/>
                <a:cs typeface="Calibri" pitchFamily="34" charset="-120"/>
              </a:rPr>
              <a:t>CLI ingest → preflight → Churn Autopsy; dashboard; tests and 4 CI gates; archived releases</a:t>
            </a:r>
            <a:endParaRPr lang="en-US" sz="1100" dirty="0"/>
          </a:p>
        </p:txBody>
      </p:sp>
      <p:pic>
        <p:nvPicPr>
          <p:cNvPr id="12" name="Image 1" descr="preencoded.png">    </p:cNvPr>
          <p:cNvPicPr>
            <a:picLocks noChangeAspect="1"/>
          </p:cNvPicPr>
          <p:nvPr/>
        </p:nvPicPr>
        <p:blipFill>
          <a:blip r:embed="rId2"/>
          <a:stretch>
            <a:fillRect/>
          </a:stretch>
        </p:blipFill>
        <p:spPr>
          <a:xfrm>
            <a:off x="4544568" y="2935224"/>
            <a:ext cx="256032" cy="256032"/>
          </a:xfrm>
          <a:prstGeom prst="rect">
            <a:avLst/>
          </a:prstGeom>
        </p:spPr>
      </p:pic>
      <p:sp>
        <p:nvSpPr>
          <p:cNvPr id="13" name="Text 9"/>
          <p:cNvSpPr txBox="1"/>
          <p:nvPr/>
        </p:nvSpPr>
        <p:spPr>
          <a:xfrm>
            <a:off x="4919472" y="2907792"/>
            <a:ext cx="2926080" cy="292608"/>
          </a:xfrm>
          <a:prstGeom prst="rect">
            <a:avLst/>
          </a:prstGeom>
          <a:noFill/>
          <a:ln/>
        </p:spPr>
        <p:txBody>
          <a:bodyPr wrap="square" lIns="0" tIns="0" rIns="0" bIns="0" rtlCol="0" anchor="t"/>
          <a:lstStyle/>
          <a:p>
            <a:pPr indent="0" marL="0">
              <a:buNone/>
            </a:pPr>
            <a:r>
              <a:rPr lang="en-US" sz="1250" b="1" dirty="0">
                <a:solidFill>
                  <a:srgbClr val="F2A541"/>
                </a:solidFill>
                <a:latin typeface="Calibri" pitchFamily="34" charset="0"/>
                <a:ea typeface="Calibri" pitchFamily="34" charset="-122"/>
                <a:cs typeface="Calibri" pitchFamily="34" charset="-120"/>
              </a:rPr>
              <a:t>Validated offline only</a:t>
            </a:r>
            <a:endParaRPr lang="en-US" sz="1250" dirty="0"/>
          </a:p>
        </p:txBody>
      </p:sp>
      <p:sp>
        <p:nvSpPr>
          <p:cNvPr id="14" name="Text 10"/>
          <p:cNvSpPr txBox="1"/>
          <p:nvPr/>
        </p:nvSpPr>
        <p:spPr>
          <a:xfrm>
            <a:off x="4919472" y="3209544"/>
            <a:ext cx="2926080" cy="621792"/>
          </a:xfrm>
          <a:prstGeom prst="rect">
            <a:avLst/>
          </a:prstGeom>
          <a:noFill/>
          <a:ln/>
        </p:spPr>
        <p:txBody>
          <a:bodyPr wrap="square" lIns="0" tIns="0" rIns="0" bIns="0" rtlCol="0" anchor="t"/>
          <a:lstStyle/>
          <a:p>
            <a:pPr indent="0" marL="0">
              <a:buNone/>
            </a:pPr>
            <a:r>
              <a:rPr lang="en-US" sz="1100" dirty="0">
                <a:solidFill>
                  <a:srgbClr val="C9D6E3"/>
                </a:solidFill>
                <a:latin typeface="Calibri" pitchFamily="34" charset="0"/>
                <a:ea typeface="Calibri" pitchFamily="34" charset="-122"/>
                <a:cs typeface="Calibri" pitchFamily="34" charset="-120"/>
              </a:rPr>
              <a:t>on simulation and public RCTs: survival model; Bayesian CATE with abstention; offer ladder</a:t>
            </a:r>
            <a:endParaRPr lang="en-US" sz="1100" dirty="0"/>
          </a:p>
        </p:txBody>
      </p:sp>
      <p:pic>
        <p:nvPicPr>
          <p:cNvPr id="15" name="Image 2" descr="preencoded.png">    </p:cNvPr>
          <p:cNvPicPr>
            <a:picLocks noChangeAspect="1"/>
          </p:cNvPicPr>
          <p:nvPr/>
        </p:nvPicPr>
        <p:blipFill>
          <a:blip r:embed="rId3"/>
          <a:stretch>
            <a:fillRect/>
          </a:stretch>
        </p:blipFill>
        <p:spPr>
          <a:xfrm>
            <a:off x="4544568" y="3922776"/>
            <a:ext cx="256032" cy="256032"/>
          </a:xfrm>
          <a:prstGeom prst="rect">
            <a:avLst/>
          </a:prstGeom>
        </p:spPr>
      </p:pic>
      <p:sp>
        <p:nvSpPr>
          <p:cNvPr id="16" name="Text 11"/>
          <p:cNvSpPr txBox="1"/>
          <p:nvPr/>
        </p:nvSpPr>
        <p:spPr>
          <a:xfrm>
            <a:off x="4919472" y="3895344"/>
            <a:ext cx="2926080" cy="292608"/>
          </a:xfrm>
          <a:prstGeom prst="rect">
            <a:avLst/>
          </a:prstGeom>
          <a:noFill/>
          <a:ln/>
        </p:spPr>
        <p:txBody>
          <a:bodyPr wrap="square" lIns="0" tIns="0" rIns="0" bIns="0" rtlCol="0" anchor="t"/>
          <a:lstStyle/>
          <a:p>
            <a:pPr indent="0" marL="0">
              <a:buNone/>
            </a:pPr>
            <a:r>
              <a:rPr lang="en-US" sz="1250" b="1" dirty="0">
                <a:solidFill>
                  <a:srgbClr val="FF8A66"/>
                </a:solidFill>
                <a:latin typeface="Calibri" pitchFamily="34" charset="0"/>
                <a:ea typeface="Calibri" pitchFamily="34" charset="-122"/>
                <a:cs typeface="Calibri" pitchFamily="34" charset="-120"/>
              </a:rPr>
              <a:t>Not yet shown</a:t>
            </a:r>
            <a:endParaRPr lang="en-US" sz="1250" dirty="0"/>
          </a:p>
        </p:txBody>
      </p:sp>
      <p:sp>
        <p:nvSpPr>
          <p:cNvPr id="17" name="Text 12"/>
          <p:cNvSpPr txBox="1"/>
          <p:nvPr/>
        </p:nvSpPr>
        <p:spPr>
          <a:xfrm>
            <a:off x="4919472" y="4197096"/>
            <a:ext cx="2926080" cy="621792"/>
          </a:xfrm>
          <a:prstGeom prst="rect">
            <a:avLst/>
          </a:prstGeom>
          <a:noFill/>
          <a:ln/>
        </p:spPr>
        <p:txBody>
          <a:bodyPr wrap="square" lIns="0" tIns="0" rIns="0" bIns="0" rtlCol="0" anchor="t"/>
          <a:lstStyle/>
          <a:p>
            <a:pPr indent="0" marL="0">
              <a:buNone/>
            </a:pPr>
            <a:r>
              <a:rPr lang="en-US" sz="1100" dirty="0">
                <a:solidFill>
                  <a:srgbClr val="C9D6E3"/>
                </a:solidFill>
                <a:latin typeface="Calibri" pitchFamily="34" charset="0"/>
                <a:ea typeface="Calibri" pitchFamily="34" charset="-122"/>
                <a:cs typeface="Calibri" pitchFamily="34" charset="-120"/>
              </a:rPr>
              <a:t>ROI on a real client; beating ‘do nothing’; beating one well-chosen offer</a:t>
            </a:r>
            <a:endParaRPr lang="en-US" sz="1100" dirty="0"/>
          </a:p>
        </p:txBody>
      </p:sp>
      <p:sp>
        <p:nvSpPr>
          <p:cNvPr id="18" name="Shape 13"/>
          <p:cNvSpPr/>
          <p:nvPr/>
        </p:nvSpPr>
        <p:spPr>
          <a:xfrm>
            <a:off x="8174736" y="1325880"/>
            <a:ext cx="3474720" cy="3611880"/>
          </a:xfrm>
          <a:prstGeom prst="roundRect">
            <a:avLst>
              <a:gd name="adj" fmla="val 2105"/>
            </a:avLst>
          </a:prstGeom>
          <a:solidFill>
            <a:srgbClr val="1D3651"/>
          </a:solidFill>
          <a:ln/>
        </p:spPr>
      </p:sp>
      <p:sp>
        <p:nvSpPr>
          <p:cNvPr id="19" name="Text 14"/>
          <p:cNvSpPr txBox="1"/>
          <p:nvPr/>
        </p:nvSpPr>
        <p:spPr>
          <a:xfrm>
            <a:off x="8403336" y="1463040"/>
            <a:ext cx="3017520" cy="347472"/>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Next steps</a:t>
            </a:r>
            <a:endParaRPr lang="en-US" sz="1600" dirty="0"/>
          </a:p>
        </p:txBody>
      </p:sp>
      <p:sp>
        <p:nvSpPr>
          <p:cNvPr id="20" name="Text 15"/>
          <p:cNvSpPr txBox="1"/>
          <p:nvPr/>
        </p:nvSpPr>
        <p:spPr>
          <a:xfrm>
            <a:off x="8403336" y="1901952"/>
            <a:ext cx="3063240" cy="292608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C9D6E3"/>
                </a:solidFill>
                <a:latin typeface="Calibri" pitchFamily="34" charset="0"/>
                <a:ea typeface="Calibri" pitchFamily="34" charset="-122"/>
                <a:cs typeface="Calibri" pitchFamily="34" charset="-120"/>
              </a:rPr>
              <a:t>A first paying Churn Autopsy client (the Phase 2 gate)</a:t>
            </a:r>
            <a:endParaRPr lang="en-US" sz="1250" dirty="0"/>
          </a:p>
          <a:p>
            <a:pPr marL="342900" indent="-342900">
              <a:spcAft>
                <a:spcPts val="800"/>
              </a:spcAft>
              <a:buSzPct val="100000"/>
              <a:buChar char="•"/>
            </a:pPr>
            <a:r>
              <a:rPr lang="en-US" sz="1250" dirty="0">
                <a:solidFill>
                  <a:srgbClr val="C9D6E3"/>
                </a:solidFill>
                <a:latin typeface="Calibri" pitchFamily="34" charset="0"/>
                <a:ea typeface="Calibri" pitchFamily="34" charset="-122"/>
                <a:cs typeface="Calibri" pitchFamily="34" charset="-120"/>
              </a:rPr>
              <a:t>A live pilot with a permanent randomised holdout</a:t>
            </a:r>
            <a:endParaRPr lang="en-US" sz="1250" dirty="0"/>
          </a:p>
          <a:p>
            <a:pPr marL="342900" indent="-342900">
              <a:spcAft>
                <a:spcPts val="800"/>
              </a:spcAft>
              <a:buSzPct val="100000"/>
              <a:buChar char="•"/>
            </a:pPr>
            <a:r>
              <a:rPr lang="en-US" sz="1250" dirty="0">
                <a:solidFill>
                  <a:srgbClr val="C9D6E3"/>
                </a:solidFill>
                <a:latin typeface="Calibri" pitchFamily="34" charset="0"/>
                <a:ea typeface="Calibri" pitchFamily="34" charset="-122"/>
                <a:cs typeface="Calibri" pitchFamily="34" charset="-120"/>
              </a:rPr>
              <a:t>Pool evidence across businesses to get past the measurement floor</a:t>
            </a:r>
            <a:endParaRPr lang="en-US" sz="1250" dirty="0"/>
          </a:p>
          <a:p>
            <a:pPr marL="342900" indent="-342900">
              <a:spcAft>
                <a:spcPts val="800"/>
              </a:spcAft>
              <a:buSzPct val="100000"/>
              <a:buChar char="•"/>
            </a:pPr>
            <a:r>
              <a:rPr lang="en-US" sz="1250" dirty="0">
                <a:solidFill>
                  <a:srgbClr val="C9D6E3"/>
                </a:solidFill>
                <a:latin typeface="Calibri" pitchFamily="34" charset="0"/>
                <a:ea typeface="Calibri" pitchFamily="34" charset="-122"/>
                <a:cs typeface="Calibri" pitchFamily="34" charset="-120"/>
              </a:rPr>
              <a:t>Explain why abstention loses on most of the draws where it acts (114 of 139)</a:t>
            </a:r>
            <a:endParaRPr lang="en-US" sz="1250" dirty="0"/>
          </a:p>
          <a:p>
            <a:pPr marL="342900" indent="-342900">
              <a:spcAft>
                <a:spcPts val="800"/>
              </a:spcAft>
              <a:buSzPct val="100000"/>
              <a:buChar char="•"/>
            </a:pPr>
            <a:r>
              <a:rPr lang="en-US" sz="1250" dirty="0">
                <a:solidFill>
                  <a:srgbClr val="C9D6E3"/>
                </a:solidFill>
                <a:latin typeface="Calibri" pitchFamily="34" charset="0"/>
                <a:ea typeface="Calibri" pitchFamily="34" charset="-122"/>
                <a:cs typeface="Calibri" pitchFamily="34" charset="-120"/>
              </a:rPr>
              <a:t>Models for non-contractual (e-commerce) churn</a:t>
            </a:r>
            <a:endParaRPr lang="en-US" sz="1250" dirty="0"/>
          </a:p>
        </p:txBody>
      </p:sp>
      <p:sp>
        <p:nvSpPr>
          <p:cNvPr id="21" name="Shape 16"/>
          <p:cNvSpPr/>
          <p:nvPr/>
        </p:nvSpPr>
        <p:spPr>
          <a:xfrm>
            <a:off x="548640" y="5120640"/>
            <a:ext cx="4206240" cy="1234440"/>
          </a:xfrm>
          <a:prstGeom prst="roundRect">
            <a:avLst>
              <a:gd name="adj" fmla="val 5926"/>
            </a:avLst>
          </a:prstGeom>
          <a:solidFill>
            <a:srgbClr val="0F9D8A"/>
          </a:solidFill>
          <a:ln/>
        </p:spPr>
      </p:sp>
      <p:sp>
        <p:nvSpPr>
          <p:cNvPr id="22" name="Shape 17"/>
          <p:cNvSpPr/>
          <p:nvPr/>
        </p:nvSpPr>
        <p:spPr>
          <a:xfrm>
            <a:off x="777240" y="5394960"/>
            <a:ext cx="658368" cy="658368"/>
          </a:xfrm>
          <a:prstGeom prst="ellipse">
            <a:avLst/>
          </a:prstGeom>
          <a:solidFill>
            <a:srgbClr val="0B7A6B"/>
          </a:solidFill>
          <a:ln/>
        </p:spPr>
      </p:sp>
      <p:pic>
        <p:nvPicPr>
          <p:cNvPr id="23" name="Image 3" descr="preencoded.png">    </p:cNvPr>
          <p:cNvPicPr>
            <a:picLocks noChangeAspect="1"/>
          </p:cNvPicPr>
          <p:nvPr/>
        </p:nvPicPr>
        <p:blipFill>
          <a:blip r:embed="rId4"/>
          <a:stretch>
            <a:fillRect/>
          </a:stretch>
        </p:blipFill>
        <p:spPr>
          <a:xfrm>
            <a:off x="941832" y="5559552"/>
            <a:ext cx="329184" cy="329184"/>
          </a:xfrm>
          <a:prstGeom prst="rect">
            <a:avLst/>
          </a:prstGeom>
        </p:spPr>
      </p:pic>
      <p:sp>
        <p:nvSpPr>
          <p:cNvPr id="24" name="Text 18"/>
          <p:cNvSpPr txBox="1"/>
          <p:nvPr/>
        </p:nvSpPr>
        <p:spPr>
          <a:xfrm>
            <a:off x="1645920" y="5285232"/>
            <a:ext cx="2926080" cy="347472"/>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Demo video</a:t>
            </a:r>
            <a:endParaRPr lang="en-US" sz="1700" dirty="0"/>
          </a:p>
        </p:txBody>
      </p:sp>
      <p:sp>
        <p:nvSpPr>
          <p:cNvPr id="25" name="Text 19"/>
          <p:cNvSpPr txBox="1"/>
          <p:nvPr/>
        </p:nvSpPr>
        <p:spPr>
          <a:xfrm>
            <a:off x="1645920" y="5650992"/>
            <a:ext cx="2971800" cy="548640"/>
          </a:xfrm>
          <a:prstGeom prst="rect">
            <a:avLst/>
          </a:prstGeom>
          <a:noFill/>
          <a:ln/>
        </p:spPr>
        <p:txBody>
          <a:bodyPr wrap="square" lIns="0" tIns="0" rIns="0" bIns="0" rtlCol="0" anchor="t"/>
          <a:lstStyle/>
          <a:p>
            <a:pPr indent="0" marL="0">
              <a:buNone/>
            </a:pPr>
            <a:r>
              <a:rPr lang="en-US" sz="1200" i="1" u="sng" dirty="0">
                <a:solidFill>
                  <a:srgbClr val="FFFFFF"/>
                </a:solidFill>
                <a:latin typeface="Calibri" pitchFamily="34" charset="0"/>
                <a:ea typeface="Calibri" pitchFamily="34" charset="-122"/>
                <a:cs typeface="Calibri" pitchFamily="34" charset="-120"/>
              </a:rPr>
              <a:t>Paste the Google Drive link here</a:t>
            </a:r>
            <a:endParaRPr lang="en-US" sz="1200" dirty="0"/>
          </a:p>
        </p:txBody>
      </p:sp>
      <p:sp>
        <p:nvSpPr>
          <p:cNvPr id="26" name="Shape 20"/>
          <p:cNvSpPr/>
          <p:nvPr/>
        </p:nvSpPr>
        <p:spPr>
          <a:xfrm>
            <a:off x="4937760" y="5120640"/>
            <a:ext cx="6720840" cy="1234440"/>
          </a:xfrm>
          <a:prstGeom prst="roundRect">
            <a:avLst>
              <a:gd name="adj" fmla="val 5926"/>
            </a:avLst>
          </a:prstGeom>
          <a:solidFill>
            <a:srgbClr val="1D3651"/>
          </a:solidFill>
          <a:ln/>
        </p:spPr>
      </p:sp>
      <p:sp>
        <p:nvSpPr>
          <p:cNvPr id="27" name="Text 21"/>
          <p:cNvSpPr txBox="1"/>
          <p:nvPr/>
        </p:nvSpPr>
        <p:spPr>
          <a:xfrm>
            <a:off x="5138928" y="5193792"/>
            <a:ext cx="3657600" cy="256032"/>
          </a:xfrm>
          <a:prstGeom prst="rect">
            <a:avLst/>
          </a:prstGeom>
          <a:noFill/>
          <a:ln/>
        </p:spPr>
        <p:txBody>
          <a:bodyPr wrap="square" lIns="0" tIns="0" rIns="0" bIns="0" rtlCol="0" anchor="t"/>
          <a:lstStyle/>
          <a:p>
            <a:pPr indent="0" marL="0">
              <a:buNone/>
            </a:pPr>
            <a:r>
              <a:rPr lang="en-US" sz="1100" b="1" dirty="0">
                <a:solidFill>
                  <a:srgbClr val="43C6B1"/>
                </a:solidFill>
                <a:latin typeface="Calibri" pitchFamily="34" charset="0"/>
                <a:ea typeface="Calibri" pitchFamily="34" charset="-122"/>
                <a:cs typeface="Calibri" pitchFamily="34" charset="-120"/>
              </a:rPr>
              <a:t>Key references</a:t>
            </a:r>
            <a:endParaRPr lang="en-US" sz="1100" dirty="0"/>
          </a:p>
        </p:txBody>
      </p:sp>
      <p:sp>
        <p:nvSpPr>
          <p:cNvPr id="28" name="Text 22"/>
          <p:cNvSpPr txBox="1"/>
          <p:nvPr/>
        </p:nvSpPr>
        <p:spPr>
          <a:xfrm>
            <a:off x="5138928" y="5468112"/>
            <a:ext cx="6400800" cy="841248"/>
          </a:xfrm>
          <a:prstGeom prst="rect">
            <a:avLst/>
          </a:prstGeom>
          <a:noFill/>
          <a:ln/>
        </p:spPr>
        <p:txBody>
          <a:bodyPr wrap="square" lIns="0" tIns="0" rIns="0" bIns="0" rtlCol="0" anchor="t"/>
          <a:lstStyle/>
          <a:p>
            <a:pPr indent="0" marL="0">
              <a:spcAft>
                <a:spcPts val="100"/>
              </a:spcAft>
              <a:buNone/>
            </a:pPr>
            <a:r>
              <a:rPr lang="en-US" sz="950" dirty="0">
                <a:solidFill>
                  <a:srgbClr val="C9D6E3"/>
                </a:solidFill>
                <a:latin typeface="Calibri" pitchFamily="34" charset="0"/>
                <a:ea typeface="Calibri" pitchFamily="34" charset="-122"/>
                <a:cs typeface="Calibri" pitchFamily="34" charset="-120"/>
              </a:rPr>
              <a:t>Ascarza (2018), JMR  ·  Ascarza, Iyengar &amp; Schleicher (2016), JMR  ·  Lemmens &amp; Gupta (2020), Marketing Science</a:t>
            </a:r>
            <a:endParaRPr lang="en-US" sz="950" dirty="0"/>
          </a:p>
          <a:p>
            <a:pPr indent="0" marL="0">
              <a:spcAft>
                <a:spcPts val="100"/>
              </a:spcAft>
              <a:buNone/>
            </a:pPr>
            <a:r>
              <a:rPr lang="en-US" sz="950" dirty="0">
                <a:solidFill>
                  <a:srgbClr val="C9D6E3"/>
                </a:solidFill>
                <a:latin typeface="Calibri" pitchFamily="34" charset="0"/>
                <a:ea typeface="Calibri" pitchFamily="34" charset="-122"/>
                <a:cs typeface="Calibri" pitchFamily="34" charset="-120"/>
              </a:rPr>
              <a:t>Devriendt et al. (2021), Information Sciences  ·  Künzel et al. (2019), PNAS  ·  Kaufman et al. (2012) Leakage</a:t>
            </a:r>
            <a:endParaRPr lang="en-US" sz="950" dirty="0"/>
          </a:p>
          <a:p>
            <a:pPr indent="0" marL="0">
              <a:spcAft>
                <a:spcPts val="100"/>
              </a:spcAft>
              <a:buNone/>
            </a:pPr>
            <a:r>
              <a:rPr lang="en-US" sz="950" dirty="0">
                <a:solidFill>
                  <a:srgbClr val="C9D6E3"/>
                </a:solidFill>
                <a:latin typeface="Calibri" pitchFamily="34" charset="0"/>
                <a:ea typeface="Calibri" pitchFamily="34" charset="-122"/>
                <a:cs typeface="Calibri" pitchFamily="34" charset="-120"/>
              </a:rPr>
              <a:t>Cox (1972)  ·  Ishwaran et al. (2008) RSF  ·  Katzman et al. (2018) DeepSurv  ·  Gelman et al. (2013) BDA</a:t>
            </a:r>
            <a:endParaRPr lang="en-US" sz="950" dirty="0"/>
          </a:p>
          <a:p>
            <a:pPr indent="0" marL="0">
              <a:spcAft>
                <a:spcPts val="100"/>
              </a:spcAft>
              <a:buNone/>
            </a:pPr>
            <a:r>
              <a:rPr lang="en-US" sz="950" u="sng" dirty="0">
                <a:solidFill>
                  <a:srgbClr val="8FA3B8"/>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Full reference list: paper, DOI 10.5281/zenodo.22009470  ·  code: github.com/PrashamJ17/PBL-Proj</a:t>
            </a:r>
            <a:endParaRPr lang="en-US" sz="950" dirty="0"/>
          </a:p>
        </p:txBody>
      </p:sp>
      <p:sp>
        <p:nvSpPr>
          <p:cNvPr id="29" name="Text 23"/>
          <p:cNvSpPr txBox="1"/>
          <p:nvPr/>
        </p:nvSpPr>
        <p:spPr>
          <a:xfrm>
            <a:off x="548640" y="6492240"/>
            <a:ext cx="8686800" cy="228600"/>
          </a:xfrm>
          <a:prstGeom prst="rect">
            <a:avLst/>
          </a:prstGeom>
          <a:noFill/>
          <a:ln/>
        </p:spPr>
        <p:txBody>
          <a:bodyPr wrap="square" lIns="0" tIns="0" rIns="0" bIns="0" rtlCol="0" anchor="t"/>
          <a:lstStyle/>
          <a:p>
            <a:pPr indent="0" marL="0">
              <a:buNone/>
            </a:pPr>
            <a:r>
              <a:rPr lang="en-US" sz="900" dirty="0">
                <a:solidFill>
                  <a:srgbClr val="8FA3B8"/>
                </a:solidFill>
                <a:latin typeface="Calibri" pitchFamily="34" charset="0"/>
                <a:ea typeface="Calibri" pitchFamily="34" charset="-122"/>
                <a:cs typeface="Calibri" pitchFamily="34" charset="-120"/>
              </a:rPr>
              <a:t>RetainIQ  ·  Prasham Jain (2427030155)  ·  Mentor: Dr. Rishi Gupta  ·  Manipal University Jaipur</a:t>
            </a:r>
            <a:endParaRPr lang="en-US" sz="900" dirty="0"/>
          </a:p>
        </p:txBody>
      </p:sp>
      <p:sp>
        <p:nvSpPr>
          <p:cNvPr id="30" name="Text 24"/>
          <p:cNvSpPr txBox="1"/>
          <p:nvPr/>
        </p:nvSpPr>
        <p:spPr>
          <a:xfrm>
            <a:off x="10725912" y="6492240"/>
            <a:ext cx="914400" cy="228600"/>
          </a:xfrm>
          <a:prstGeom prst="rect">
            <a:avLst/>
          </a:prstGeom>
          <a:noFill/>
          <a:ln/>
        </p:spPr>
        <p:txBody>
          <a:bodyPr wrap="square" lIns="0" tIns="0" rIns="0" bIns="0" rtlCol="0" anchor="t"/>
          <a:lstStyle/>
          <a:p>
            <a:pPr algn="r" indent="0" marL="0">
              <a:buNone/>
            </a:pPr>
            <a:r>
              <a:rPr lang="en-US" sz="900" dirty="0">
                <a:solidFill>
                  <a:srgbClr val="8FA3B8"/>
                </a:solidFill>
                <a:latin typeface="Calibri" pitchFamily="34" charset="0"/>
                <a:ea typeface="Calibri" pitchFamily="34" charset="-122"/>
                <a:cs typeface="Calibri" pitchFamily="34" charset="-120"/>
              </a:rPr>
              <a:t>8 / 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RetainIQ — Project Presentation</dc:title>
  <dc:subject>PptxGenJS Presentation</dc:subject>
  <dc:creator>Prasham Jain</dc:creator>
  <cp:lastModifiedBy>Prasham Jain</cp:lastModifiedBy>
  <cp:revision>1</cp:revision>
  <dcterms:created xsi:type="dcterms:W3CDTF">2026-10-08T15:05:39Z</dcterms:created>
  <dcterms:modified xsi:type="dcterms:W3CDTF">2026-10-08T15:05:39Z</dcterms:modified>
</cp:coreProperties>
</file>