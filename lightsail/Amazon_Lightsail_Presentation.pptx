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Monthly cost (USD)</c:v>
                </c:pt>
              </c:strCache>
            </c:strRef>
          </c:tx>
          <c:spPr>
            <a:solidFill>
              <a:srgbClr val="00A1C9"/>
            </a:solidFill>
            <a:effectLst/>
          </c:spPr>
          <c:invertIfNegative val="0"/>
          <c:dLbls>
            <c:numFmt formatCode="&quot;$&quot;#,##0.00" sourceLinked="0"/>
            <c:txPr>
              <a:bodyPr/>
              <a:lstStyle/>
              <a:p>
                <a:pPr>
                  <a:defRPr b="1" i="0" strike="noStrike" sz="1100" u="none">
                    <a:solidFill>
                      <a:srgbClr val="232F3E"/>
                    </a:solidFill>
                    <a:latin typeface="Calibri"/>
                  </a:defRPr>
                </a:pPr>
              </a:p>
            </c:txPr>
            <c:showLegendKey val="0"/>
            <c:showVal val="1"/>
            <c:showCatName val="0"/>
            <c:showSerName val="0"/>
            <c:showPercent val="0"/>
            <c:showBubbleSize val="0"/>
            <c:showLeaderLines val="0"/>
          </c:dLbls>
          <c:dPt>
            <c:idx val="0"/>
            <c:invertIfNegative val="0"/>
            <c:bubble3D val="0"/>
            <c:spPr>
              <a:solidFill>
                <a:srgbClr val="00A1C9"/>
              </a:solidFill>
              <a:effectLst/>
            </c:spPr>
          </c:dPt>
          <c:dPt>
            <c:idx val="1"/>
            <c:invertIfNegative val="0"/>
            <c:bubble3D val="0"/>
            <c:spPr>
              <a:solidFill>
                <a:srgbClr val="8FA3B3"/>
              </a:solidFill>
              <a:effectLst/>
            </c:spPr>
          </c:dPt>
          <c:dPt>
            <c:idx val="2"/>
            <c:invertIfNegative val="0"/>
            <c:bubble3D val="0"/>
            <c:spPr>
              <a:solidFill>
                <a:srgbClr val="6E8598"/>
              </a:solidFill>
              <a:effectLst/>
            </c:spPr>
          </c:dPt>
          <c:dPt>
            <c:idx val="3"/>
            <c:invertIfNegative val="0"/>
            <c:bubble3D val="0"/>
            <c:spPr>
              <a:solidFill>
                <a:srgbClr val="A8342B"/>
              </a:solidFill>
              <a:effectLst/>
            </c:spPr>
          </c:dPt>
          <c:cat>
            <c:multiLvlStrRef>
              <c:f>Sheet1!$A$2:$A$5</c:f>
              <c:multiLvlStrCache>
                <c:ptCount val="4"/>
                <c:lvl>
                  <c:pt idx="0">
                    <c:v>Lightsail Small
(any volume)</c:v>
                  </c:pt>
                  <c:pt idx="1">
                    <c:v>EC2 equivalent
100 GB out</c:v>
                  </c:pt>
                  <c:pt idx="2">
                    <c:v>EC2 equivalent
1 TB out</c:v>
                  </c:pt>
                  <c:pt idx="3">
                    <c:v>EC2 equivalent
3 TB out</c:v>
                  </c:pt>
                </c:lvl>
              </c:multiLvlStrCache>
            </c:multiLvlStrRef>
          </c:cat>
          <c:val>
            <c:numRef>
              <c:f>Sheet1!$B$2:$B$5</c:f>
              <c:numCache>
                <c:formatCode>General</c:formatCode>
                <c:ptCount val="4"/>
                <c:pt idx="0">
                  <c:v>12</c:v>
                </c:pt>
                <c:pt idx="1">
                  <c:v>23.63</c:v>
                </c:pt>
                <c:pt idx="2">
                  <c:v>106.79</c:v>
                </c:pt>
                <c:pt idx="3">
                  <c:v>291.11</c:v>
                </c:pt>
              </c:numCache>
            </c:numRef>
          </c:val>
        </c:ser>
        <c:dLbls>
          <c:numFmt formatCode="&quot;$&quot;#,##0.00" sourceLinked="0"/>
          <c:txPr>
            <a:bodyPr/>
            <a:lstStyle/>
            <a:p>
              <a:pPr>
                <a:defRPr b="1" i="0" strike="noStrike" sz="1100" u="none">
                  <a:solidFill>
                    <a:srgbClr val="232F3E"/>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32F3E"/>
                </a:solidFill>
                <a:latin typeface="Calibri"/>
              </a:defRPr>
            </a:pPr>
            <a:endParaRPr lang="en-US"/>
          </a:p>
        </c:txPr>
        <c:crossAx val="2094734552"/>
        <c:crosses val="autoZero"/>
        <c:auto val="1"/>
        <c:lblAlgn val="ctr"/>
        <c:noMultiLvlLbl val="1"/>
      </c:catAx>
      <c:valAx>
        <c:axId val="2094734552"/>
        <c:scaling>
          <c:orientation val="minMax"/>
          <c:max val="330"/>
          <c:min val="0"/>
        </c:scaling>
        <c:delete val="0"/>
        <c:axPos val="l"/>
        <c:majorGridlines>
          <c:spPr>
            <a:ln w="12700" cap="flat">
              <a:solidFill>
                <a:srgbClr val="E4EAEE"/>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000" b="0" i="0" u="none" strike="noStrike">
                <a:solidFill>
                  <a:srgbClr val="5A6B7B"/>
                </a:solidFill>
                <a:latin typeface="Calibri"/>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 target 16s]  Stand still. Let the title slide settle for two seconds before speaking.
Good morning. My name is Hridiyansh Shukla, registration number 2427030591. Today I am presenting on Amazon Lightsail — Amazon Web Services' fixed-price virtual private server, and the reason so many people describe it as Platform-as-a-Service, 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 · target 18s]  Move briskly. Do not read all eight items aloud — gesture across them.
I have structured this in eight parts. We begin with the problem Lightsail was built to solve. We then open the service up — its anatomy, its pricing, and its competitors — and we close with its limitations and my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 · target 47s]  Point to the three statistics on the right when you reach the last sentence.
Amazon EC2 is extraordinarily capable, and that is precisely the problem. Before a raw EC2 instance serves a single request, you must design a virtual private cloud, a subnet, a route table, an internet gateway, a security group, a storage volume, a key pair and an elastic IP address. Second, the bill arrives on four separate meters — compute, storage, outbound data and the address itself — so a small site simply cannot forecast next month's invoice. And third, there is a skills mismatch: most people who want a website need a running server, not a cloud architecture qualification. The numbers on the right make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[4/20 · target 46s]  Trace the Lightsail column downward with your hand as you describe the three colours.
Reading left to right: on-premises, you manage every layer. With Infrastructure-as-a-Service — EC2 — Amazon takes the four hardware layers and hands you the operating system upward. With true Platform-as-a-Service — Heroku, or Elastic Beanstalk — Amazon takes the operating system and the runtime too, and you never meet a server. Lightsail sits in between, and the teal band is why. Amazon pre-builds your operating system and your runtime, exactly like a PaaS — and then hands you the root password anyway. You get PaaS convenience on day one and IaaS control on day two. That hybrid position is the entire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 · target 36s]  Emphasise 'nothing is a proprietary dead end' — it sets up slide 18.
Formally, then: Lightsail is AWS's virtual private server offering — pre-configured compute, storage, networking and managed services, sold as fixed-price monthly bundles through a deliberately simplified console. It was announced at re:Invent on the thirtieth of November 2016, and it is still expanding — Hong Kong, São Paulo and Spain were added as recently as June this year. The fourth card matters most: instances are EC2, disks are EBS, DNS is Route 53. Nothing here is a proprietary dead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 · target 39s]  Follow the two orange arrows down the diagram as you speak.
So how is it built? Lightsail is not a new infrastructure platform. It is a curated control plane over services Amazon already sells. The control plane holds the bundles, the blueprints and the opinionated defaults. Underneath, every resource you create is an ordinary AWS primitive with most of its configuration surface hidden — an instance is EC2, a load balancer is Elastic Load Balancing with a free certificate, a distribution is CloudFront. That hiding is the product. You are trading knobs for a price you can predict.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[7/20 · target 26s]  Do not read the table. Name three rows and move on.
Ten resource types cover the entire service. I will not read the table, but notice the shape of it: instances and containers for compute; managed databases, block storage and buckets for state; load balancers, distributions, DNS zones and static addresses for delivery. The right-hand column is the honest one — every single row is an existing AWS service, simplified.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[8/20 · target 40s]  The orange box is the most current fact in the deck. Slow down for it.
Creating a server is therefore only two decisions. The blueprint is the software — a plain operating system, or a ready-built stack such as WordPress, LAMP, Node.js or Magento, already installed. The bundle is the hardware and the price, fixed together. One point of currency, in the orange box: Amazon is retiring the Bitnami-packaged blueprints. WordPress, LAMP, Nginx and Node.js images from Bitnami retire this November; the remainder follow in May 2027. AWS-maintained replacements began shipping in January. If you are starting a project today, choose the AWS-maintained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[9/20 · target 40s]  Read only the first and last rows aloud. Then the three notes underneath.
Here is the published price list for Linux general-purpose bundles. Five dollars a month buys half a gigabyte of memory, two virtual CPUs, twenty gigabytes of solid-state storage and a terabyte of outbound transfer. At the top, three hundred and eighty-four dollars buys sixty-four gigabytes and eight terabytes of transfer. Three things worth noting underneath. A public IPv4 address is now the premium — go IPv6-only and the entry tier falls to three dollars fifty. Transfer beyond the allowance is metered. And selected entry bundles carry three months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[10/20 · target 23s]  Point at the navy bar and deliver that line as the takeaway.
Everything else follows the same pattern. Containers from seven dollars a node. A managed database from fifteen. A load balancer at eighteen, certificate included. Object storage from one dollar, free for a year. The line at the bottom is the one to remember: Amazon is selling you an allowance, not a 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[11/20 · target 47s]  Give the audience three seconds to read the chart before you explain it.
This is where that matters. I priced a Lightsail Small bundle — twelve dollars, three terabytes of transfer included — against the same thing built on EC2 at list price. At a hundred gigabytes of traffic, EC2 costs about twenty-four dollars. At three terabytes — the allowance you already paid for — two hundred and ninety-one dollars. But let me be honest about that chart. Compute is not what drives the gap; data transfer is. At low traffic the two are close, and EC2 wins ground back through Savings Plans. Lightsail's real advantage is bandwidth included in the price, and a number you knew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[12/20 · target 37s]  End on the red line at the bottom. Pause after it.
Every instance carries its own default-deny firewall. A load balancer issues and renews TLS certificates free of charge. A static IPv4 address costs nothing while attached. And resources sit in a Lightsail-managed private cloud that peers with your main one in a single click. But note the line at the bottom, because it is the most commonly misunderstood point about this service: a simpler console does not shrink your security responsibility. Patching the operating system inside that blueprint is still your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[13/20 · target 37s]  Four rows only: pricing, scaling, discounts, best fit.
Four rows tell the story. Pricing: a fixed bundle against per-second metering. Scaling: Lightsail has no auto scaling for instances at all — capacity is a manual decision. Discounts: Lightsail has no Reserved Instances, no Savings Plans, no Spot. The list price is the price. And best fit: predictable small workloads against elastic or compliance-heavy architectures. But these two are not rivals. Lightsail is the on-ramp; EC2 is the motorway. The snapshot export exists precisely so that the journey between them is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[14/20 · target 35s]  Concede the price point honestly — it strengthens the next sentence.
Against the wider market, on raw price per gigabyte of memory, Lightsail is competitive rather than cheapest. DigitalOcean starts lower; Linode gives more memory for the same five dollars. Lightsail wins on two things a price list does not show. First, the included transfer allowance — which is exactly where independent VPS bills tend to break. Second, the resource underneath is ordinary AWS, so outgrowing Lightsail is a migration inside one account rather than a change of vendor.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[15/20 · target 37s]  Count the six steps on your fingers. Land firmly on 'ten minutes'.
In practice it looks like this. Pick the WordPress blueprint. Pick a bundle. Create the instance — it boots into a running site in about a minute. Attach a static address. Point a DNS record at it. Enable HTTPS. That is a live, secured, production WordPress site in under ten minutes. The same result on raw EC2 needs all eight of those resources built and wired together first. And none of this is console-only — every step is a single command-line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[16/20 · target 29s]  Two examples aloud, then the closing line.
Websites and blogs, where the bandwidth allowance comfortably covers ordinary traffic. Development and test environments that are created for a sprint and deleted afterwards. Small business applications for teams with no operations staff. Storefronts, coursework, and research computing through Lightsail for Research. The common thread is a workload whose ceiling is known in advance. Lightsail is a poor fit the moment demand becomes genuinely unpredictable.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[17/20 · target 35s]  Deliver the navy bar as a considered judgement, not an apology.
Which brings me to the limitations. There is no auto scaling. There are no discount instruments. Access control is coarse, so Lightsail is unsuitable wherever least-privilege access is formally audited. Entry bundles run on burstable CPU, which throttles under sustained load. Now — none of these is a defect. Every one of them is the deliberate cost of a fixed price. What matters is that each is also a signal that your workload may have outgrown the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[18/20 · target 35s]  This is the strategic argument. Deliver it as the strongest claim in the talk.
Stay while traffic is predictable, the estate is small, and cost certainty matters more than tuning. Move to EC2 when you need auto scaling, more than sixty-four gigabytes on one machine, proper identity management, or Savings Plans economics. And the exit is built in. Take a snapshot, export it to EC2, and Amazon creates a machine image and a volume snapshot for you to launch. Your disk image is standard AWS — migration is a copy, not a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[19/20 · target 47s]  Slow down. One beat between each of the four points.
To conclude, four things worth remembering. First, Lightsail sells predictability, not power — the bundle is a price you know before you deploy. Second, it is PaaS-Lite, not PaaS: Amazon pre-builds the operating system and runtime, then still gives you root. Third, the saving is in the bandwidth, not the compute. And fourth, its limitations are its exit signs — when they start to hurt, snapshot and export to EC2. Lightsail is best understood not as a cheaper AWS, but as a narrower one, deliberately designed so that outgrowing it is the expected outcome rather than a failure.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[20/20 · target 12s]  Hold this slide during questions.
My sources are listed here — principally the AWS Lightsail pricing pages, the user guide, and the service announcements from 2026. I will leave this slide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7178040" y="0"/>
            <a:ext cx="5013655" cy="6858000"/>
          </a:xfrm>
          <a:prstGeom prst="rect">
            <a:avLst/>
          </a:prstGeom>
          <a:solidFill>
            <a:srgbClr val="33475B"/>
          </a:solidFill>
          <a:ln/>
        </p:spPr>
      </p:sp>
      <p:sp>
        <p:nvSpPr>
          <p:cNvPr id="3" name="Text 1"/>
          <p:cNvSpPr/>
          <p:nvPr/>
        </p:nvSpPr>
        <p:spPr>
          <a:xfrm>
            <a:off x="566928" y="1170432"/>
            <a:ext cx="6309360" cy="274320"/>
          </a:xfrm>
          <a:prstGeom prst="rect">
            <a:avLst/>
          </a:prstGeom>
          <a:noFill/>
          <a:ln/>
        </p:spPr>
        <p:txBody>
          <a:bodyPr wrap="square" lIns="0" tIns="0" rIns="0" bIns="0" rtlCol="0" anchor="ctr"/>
          <a:lstStyle/>
          <a:p>
            <a:pPr indent="0" marL="0">
              <a:buNone/>
            </a:pPr>
            <a:r>
              <a:rPr lang="en-US" sz="1150" b="1" spc="220" kern="0" dirty="0">
                <a:solidFill>
                  <a:srgbClr val="FF9900"/>
                </a:solidFill>
                <a:latin typeface="Calibri" pitchFamily="34" charset="0"/>
                <a:ea typeface="Calibri" pitchFamily="34" charset="-122"/>
                <a:cs typeface="Calibri" pitchFamily="34" charset="-120"/>
              </a:rPr>
              <a:t>CLOUD INFRASTRUCTURE  ·  SEMINAR PRESENTATION</a:t>
            </a:r>
            <a:endParaRPr lang="en-US" sz="1150" dirty="0"/>
          </a:p>
        </p:txBody>
      </p:sp>
      <p:sp>
        <p:nvSpPr>
          <p:cNvPr id="4" name="Text 2"/>
          <p:cNvSpPr/>
          <p:nvPr/>
        </p:nvSpPr>
        <p:spPr>
          <a:xfrm>
            <a:off x="566928" y="1572768"/>
            <a:ext cx="6309360" cy="8686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Amazon Lightsail</a:t>
            </a:r>
            <a:endParaRPr lang="en-US" sz="4800" dirty="0"/>
          </a:p>
        </p:txBody>
      </p:sp>
      <p:sp>
        <p:nvSpPr>
          <p:cNvPr id="5" name="Text 3"/>
          <p:cNvSpPr/>
          <p:nvPr/>
        </p:nvSpPr>
        <p:spPr>
          <a:xfrm>
            <a:off x="566928" y="2432304"/>
            <a:ext cx="6309360" cy="457200"/>
          </a:xfrm>
          <a:prstGeom prst="rect">
            <a:avLst/>
          </a:prstGeom>
          <a:noFill/>
          <a:ln/>
        </p:spPr>
        <p:txBody>
          <a:bodyPr wrap="square" lIns="0" tIns="0" rIns="0" bIns="0" rtlCol="0" anchor="ctr"/>
          <a:lstStyle/>
          <a:p>
            <a:pPr indent="0" marL="0">
              <a:buNone/>
            </a:pPr>
            <a:r>
              <a:rPr lang="en-US" sz="2400" i="1" dirty="0">
                <a:solidFill>
                  <a:srgbClr val="FF9900"/>
                </a:solidFill>
                <a:latin typeface="Cambria" pitchFamily="34" charset="0"/>
                <a:ea typeface="Cambria" pitchFamily="34" charset="-122"/>
                <a:cs typeface="Cambria" pitchFamily="34" charset="-120"/>
              </a:rPr>
              <a:t>Platform-as-a-Service, Lite</a:t>
            </a:r>
            <a:endParaRPr lang="en-US" sz="2400" dirty="0"/>
          </a:p>
        </p:txBody>
      </p:sp>
      <p:sp>
        <p:nvSpPr>
          <p:cNvPr id="6" name="Text 4"/>
          <p:cNvSpPr/>
          <p:nvPr/>
        </p:nvSpPr>
        <p:spPr>
          <a:xfrm>
            <a:off x="566928" y="3035808"/>
            <a:ext cx="6172200" cy="868680"/>
          </a:xfrm>
          <a:prstGeom prst="rect">
            <a:avLst/>
          </a:prstGeom>
          <a:noFill/>
          <a:ln/>
        </p:spPr>
        <p:txBody>
          <a:bodyPr wrap="square" lIns="0" tIns="0" rIns="0" bIns="0" rtlCol="0" anchor="ctr"/>
          <a:lstStyle/>
          <a:p>
            <a:pPr indent="0" marL="0">
              <a:lnSpc>
                <a:spcPct val="120000"/>
              </a:lnSpc>
              <a:buNone/>
            </a:pPr>
            <a:r>
              <a:rPr lang="en-US" sz="1400" dirty="0">
                <a:solidFill>
                  <a:srgbClr val="B9C6D0"/>
                </a:solidFill>
                <a:latin typeface="Calibri" pitchFamily="34" charset="0"/>
                <a:ea typeface="Calibri" pitchFamily="34" charset="-122"/>
                <a:cs typeface="Calibri" pitchFamily="34" charset="-120"/>
              </a:rPr>
              <a:t>How AWS packaged its own building blocks into a fixed-price virtual private server — and what you trade away to get that simplicity.</a:t>
            </a:r>
            <a:endParaRPr lang="en-US" sz="1400" dirty="0"/>
          </a:p>
        </p:txBody>
      </p:sp>
      <p:sp>
        <p:nvSpPr>
          <p:cNvPr id="7" name="Shape 5"/>
          <p:cNvSpPr/>
          <p:nvPr/>
        </p:nvSpPr>
        <p:spPr>
          <a:xfrm>
            <a:off x="566928" y="4160520"/>
            <a:ext cx="1371600" cy="32004"/>
          </a:xfrm>
          <a:prstGeom prst="rect">
            <a:avLst/>
          </a:prstGeom>
          <a:solidFill>
            <a:srgbClr val="FF9900"/>
          </a:solidFill>
          <a:ln/>
        </p:spPr>
      </p:sp>
      <p:sp>
        <p:nvSpPr>
          <p:cNvPr id="8" name="Text 6"/>
          <p:cNvSpPr/>
          <p:nvPr/>
        </p:nvSpPr>
        <p:spPr>
          <a:xfrm>
            <a:off x="566928" y="4370832"/>
            <a:ext cx="6309360" cy="237744"/>
          </a:xfrm>
          <a:prstGeom prst="rect">
            <a:avLst/>
          </a:prstGeom>
          <a:noFill/>
          <a:ln/>
        </p:spPr>
        <p:txBody>
          <a:bodyPr wrap="square" lIns="0" tIns="0" rIns="0" bIns="0" rtlCol="0" anchor="ctr"/>
          <a:lstStyle/>
          <a:p>
            <a:pPr indent="0" marL="0">
              <a:buNone/>
            </a:pPr>
            <a:r>
              <a:rPr lang="en-US" sz="1100" dirty="0">
                <a:solidFill>
                  <a:srgbClr val="8A9AA8"/>
                </a:solidFill>
                <a:latin typeface="Calibri" pitchFamily="34" charset="0"/>
                <a:ea typeface="Calibri" pitchFamily="34" charset="-122"/>
                <a:cs typeface="Calibri" pitchFamily="34" charset="-120"/>
              </a:rPr>
              <a:t>Presented by</a:t>
            </a:r>
            <a:endParaRPr lang="en-US" sz="1100" dirty="0"/>
          </a:p>
        </p:txBody>
      </p:sp>
      <p:sp>
        <p:nvSpPr>
          <p:cNvPr id="9" name="Text 7"/>
          <p:cNvSpPr/>
          <p:nvPr/>
        </p:nvSpPr>
        <p:spPr>
          <a:xfrm>
            <a:off x="566928" y="4608576"/>
            <a:ext cx="6309360" cy="42062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Hridiyansh Shukla</a:t>
            </a:r>
            <a:endParaRPr lang="en-US" sz="2600" dirty="0"/>
          </a:p>
        </p:txBody>
      </p:sp>
      <p:sp>
        <p:nvSpPr>
          <p:cNvPr id="10" name="Text 8"/>
          <p:cNvSpPr/>
          <p:nvPr/>
        </p:nvSpPr>
        <p:spPr>
          <a:xfrm>
            <a:off x="566928" y="5047488"/>
            <a:ext cx="6309360" cy="292608"/>
          </a:xfrm>
          <a:prstGeom prst="rect">
            <a:avLst/>
          </a:prstGeom>
          <a:noFill/>
          <a:ln/>
        </p:spPr>
        <p:txBody>
          <a:bodyPr wrap="square" lIns="0" tIns="0" rIns="0" bIns="0" rtlCol="0" anchor="ctr"/>
          <a:lstStyle/>
          <a:p>
            <a:pPr indent="0" marL="0">
              <a:buNone/>
            </a:pPr>
            <a:r>
              <a:rPr lang="en-US" sz="1400" dirty="0">
                <a:solidFill>
                  <a:srgbClr val="FF9900"/>
                </a:solidFill>
                <a:latin typeface="Calibri" pitchFamily="34" charset="0"/>
                <a:ea typeface="Calibri" pitchFamily="34" charset="-122"/>
                <a:cs typeface="Calibri" pitchFamily="34" charset="-120"/>
              </a:rPr>
              <a:t>Registration No. 2427030591</a:t>
            </a:r>
            <a:endParaRPr lang="en-US" sz="1400" dirty="0"/>
          </a:p>
        </p:txBody>
      </p:sp>
      <p:sp>
        <p:nvSpPr>
          <p:cNvPr id="11" name="Shape 9"/>
          <p:cNvSpPr/>
          <p:nvPr/>
        </p:nvSpPr>
        <p:spPr>
          <a:xfrm>
            <a:off x="7635240" y="1298448"/>
            <a:ext cx="4096512" cy="1280160"/>
          </a:xfrm>
          <a:prstGeom prst="roundRect">
            <a:avLst>
              <a:gd name="adj" fmla="val 6429"/>
            </a:avLst>
          </a:prstGeom>
          <a:solidFill>
            <a:srgbClr val="232F3E"/>
          </a:solidFill>
          <a:ln w="12700">
            <a:solidFill>
              <a:srgbClr val="4A5D70"/>
            </a:solidFill>
            <a:prstDash val="solid"/>
          </a:ln>
        </p:spPr>
      </p:sp>
      <p:sp>
        <p:nvSpPr>
          <p:cNvPr id="12" name="Shape 10"/>
          <p:cNvSpPr/>
          <p:nvPr/>
        </p:nvSpPr>
        <p:spPr>
          <a:xfrm>
            <a:off x="7882128" y="1682496"/>
            <a:ext cx="512064" cy="512064"/>
          </a:xfrm>
          <a:prstGeom prst="ellipse">
            <a:avLst/>
          </a:prstGeom>
          <a:solidFill>
            <a:srgbClr val="FF9900"/>
          </a:solidFill>
          <a:ln/>
        </p:spPr>
      </p:sp>
      <p:pic>
        <p:nvPicPr>
          <p:cNvPr id="13" name="Image 0" descr="/home/user/PBL-Proj/lightsail/assets/icon-clock.png">    </p:cNvPr>
          <p:cNvPicPr>
            <a:picLocks noChangeAspect="1"/>
          </p:cNvPicPr>
          <p:nvPr/>
        </p:nvPicPr>
        <p:blipFill>
          <a:blip r:embed="rId1"/>
          <a:stretch>
            <a:fillRect/>
          </a:stretch>
        </p:blipFill>
        <p:spPr>
          <a:xfrm>
            <a:off x="8015265" y="1815633"/>
            <a:ext cx="245791" cy="245791"/>
          </a:xfrm>
          <a:prstGeom prst="rect">
            <a:avLst/>
          </a:prstGeom>
        </p:spPr>
      </p:pic>
      <p:sp>
        <p:nvSpPr>
          <p:cNvPr id="14" name="Text 11"/>
          <p:cNvSpPr/>
          <p:nvPr/>
        </p:nvSpPr>
        <p:spPr>
          <a:xfrm>
            <a:off x="8558784" y="1481328"/>
            <a:ext cx="3017520" cy="365760"/>
          </a:xfrm>
          <a:prstGeom prst="rect">
            <a:avLst/>
          </a:prstGeom>
          <a:noFill/>
          <a:ln/>
        </p:spPr>
        <p:txBody>
          <a:bodyPr wrap="square" lIns="0" tIns="0" rIns="0" bIns="0" rtlCol="0" anchor="ctr"/>
          <a:lstStyle/>
          <a:p>
            <a:pPr indent="0" marL="0">
              <a:buNone/>
            </a:pPr>
            <a:r>
              <a:rPr lang="en-US" sz="2000" b="1" dirty="0">
                <a:solidFill>
                  <a:srgbClr val="FF9900"/>
                </a:solidFill>
                <a:latin typeface="Cambria" pitchFamily="34" charset="0"/>
                <a:ea typeface="Cambria" pitchFamily="34" charset="-122"/>
                <a:cs typeface="Cambria" pitchFamily="34" charset="-120"/>
              </a:rPr>
              <a:t>30 Nov 2016</a:t>
            </a:r>
            <a:endParaRPr lang="en-US" sz="2000" dirty="0"/>
          </a:p>
        </p:txBody>
      </p:sp>
      <p:sp>
        <p:nvSpPr>
          <p:cNvPr id="15" name="Text 12"/>
          <p:cNvSpPr/>
          <p:nvPr/>
        </p:nvSpPr>
        <p:spPr>
          <a:xfrm>
            <a:off x="8558784" y="1865376"/>
            <a:ext cx="2999232" cy="621792"/>
          </a:xfrm>
          <a:prstGeom prst="rect">
            <a:avLst/>
          </a:prstGeom>
          <a:noFill/>
          <a:ln/>
        </p:spPr>
        <p:txBody>
          <a:bodyPr wrap="square" lIns="0" tIns="0" rIns="0" bIns="0" rtlCol="0" anchor="ctr"/>
          <a:lstStyle/>
          <a:p>
            <a:pPr indent="0" marL="0">
              <a:lnSpc>
                <a:spcPct val="110000"/>
              </a:lnSpc>
              <a:buNone/>
            </a:pPr>
            <a:r>
              <a:rPr lang="en-US" sz="1100" dirty="0">
                <a:solidFill>
                  <a:srgbClr val="C4CFD8"/>
                </a:solidFill>
                <a:latin typeface="Calibri" pitchFamily="34" charset="0"/>
                <a:ea typeface="Calibri" pitchFamily="34" charset="-122"/>
                <a:cs typeface="Calibri" pitchFamily="34" charset="-120"/>
              </a:rPr>
              <a:t>Launched at AWS re:Invent</a:t>
            </a:r>
            <a:endParaRPr lang="en-US" sz="1100" dirty="0"/>
          </a:p>
        </p:txBody>
      </p:sp>
      <p:sp>
        <p:nvSpPr>
          <p:cNvPr id="16" name="Shape 13"/>
          <p:cNvSpPr/>
          <p:nvPr/>
        </p:nvSpPr>
        <p:spPr>
          <a:xfrm>
            <a:off x="7635240" y="2816352"/>
            <a:ext cx="4096512" cy="1280160"/>
          </a:xfrm>
          <a:prstGeom prst="roundRect">
            <a:avLst>
              <a:gd name="adj" fmla="val 6429"/>
            </a:avLst>
          </a:prstGeom>
          <a:solidFill>
            <a:srgbClr val="232F3E"/>
          </a:solidFill>
          <a:ln w="12700">
            <a:solidFill>
              <a:srgbClr val="4A5D70"/>
            </a:solidFill>
            <a:prstDash val="solid"/>
          </a:ln>
        </p:spPr>
      </p:sp>
      <p:sp>
        <p:nvSpPr>
          <p:cNvPr id="17" name="Shape 14"/>
          <p:cNvSpPr/>
          <p:nvPr/>
        </p:nvSpPr>
        <p:spPr>
          <a:xfrm>
            <a:off x="7882128" y="3200400"/>
            <a:ext cx="512064" cy="512064"/>
          </a:xfrm>
          <a:prstGeom prst="ellipse">
            <a:avLst/>
          </a:prstGeom>
          <a:solidFill>
            <a:srgbClr val="FF9900"/>
          </a:solidFill>
          <a:ln/>
        </p:spPr>
      </p:sp>
      <p:pic>
        <p:nvPicPr>
          <p:cNvPr id="18" name="Image 1" descr="/home/user/PBL-Proj/lightsail/assets/icon-tag.png">    </p:cNvPr>
          <p:cNvPicPr>
            <a:picLocks noChangeAspect="1"/>
          </p:cNvPicPr>
          <p:nvPr/>
        </p:nvPicPr>
        <p:blipFill>
          <a:blip r:embed="rId2"/>
          <a:stretch>
            <a:fillRect/>
          </a:stretch>
        </p:blipFill>
        <p:spPr>
          <a:xfrm>
            <a:off x="8015265" y="3333537"/>
            <a:ext cx="245791" cy="245791"/>
          </a:xfrm>
          <a:prstGeom prst="rect">
            <a:avLst/>
          </a:prstGeom>
        </p:spPr>
      </p:pic>
      <p:sp>
        <p:nvSpPr>
          <p:cNvPr id="19" name="Text 15"/>
          <p:cNvSpPr/>
          <p:nvPr/>
        </p:nvSpPr>
        <p:spPr>
          <a:xfrm>
            <a:off x="8558784" y="2999232"/>
            <a:ext cx="3017520" cy="365760"/>
          </a:xfrm>
          <a:prstGeom prst="rect">
            <a:avLst/>
          </a:prstGeom>
          <a:noFill/>
          <a:ln/>
        </p:spPr>
        <p:txBody>
          <a:bodyPr wrap="square" lIns="0" tIns="0" rIns="0" bIns="0" rtlCol="0" anchor="ctr"/>
          <a:lstStyle/>
          <a:p>
            <a:pPr indent="0" marL="0">
              <a:buNone/>
            </a:pPr>
            <a:r>
              <a:rPr lang="en-US" sz="2000" b="1" dirty="0">
                <a:solidFill>
                  <a:srgbClr val="FF9900"/>
                </a:solidFill>
                <a:latin typeface="Cambria" pitchFamily="34" charset="0"/>
                <a:ea typeface="Cambria" pitchFamily="34" charset="-122"/>
                <a:cs typeface="Cambria" pitchFamily="34" charset="-120"/>
              </a:rPr>
              <a:t>$5 / month</a:t>
            </a:r>
            <a:endParaRPr lang="en-US" sz="2000" dirty="0"/>
          </a:p>
        </p:txBody>
      </p:sp>
      <p:sp>
        <p:nvSpPr>
          <p:cNvPr id="20" name="Text 16"/>
          <p:cNvSpPr/>
          <p:nvPr/>
        </p:nvSpPr>
        <p:spPr>
          <a:xfrm>
            <a:off x="8558784" y="3383280"/>
            <a:ext cx="2999232" cy="621792"/>
          </a:xfrm>
          <a:prstGeom prst="rect">
            <a:avLst/>
          </a:prstGeom>
          <a:noFill/>
          <a:ln/>
        </p:spPr>
        <p:txBody>
          <a:bodyPr wrap="square" lIns="0" tIns="0" rIns="0" bIns="0" rtlCol="0" anchor="ctr"/>
          <a:lstStyle/>
          <a:p>
            <a:pPr indent="0" marL="0">
              <a:lnSpc>
                <a:spcPct val="110000"/>
              </a:lnSpc>
              <a:buNone/>
            </a:pPr>
            <a:r>
              <a:rPr lang="en-US" sz="1100" dirty="0">
                <a:solidFill>
                  <a:srgbClr val="C4CFD8"/>
                </a:solidFill>
                <a:latin typeface="Calibri" pitchFamily="34" charset="0"/>
                <a:ea typeface="Calibri" pitchFamily="34" charset="-122"/>
                <a:cs typeface="Calibri" pitchFamily="34" charset="-120"/>
              </a:rPr>
              <a:t>Entry bundle — compute, SSD and 1 TB of transfer in one price</a:t>
            </a:r>
            <a:endParaRPr lang="en-US" sz="1100" dirty="0"/>
          </a:p>
        </p:txBody>
      </p:sp>
      <p:sp>
        <p:nvSpPr>
          <p:cNvPr id="21" name="Shape 17"/>
          <p:cNvSpPr/>
          <p:nvPr/>
        </p:nvSpPr>
        <p:spPr>
          <a:xfrm>
            <a:off x="7635240" y="4334256"/>
            <a:ext cx="4096512" cy="1280160"/>
          </a:xfrm>
          <a:prstGeom prst="roundRect">
            <a:avLst>
              <a:gd name="adj" fmla="val 6429"/>
            </a:avLst>
          </a:prstGeom>
          <a:solidFill>
            <a:srgbClr val="232F3E"/>
          </a:solidFill>
          <a:ln w="12700">
            <a:solidFill>
              <a:srgbClr val="4A5D70"/>
            </a:solidFill>
            <a:prstDash val="solid"/>
          </a:ln>
        </p:spPr>
      </p:sp>
      <p:sp>
        <p:nvSpPr>
          <p:cNvPr id="22" name="Shape 18"/>
          <p:cNvSpPr/>
          <p:nvPr/>
        </p:nvSpPr>
        <p:spPr>
          <a:xfrm>
            <a:off x="7882128" y="4718304"/>
            <a:ext cx="512064" cy="512064"/>
          </a:xfrm>
          <a:prstGeom prst="ellipse">
            <a:avLst/>
          </a:prstGeom>
          <a:solidFill>
            <a:srgbClr val="FF9900"/>
          </a:solidFill>
          <a:ln/>
        </p:spPr>
      </p:sp>
      <p:pic>
        <p:nvPicPr>
          <p:cNvPr id="23" name="Image 2" descr="/home/user/PBL-Proj/lightsail/assets/icon-layers.png">    </p:cNvPr>
          <p:cNvPicPr>
            <a:picLocks noChangeAspect="1"/>
          </p:cNvPicPr>
          <p:nvPr/>
        </p:nvPicPr>
        <p:blipFill>
          <a:blip r:embed="rId3"/>
          <a:stretch>
            <a:fillRect/>
          </a:stretch>
        </p:blipFill>
        <p:spPr>
          <a:xfrm>
            <a:off x="8015265" y="4851441"/>
            <a:ext cx="245791" cy="245791"/>
          </a:xfrm>
          <a:prstGeom prst="rect">
            <a:avLst/>
          </a:prstGeom>
        </p:spPr>
      </p:pic>
      <p:sp>
        <p:nvSpPr>
          <p:cNvPr id="24" name="Text 19"/>
          <p:cNvSpPr/>
          <p:nvPr/>
        </p:nvSpPr>
        <p:spPr>
          <a:xfrm>
            <a:off x="8558784" y="4517136"/>
            <a:ext cx="3017520" cy="365760"/>
          </a:xfrm>
          <a:prstGeom prst="rect">
            <a:avLst/>
          </a:prstGeom>
          <a:noFill/>
          <a:ln/>
        </p:spPr>
        <p:txBody>
          <a:bodyPr wrap="square" lIns="0" tIns="0" rIns="0" bIns="0" rtlCol="0" anchor="ctr"/>
          <a:lstStyle/>
          <a:p>
            <a:pPr indent="0" marL="0">
              <a:buNone/>
            </a:pPr>
            <a:r>
              <a:rPr lang="en-US" sz="2000" b="1" dirty="0">
                <a:solidFill>
                  <a:srgbClr val="FF9900"/>
                </a:solidFill>
                <a:latin typeface="Cambria" pitchFamily="34" charset="0"/>
                <a:ea typeface="Cambria" pitchFamily="34" charset="-122"/>
                <a:cs typeface="Cambria" pitchFamily="34" charset="-120"/>
              </a:rPr>
              <a:t>8 resource types</a:t>
            </a:r>
            <a:endParaRPr lang="en-US" sz="2000" dirty="0"/>
          </a:p>
        </p:txBody>
      </p:sp>
      <p:sp>
        <p:nvSpPr>
          <p:cNvPr id="25" name="Text 20"/>
          <p:cNvSpPr/>
          <p:nvPr/>
        </p:nvSpPr>
        <p:spPr>
          <a:xfrm>
            <a:off x="8558784" y="4901184"/>
            <a:ext cx="2999232" cy="621792"/>
          </a:xfrm>
          <a:prstGeom prst="rect">
            <a:avLst/>
          </a:prstGeom>
          <a:noFill/>
          <a:ln/>
        </p:spPr>
        <p:txBody>
          <a:bodyPr wrap="square" lIns="0" tIns="0" rIns="0" bIns="0" rtlCol="0" anchor="ctr"/>
          <a:lstStyle/>
          <a:p>
            <a:pPr indent="0" marL="0">
              <a:lnSpc>
                <a:spcPct val="110000"/>
              </a:lnSpc>
              <a:buNone/>
            </a:pPr>
            <a:r>
              <a:rPr lang="en-US" sz="1100" dirty="0">
                <a:solidFill>
                  <a:srgbClr val="C4CFD8"/>
                </a:solidFill>
                <a:latin typeface="Calibri" pitchFamily="34" charset="0"/>
                <a:ea typeface="Calibri" pitchFamily="34" charset="-122"/>
                <a:cs typeface="Calibri" pitchFamily="34" charset="-120"/>
              </a:rPr>
              <a:t>Instances, containers, databases, storage, CDN, DNS and more</a:t>
            </a:r>
            <a:endParaRPr lang="en-US" sz="1100" dirty="0"/>
          </a:p>
        </p:txBody>
      </p:sp>
      <p:sp>
        <p:nvSpPr>
          <p:cNvPr id="26" name="Text 21"/>
          <p:cNvSpPr/>
          <p:nvPr/>
        </p:nvSpPr>
        <p:spPr>
          <a:xfrm>
            <a:off x="7635240" y="5989320"/>
            <a:ext cx="4096512" cy="274320"/>
          </a:xfrm>
          <a:prstGeom prst="rect">
            <a:avLst/>
          </a:prstGeom>
          <a:noFill/>
          <a:ln/>
        </p:spPr>
        <p:txBody>
          <a:bodyPr wrap="square" lIns="0" tIns="0" rIns="0" bIns="0" rtlCol="0" anchor="ctr"/>
          <a:lstStyle/>
          <a:p>
            <a:pPr algn="ctr" indent="0" marL="0">
              <a:buNone/>
            </a:pPr>
            <a:r>
              <a:rPr lang="en-US" sz="1050" dirty="0">
                <a:solidFill>
                  <a:srgbClr val="8A9AA8"/>
                </a:solidFill>
                <a:latin typeface="Calibri" pitchFamily="34" charset="0"/>
                <a:ea typeface="Calibri" pitchFamily="34" charset="-122"/>
                <a:cs typeface="Calibri" pitchFamily="34" charset="-120"/>
              </a:rPr>
              <a:t>Amazon Web Services  ·  August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algn="l" indent="0" marL="0">
              <a:buNone/>
            </a:pPr>
            <a:r>
              <a:rPr lang="en-US" sz="1100" b="1" spc="220" kern="0" dirty="0">
                <a:solidFill>
                  <a:srgbClr val="FF9900"/>
                </a:solidFill>
                <a:latin typeface="Calibri" pitchFamily="34" charset="0"/>
                <a:ea typeface="Calibri" pitchFamily="34" charset="-122"/>
                <a:cs typeface="Calibri" pitchFamily="34" charset="-120"/>
              </a:rPr>
              <a:t>ROADMAP</a:t>
            </a:r>
            <a:endParaRPr lang="en-US" sz="1100" dirty="0"/>
          </a:p>
        </p:txBody>
      </p:sp>
      <p:sp>
        <p:nvSpPr>
          <p:cNvPr id="3" name="Text 1"/>
          <p:cNvSpPr/>
          <p:nvPr/>
        </p:nvSpPr>
        <p:spPr>
          <a:xfrm>
            <a:off x="566928" y="566928"/>
            <a:ext cx="11057839" cy="50292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What this talk covers</a:t>
            </a:r>
            <a:endParaRPr lang="en-US" sz="3000" dirty="0"/>
          </a:p>
        </p:txBody>
      </p:sp>
      <p:sp>
        <p:nvSpPr>
          <p:cNvPr id="4" name="Shape 2"/>
          <p:cNvSpPr/>
          <p:nvPr/>
        </p:nvSpPr>
        <p:spPr>
          <a:xfrm>
            <a:off x="566928" y="1490472"/>
            <a:ext cx="566928" cy="566928"/>
          </a:xfrm>
          <a:prstGeom prst="ellipse">
            <a:avLst/>
          </a:prstGeom>
          <a:solidFill>
            <a:srgbClr val="232F3E"/>
          </a:solidFill>
          <a:ln/>
        </p:spPr>
      </p:sp>
      <p:pic>
        <p:nvPicPr>
          <p:cNvPr id="5" name="Image 0" descr="/home/user/PBL-Proj/lightsail/assets/icon-wrench.png">    </p:cNvPr>
          <p:cNvPicPr>
            <a:picLocks noChangeAspect="1"/>
          </p:cNvPicPr>
          <p:nvPr/>
        </p:nvPicPr>
        <p:blipFill>
          <a:blip r:embed="rId1"/>
          <a:stretch>
            <a:fillRect/>
          </a:stretch>
        </p:blipFill>
        <p:spPr>
          <a:xfrm>
            <a:off x="714329" y="1637873"/>
            <a:ext cx="272125" cy="272125"/>
          </a:xfrm>
          <a:prstGeom prst="rect">
            <a:avLst/>
          </a:prstGeom>
        </p:spPr>
      </p:pic>
      <p:sp>
        <p:nvSpPr>
          <p:cNvPr id="6" name="Text 3"/>
          <p:cNvSpPr/>
          <p:nvPr/>
        </p:nvSpPr>
        <p:spPr>
          <a:xfrm>
            <a:off x="1316736" y="1472184"/>
            <a:ext cx="4617720" cy="310896"/>
          </a:xfrm>
          <a:prstGeom prst="rect">
            <a:avLst/>
          </a:prstGeom>
          <a:noFill/>
          <a:ln/>
        </p:spPr>
        <p:txBody>
          <a:bodyPr wrap="square" lIns="0" tIns="0" rIns="0" bIns="0" rtlCol="0" anchor="ctr"/>
          <a:lstStyle/>
          <a:p>
            <a:pPr indent="0" marL="0">
              <a:buNone/>
            </a:pPr>
            <a:r>
              <a:rPr lang="en-US" sz="1600" b="1" dirty="0">
                <a:solidFill>
                  <a:srgbClr val="232F3E"/>
                </a:solidFill>
                <a:latin typeface="Cambria" pitchFamily="34" charset="0"/>
                <a:ea typeface="Cambria" pitchFamily="34" charset="-122"/>
                <a:cs typeface="Cambria" pitchFamily="34" charset="-120"/>
              </a:rPr>
              <a:t>The problem worth solving</a:t>
            </a:r>
            <a:endParaRPr lang="en-US" sz="1600" dirty="0"/>
          </a:p>
        </p:txBody>
      </p:sp>
      <p:sp>
        <p:nvSpPr>
          <p:cNvPr id="7" name="Text 4"/>
          <p:cNvSpPr/>
          <p:nvPr/>
        </p:nvSpPr>
        <p:spPr>
          <a:xfrm>
            <a:off x="1316736" y="1819656"/>
            <a:ext cx="4617720" cy="310896"/>
          </a:xfrm>
          <a:prstGeom prst="rect">
            <a:avLst/>
          </a:prstGeom>
          <a:noFill/>
          <a:ln/>
        </p:spPr>
        <p:txBody>
          <a:bodyPr wrap="square" lIns="0" tIns="0" rIns="0" bIns="0" rtlCol="0" anchor="ctr"/>
          <a:lstStyle/>
          <a:p>
            <a:pPr indent="0" marL="0">
              <a:buNone/>
            </a:pPr>
            <a:r>
              <a:rPr lang="en-US" sz="1200" dirty="0">
                <a:solidFill>
                  <a:srgbClr val="5A6B7B"/>
                </a:solidFill>
                <a:latin typeface="Calibri" pitchFamily="34" charset="0"/>
                <a:ea typeface="Calibri" pitchFamily="34" charset="-122"/>
                <a:cs typeface="Calibri" pitchFamily="34" charset="-120"/>
              </a:rPr>
              <a:t>Why AWS built a simpler front door</a:t>
            </a:r>
            <a:endParaRPr lang="en-US" sz="1200" dirty="0"/>
          </a:p>
        </p:txBody>
      </p:sp>
      <p:sp>
        <p:nvSpPr>
          <p:cNvPr id="8" name="Shape 5"/>
          <p:cNvSpPr/>
          <p:nvPr/>
        </p:nvSpPr>
        <p:spPr>
          <a:xfrm>
            <a:off x="6419088" y="1490472"/>
            <a:ext cx="566928" cy="566928"/>
          </a:xfrm>
          <a:prstGeom prst="ellipse">
            <a:avLst/>
          </a:prstGeom>
          <a:solidFill>
            <a:srgbClr val="00A1C9"/>
          </a:solidFill>
          <a:ln/>
        </p:spPr>
      </p:sp>
      <p:pic>
        <p:nvPicPr>
          <p:cNvPr id="9" name="Image 1" descr="/home/user/PBL-Proj/lightsail/assets/icon-layers.png">    </p:cNvPr>
          <p:cNvPicPr>
            <a:picLocks noChangeAspect="1"/>
          </p:cNvPicPr>
          <p:nvPr/>
        </p:nvPicPr>
        <p:blipFill>
          <a:blip r:embed="rId2"/>
          <a:stretch>
            <a:fillRect/>
          </a:stretch>
        </p:blipFill>
        <p:spPr>
          <a:xfrm>
            <a:off x="6566489" y="1637873"/>
            <a:ext cx="272125" cy="272125"/>
          </a:xfrm>
          <a:prstGeom prst="rect">
            <a:avLst/>
          </a:prstGeom>
        </p:spPr>
      </p:pic>
      <p:sp>
        <p:nvSpPr>
          <p:cNvPr id="10" name="Text 6"/>
          <p:cNvSpPr/>
          <p:nvPr/>
        </p:nvSpPr>
        <p:spPr>
          <a:xfrm>
            <a:off x="7168896" y="1472184"/>
            <a:ext cx="4617720" cy="310896"/>
          </a:xfrm>
          <a:prstGeom prst="rect">
            <a:avLst/>
          </a:prstGeom>
          <a:noFill/>
          <a:ln/>
        </p:spPr>
        <p:txBody>
          <a:bodyPr wrap="square" lIns="0" tIns="0" rIns="0" bIns="0" rtlCol="0" anchor="ctr"/>
          <a:lstStyle/>
          <a:p>
            <a:pPr indent="0" marL="0">
              <a:buNone/>
            </a:pPr>
            <a:r>
              <a:rPr lang="en-US" sz="1600" b="1" dirty="0">
                <a:solidFill>
                  <a:srgbClr val="232F3E"/>
                </a:solidFill>
                <a:latin typeface="Cambria" pitchFamily="34" charset="0"/>
                <a:ea typeface="Cambria" pitchFamily="34" charset="-122"/>
                <a:cs typeface="Cambria" pitchFamily="34" charset="-120"/>
              </a:rPr>
              <a:t>Where Lightsail sits</a:t>
            </a:r>
            <a:endParaRPr lang="en-US" sz="1600" dirty="0"/>
          </a:p>
        </p:txBody>
      </p:sp>
      <p:sp>
        <p:nvSpPr>
          <p:cNvPr id="11" name="Text 7"/>
          <p:cNvSpPr/>
          <p:nvPr/>
        </p:nvSpPr>
        <p:spPr>
          <a:xfrm>
            <a:off x="7168896" y="1819656"/>
            <a:ext cx="4617720" cy="310896"/>
          </a:xfrm>
          <a:prstGeom prst="rect">
            <a:avLst/>
          </a:prstGeom>
          <a:noFill/>
          <a:ln/>
        </p:spPr>
        <p:txBody>
          <a:bodyPr wrap="square" lIns="0" tIns="0" rIns="0" bIns="0" rtlCol="0" anchor="ctr"/>
          <a:lstStyle/>
          <a:p>
            <a:pPr indent="0" marL="0">
              <a:buNone/>
            </a:pPr>
            <a:r>
              <a:rPr lang="en-US" sz="1200" dirty="0">
                <a:solidFill>
                  <a:srgbClr val="5A6B7B"/>
                </a:solidFill>
                <a:latin typeface="Calibri" pitchFamily="34" charset="0"/>
                <a:ea typeface="Calibri" pitchFamily="34" charset="-122"/>
                <a:cs typeface="Calibri" pitchFamily="34" charset="-120"/>
              </a:rPr>
              <a:t>IaaS, PaaS-Lite, PaaS and SaaS compared</a:t>
            </a:r>
            <a:endParaRPr lang="en-US" sz="1200" dirty="0"/>
          </a:p>
        </p:txBody>
      </p:sp>
      <p:sp>
        <p:nvSpPr>
          <p:cNvPr id="12" name="Shape 8"/>
          <p:cNvSpPr/>
          <p:nvPr/>
        </p:nvSpPr>
        <p:spPr>
          <a:xfrm>
            <a:off x="566928" y="2624328"/>
            <a:ext cx="566928" cy="566928"/>
          </a:xfrm>
          <a:prstGeom prst="ellipse">
            <a:avLst/>
          </a:prstGeom>
          <a:solidFill>
            <a:srgbClr val="232F3E"/>
          </a:solidFill>
          <a:ln/>
        </p:spPr>
      </p:sp>
      <p:pic>
        <p:nvPicPr>
          <p:cNvPr id="13" name="Image 2" descr="/home/user/PBL-Proj/lightsail/assets/icon-server.png">    </p:cNvPr>
          <p:cNvPicPr>
            <a:picLocks noChangeAspect="1"/>
          </p:cNvPicPr>
          <p:nvPr/>
        </p:nvPicPr>
        <p:blipFill>
          <a:blip r:embed="rId3"/>
          <a:stretch>
            <a:fillRect/>
          </a:stretch>
        </p:blipFill>
        <p:spPr>
          <a:xfrm>
            <a:off x="714329" y="2771729"/>
            <a:ext cx="272125" cy="272125"/>
          </a:xfrm>
          <a:prstGeom prst="rect">
            <a:avLst/>
          </a:prstGeom>
        </p:spPr>
      </p:pic>
      <p:sp>
        <p:nvSpPr>
          <p:cNvPr id="14" name="Text 9"/>
          <p:cNvSpPr/>
          <p:nvPr/>
        </p:nvSpPr>
        <p:spPr>
          <a:xfrm>
            <a:off x="1316736" y="2606040"/>
            <a:ext cx="4617720" cy="310896"/>
          </a:xfrm>
          <a:prstGeom prst="rect">
            <a:avLst/>
          </a:prstGeom>
          <a:noFill/>
          <a:ln/>
        </p:spPr>
        <p:txBody>
          <a:bodyPr wrap="square" lIns="0" tIns="0" rIns="0" bIns="0" rtlCol="0" anchor="ctr"/>
          <a:lstStyle/>
          <a:p>
            <a:pPr indent="0" marL="0">
              <a:buNone/>
            </a:pPr>
            <a:r>
              <a:rPr lang="en-US" sz="1600" b="1" dirty="0">
                <a:solidFill>
                  <a:srgbClr val="232F3E"/>
                </a:solidFill>
                <a:latin typeface="Cambria" pitchFamily="34" charset="0"/>
                <a:ea typeface="Cambria" pitchFamily="34" charset="-122"/>
                <a:cs typeface="Cambria" pitchFamily="34" charset="-120"/>
              </a:rPr>
              <a:t>Anatomy of the service</a:t>
            </a:r>
            <a:endParaRPr lang="en-US" sz="1600" dirty="0"/>
          </a:p>
        </p:txBody>
      </p:sp>
      <p:sp>
        <p:nvSpPr>
          <p:cNvPr id="15" name="Text 10"/>
          <p:cNvSpPr/>
          <p:nvPr/>
        </p:nvSpPr>
        <p:spPr>
          <a:xfrm>
            <a:off x="1316736" y="2953512"/>
            <a:ext cx="4617720" cy="310896"/>
          </a:xfrm>
          <a:prstGeom prst="rect">
            <a:avLst/>
          </a:prstGeom>
          <a:noFill/>
          <a:ln/>
        </p:spPr>
        <p:txBody>
          <a:bodyPr wrap="square" lIns="0" tIns="0" rIns="0" bIns="0" rtlCol="0" anchor="ctr"/>
          <a:lstStyle/>
          <a:p>
            <a:pPr indent="0" marL="0">
              <a:buNone/>
            </a:pPr>
            <a:r>
              <a:rPr lang="en-US" sz="1200" dirty="0">
                <a:solidFill>
                  <a:srgbClr val="5A6B7B"/>
                </a:solidFill>
                <a:latin typeface="Calibri" pitchFamily="34" charset="0"/>
                <a:ea typeface="Calibri" pitchFamily="34" charset="-122"/>
                <a:cs typeface="Calibri" pitchFamily="34" charset="-120"/>
              </a:rPr>
              <a:t>Blueprints, bundles and the resource catalogue</a:t>
            </a:r>
            <a:endParaRPr lang="en-US" sz="1200" dirty="0"/>
          </a:p>
        </p:txBody>
      </p:sp>
      <p:sp>
        <p:nvSpPr>
          <p:cNvPr id="16" name="Shape 11"/>
          <p:cNvSpPr/>
          <p:nvPr/>
        </p:nvSpPr>
        <p:spPr>
          <a:xfrm>
            <a:off x="6419088" y="2624328"/>
            <a:ext cx="566928" cy="566928"/>
          </a:xfrm>
          <a:prstGeom prst="ellipse">
            <a:avLst/>
          </a:prstGeom>
          <a:solidFill>
            <a:srgbClr val="00A1C9"/>
          </a:solidFill>
          <a:ln/>
        </p:spPr>
      </p:sp>
      <p:pic>
        <p:nvPicPr>
          <p:cNvPr id="17" name="Image 3" descr="/home/user/PBL-Proj/lightsail/assets/icon-tag.png">    </p:cNvPr>
          <p:cNvPicPr>
            <a:picLocks noChangeAspect="1"/>
          </p:cNvPicPr>
          <p:nvPr/>
        </p:nvPicPr>
        <p:blipFill>
          <a:blip r:embed="rId4"/>
          <a:stretch>
            <a:fillRect/>
          </a:stretch>
        </p:blipFill>
        <p:spPr>
          <a:xfrm>
            <a:off x="6566489" y="2771729"/>
            <a:ext cx="272125" cy="272125"/>
          </a:xfrm>
          <a:prstGeom prst="rect">
            <a:avLst/>
          </a:prstGeom>
        </p:spPr>
      </p:pic>
      <p:sp>
        <p:nvSpPr>
          <p:cNvPr id="18" name="Text 12"/>
          <p:cNvSpPr/>
          <p:nvPr/>
        </p:nvSpPr>
        <p:spPr>
          <a:xfrm>
            <a:off x="7168896" y="2606040"/>
            <a:ext cx="4617720" cy="310896"/>
          </a:xfrm>
          <a:prstGeom prst="rect">
            <a:avLst/>
          </a:prstGeom>
          <a:noFill/>
          <a:ln/>
        </p:spPr>
        <p:txBody>
          <a:bodyPr wrap="square" lIns="0" tIns="0" rIns="0" bIns="0" rtlCol="0" anchor="ctr"/>
          <a:lstStyle/>
          <a:p>
            <a:pPr indent="0" marL="0">
              <a:buNone/>
            </a:pPr>
            <a:r>
              <a:rPr lang="en-US" sz="1600" b="1" dirty="0">
                <a:solidFill>
                  <a:srgbClr val="232F3E"/>
                </a:solidFill>
                <a:latin typeface="Cambria" pitchFamily="34" charset="0"/>
                <a:ea typeface="Cambria" pitchFamily="34" charset="-122"/>
                <a:cs typeface="Cambria" pitchFamily="34" charset="-120"/>
              </a:rPr>
              <a:t>The pricing model in full</a:t>
            </a:r>
            <a:endParaRPr lang="en-US" sz="1600" dirty="0"/>
          </a:p>
        </p:txBody>
      </p:sp>
      <p:sp>
        <p:nvSpPr>
          <p:cNvPr id="19" name="Text 13"/>
          <p:cNvSpPr/>
          <p:nvPr/>
        </p:nvSpPr>
        <p:spPr>
          <a:xfrm>
            <a:off x="7168896" y="2953512"/>
            <a:ext cx="4617720" cy="310896"/>
          </a:xfrm>
          <a:prstGeom prst="rect">
            <a:avLst/>
          </a:prstGeom>
          <a:noFill/>
          <a:ln/>
        </p:spPr>
        <p:txBody>
          <a:bodyPr wrap="square" lIns="0" tIns="0" rIns="0" bIns="0" rtlCol="0" anchor="ctr"/>
          <a:lstStyle/>
          <a:p>
            <a:pPr indent="0" marL="0">
              <a:buNone/>
            </a:pPr>
            <a:r>
              <a:rPr lang="en-US" sz="1200" dirty="0">
                <a:solidFill>
                  <a:srgbClr val="5A6B7B"/>
                </a:solidFill>
                <a:latin typeface="Calibri" pitchFamily="34" charset="0"/>
                <a:ea typeface="Calibri" pitchFamily="34" charset="-122"/>
                <a:cs typeface="Calibri" pitchFamily="34" charset="-120"/>
              </a:rPr>
              <a:t>Instances, databases, storage, networking</a:t>
            </a:r>
            <a:endParaRPr lang="en-US" sz="1200" dirty="0"/>
          </a:p>
        </p:txBody>
      </p:sp>
      <p:sp>
        <p:nvSpPr>
          <p:cNvPr id="20" name="Shape 14"/>
          <p:cNvSpPr/>
          <p:nvPr/>
        </p:nvSpPr>
        <p:spPr>
          <a:xfrm>
            <a:off x="566928" y="3758184"/>
            <a:ext cx="566928" cy="566928"/>
          </a:xfrm>
          <a:prstGeom prst="ellipse">
            <a:avLst/>
          </a:prstGeom>
          <a:solidFill>
            <a:srgbClr val="232F3E"/>
          </a:solidFill>
          <a:ln/>
        </p:spPr>
      </p:sp>
      <p:pic>
        <p:nvPicPr>
          <p:cNvPr id="21" name="Image 4" descr="/home/user/PBL-Proj/lightsail/assets/icon-scale.png">    </p:cNvPr>
          <p:cNvPicPr>
            <a:picLocks noChangeAspect="1"/>
          </p:cNvPicPr>
          <p:nvPr/>
        </p:nvPicPr>
        <p:blipFill>
          <a:blip r:embed="rId5"/>
          <a:stretch>
            <a:fillRect/>
          </a:stretch>
        </p:blipFill>
        <p:spPr>
          <a:xfrm>
            <a:off x="714329" y="3905585"/>
            <a:ext cx="272125" cy="272125"/>
          </a:xfrm>
          <a:prstGeom prst="rect">
            <a:avLst/>
          </a:prstGeom>
        </p:spPr>
      </p:pic>
      <p:sp>
        <p:nvSpPr>
          <p:cNvPr id="22" name="Text 15"/>
          <p:cNvSpPr/>
          <p:nvPr/>
        </p:nvSpPr>
        <p:spPr>
          <a:xfrm>
            <a:off x="1316736" y="3739896"/>
            <a:ext cx="4617720" cy="310896"/>
          </a:xfrm>
          <a:prstGeom prst="rect">
            <a:avLst/>
          </a:prstGeom>
          <a:noFill/>
          <a:ln/>
        </p:spPr>
        <p:txBody>
          <a:bodyPr wrap="square" lIns="0" tIns="0" rIns="0" bIns="0" rtlCol="0" anchor="ctr"/>
          <a:lstStyle/>
          <a:p>
            <a:pPr indent="0" marL="0">
              <a:buNone/>
            </a:pPr>
            <a:r>
              <a:rPr lang="en-US" sz="1600" b="1" dirty="0">
                <a:solidFill>
                  <a:srgbClr val="232F3E"/>
                </a:solidFill>
                <a:latin typeface="Cambria" pitchFamily="34" charset="0"/>
                <a:ea typeface="Cambria" pitchFamily="34" charset="-122"/>
                <a:cs typeface="Cambria" pitchFamily="34" charset="-120"/>
              </a:rPr>
              <a:t>Lightsail versus the field</a:t>
            </a:r>
            <a:endParaRPr lang="en-US" sz="1600" dirty="0"/>
          </a:p>
        </p:txBody>
      </p:sp>
      <p:sp>
        <p:nvSpPr>
          <p:cNvPr id="23" name="Text 16"/>
          <p:cNvSpPr/>
          <p:nvPr/>
        </p:nvSpPr>
        <p:spPr>
          <a:xfrm>
            <a:off x="1316736" y="4087368"/>
            <a:ext cx="4617720" cy="310896"/>
          </a:xfrm>
          <a:prstGeom prst="rect">
            <a:avLst/>
          </a:prstGeom>
          <a:noFill/>
          <a:ln/>
        </p:spPr>
        <p:txBody>
          <a:bodyPr wrap="square" lIns="0" tIns="0" rIns="0" bIns="0" rtlCol="0" anchor="ctr"/>
          <a:lstStyle/>
          <a:p>
            <a:pPr indent="0" marL="0">
              <a:buNone/>
            </a:pPr>
            <a:r>
              <a:rPr lang="en-US" sz="1200" dirty="0">
                <a:solidFill>
                  <a:srgbClr val="5A6B7B"/>
                </a:solidFill>
                <a:latin typeface="Calibri" pitchFamily="34" charset="0"/>
                <a:ea typeface="Calibri" pitchFamily="34" charset="-122"/>
                <a:cs typeface="Calibri" pitchFamily="34" charset="-120"/>
              </a:rPr>
              <a:t>Amazon EC2, DigitalOcean, Heroku, Azure</a:t>
            </a:r>
            <a:endParaRPr lang="en-US" sz="1200" dirty="0"/>
          </a:p>
        </p:txBody>
      </p:sp>
      <p:sp>
        <p:nvSpPr>
          <p:cNvPr id="24" name="Shape 17"/>
          <p:cNvSpPr/>
          <p:nvPr/>
        </p:nvSpPr>
        <p:spPr>
          <a:xfrm>
            <a:off x="6419088" y="3758184"/>
            <a:ext cx="566928" cy="566928"/>
          </a:xfrm>
          <a:prstGeom prst="ellipse">
            <a:avLst/>
          </a:prstGeom>
          <a:solidFill>
            <a:srgbClr val="00A1C9"/>
          </a:solidFill>
          <a:ln/>
        </p:spPr>
      </p:sp>
      <p:pic>
        <p:nvPicPr>
          <p:cNvPr id="25" name="Image 5" descr="/home/user/PBL-Proj/lightsail/assets/icon-gauge.png">    </p:cNvPr>
          <p:cNvPicPr>
            <a:picLocks noChangeAspect="1"/>
          </p:cNvPicPr>
          <p:nvPr/>
        </p:nvPicPr>
        <p:blipFill>
          <a:blip r:embed="rId6"/>
          <a:stretch>
            <a:fillRect/>
          </a:stretch>
        </p:blipFill>
        <p:spPr>
          <a:xfrm>
            <a:off x="6566489" y="3905585"/>
            <a:ext cx="272125" cy="272125"/>
          </a:xfrm>
          <a:prstGeom prst="rect">
            <a:avLst/>
          </a:prstGeom>
        </p:spPr>
      </p:pic>
      <p:sp>
        <p:nvSpPr>
          <p:cNvPr id="26" name="Text 18"/>
          <p:cNvSpPr/>
          <p:nvPr/>
        </p:nvSpPr>
        <p:spPr>
          <a:xfrm>
            <a:off x="7168896" y="3739896"/>
            <a:ext cx="4617720" cy="310896"/>
          </a:xfrm>
          <a:prstGeom prst="rect">
            <a:avLst/>
          </a:prstGeom>
          <a:noFill/>
          <a:ln/>
        </p:spPr>
        <p:txBody>
          <a:bodyPr wrap="square" lIns="0" tIns="0" rIns="0" bIns="0" rtlCol="0" anchor="ctr"/>
          <a:lstStyle/>
          <a:p>
            <a:pPr indent="0" marL="0">
              <a:buNone/>
            </a:pPr>
            <a:r>
              <a:rPr lang="en-US" sz="1600" b="1" dirty="0">
                <a:solidFill>
                  <a:srgbClr val="232F3E"/>
                </a:solidFill>
                <a:latin typeface="Cambria" pitchFamily="34" charset="0"/>
                <a:ea typeface="Cambria" pitchFamily="34" charset="-122"/>
                <a:cs typeface="Cambria" pitchFamily="34" charset="-120"/>
              </a:rPr>
              <a:t>Hands-on and use cases</a:t>
            </a:r>
            <a:endParaRPr lang="en-US" sz="1600" dirty="0"/>
          </a:p>
        </p:txBody>
      </p:sp>
      <p:sp>
        <p:nvSpPr>
          <p:cNvPr id="27" name="Text 19"/>
          <p:cNvSpPr/>
          <p:nvPr/>
        </p:nvSpPr>
        <p:spPr>
          <a:xfrm>
            <a:off x="7168896" y="4087368"/>
            <a:ext cx="4617720" cy="310896"/>
          </a:xfrm>
          <a:prstGeom prst="rect">
            <a:avLst/>
          </a:prstGeom>
          <a:noFill/>
          <a:ln/>
        </p:spPr>
        <p:txBody>
          <a:bodyPr wrap="square" lIns="0" tIns="0" rIns="0" bIns="0" rtlCol="0" anchor="ctr"/>
          <a:lstStyle/>
          <a:p>
            <a:pPr indent="0" marL="0">
              <a:buNone/>
            </a:pPr>
            <a:r>
              <a:rPr lang="en-US" sz="1200" dirty="0">
                <a:solidFill>
                  <a:srgbClr val="5A6B7B"/>
                </a:solidFill>
                <a:latin typeface="Calibri" pitchFamily="34" charset="0"/>
                <a:ea typeface="Calibri" pitchFamily="34" charset="-122"/>
                <a:cs typeface="Calibri" pitchFamily="34" charset="-120"/>
              </a:rPr>
              <a:t>A production site in under ten minutes</a:t>
            </a:r>
            <a:endParaRPr lang="en-US" sz="1200" dirty="0"/>
          </a:p>
        </p:txBody>
      </p:sp>
      <p:sp>
        <p:nvSpPr>
          <p:cNvPr id="28" name="Shape 20"/>
          <p:cNvSpPr/>
          <p:nvPr/>
        </p:nvSpPr>
        <p:spPr>
          <a:xfrm>
            <a:off x="566928" y="4892040"/>
            <a:ext cx="566928" cy="566928"/>
          </a:xfrm>
          <a:prstGeom prst="ellipse">
            <a:avLst/>
          </a:prstGeom>
          <a:solidFill>
            <a:srgbClr val="232F3E"/>
          </a:solidFill>
          <a:ln/>
        </p:spPr>
      </p:sp>
      <p:pic>
        <p:nvPicPr>
          <p:cNvPr id="29" name="Image 6" descr="/home/user/PBL-Proj/lightsail/assets/icon-warn.png">    </p:cNvPr>
          <p:cNvPicPr>
            <a:picLocks noChangeAspect="1"/>
          </p:cNvPicPr>
          <p:nvPr/>
        </p:nvPicPr>
        <p:blipFill>
          <a:blip r:embed="rId7"/>
          <a:stretch>
            <a:fillRect/>
          </a:stretch>
        </p:blipFill>
        <p:spPr>
          <a:xfrm>
            <a:off x="714329" y="5039441"/>
            <a:ext cx="272125" cy="272125"/>
          </a:xfrm>
          <a:prstGeom prst="rect">
            <a:avLst/>
          </a:prstGeom>
        </p:spPr>
      </p:pic>
      <p:sp>
        <p:nvSpPr>
          <p:cNvPr id="30" name="Text 21"/>
          <p:cNvSpPr/>
          <p:nvPr/>
        </p:nvSpPr>
        <p:spPr>
          <a:xfrm>
            <a:off x="1316736" y="4873752"/>
            <a:ext cx="4617720" cy="310896"/>
          </a:xfrm>
          <a:prstGeom prst="rect">
            <a:avLst/>
          </a:prstGeom>
          <a:noFill/>
          <a:ln/>
        </p:spPr>
        <p:txBody>
          <a:bodyPr wrap="square" lIns="0" tIns="0" rIns="0" bIns="0" rtlCol="0" anchor="ctr"/>
          <a:lstStyle/>
          <a:p>
            <a:pPr indent="0" marL="0">
              <a:buNone/>
            </a:pPr>
            <a:r>
              <a:rPr lang="en-US" sz="1600" b="1" dirty="0">
                <a:solidFill>
                  <a:srgbClr val="232F3E"/>
                </a:solidFill>
                <a:latin typeface="Cambria" pitchFamily="34" charset="0"/>
                <a:ea typeface="Cambria" pitchFamily="34" charset="-122"/>
                <a:cs typeface="Cambria" pitchFamily="34" charset="-120"/>
              </a:rPr>
              <a:t>Limits and the exit</a:t>
            </a:r>
            <a:endParaRPr lang="en-US" sz="1600" dirty="0"/>
          </a:p>
        </p:txBody>
      </p:sp>
      <p:sp>
        <p:nvSpPr>
          <p:cNvPr id="31" name="Text 22"/>
          <p:cNvSpPr/>
          <p:nvPr/>
        </p:nvSpPr>
        <p:spPr>
          <a:xfrm>
            <a:off x="1316736" y="5221224"/>
            <a:ext cx="4617720" cy="310896"/>
          </a:xfrm>
          <a:prstGeom prst="rect">
            <a:avLst/>
          </a:prstGeom>
          <a:noFill/>
          <a:ln/>
        </p:spPr>
        <p:txBody>
          <a:bodyPr wrap="square" lIns="0" tIns="0" rIns="0" bIns="0" rtlCol="0" anchor="ctr"/>
          <a:lstStyle/>
          <a:p>
            <a:pPr indent="0" marL="0">
              <a:buNone/>
            </a:pPr>
            <a:r>
              <a:rPr lang="en-US" sz="1200" dirty="0">
                <a:solidFill>
                  <a:srgbClr val="5A6B7B"/>
                </a:solidFill>
                <a:latin typeface="Calibri" pitchFamily="34" charset="0"/>
                <a:ea typeface="Calibri" pitchFamily="34" charset="-122"/>
                <a:cs typeface="Calibri" pitchFamily="34" charset="-120"/>
              </a:rPr>
              <a:t>What you give up, and how you leave</a:t>
            </a:r>
            <a:endParaRPr lang="en-US" sz="1200" dirty="0"/>
          </a:p>
        </p:txBody>
      </p:sp>
      <p:sp>
        <p:nvSpPr>
          <p:cNvPr id="32" name="Shape 23"/>
          <p:cNvSpPr/>
          <p:nvPr/>
        </p:nvSpPr>
        <p:spPr>
          <a:xfrm>
            <a:off x="6419088" y="4892040"/>
            <a:ext cx="566928" cy="566928"/>
          </a:xfrm>
          <a:prstGeom prst="ellipse">
            <a:avLst/>
          </a:prstGeom>
          <a:solidFill>
            <a:srgbClr val="00A1C9"/>
          </a:solidFill>
          <a:ln/>
        </p:spPr>
      </p:sp>
      <p:pic>
        <p:nvPicPr>
          <p:cNvPr id="33" name="Image 7" descr="/home/user/PBL-Proj/lightsail/assets/icon-check.png">    </p:cNvPr>
          <p:cNvPicPr>
            <a:picLocks noChangeAspect="1"/>
          </p:cNvPicPr>
          <p:nvPr/>
        </p:nvPicPr>
        <p:blipFill>
          <a:blip r:embed="rId8"/>
          <a:stretch>
            <a:fillRect/>
          </a:stretch>
        </p:blipFill>
        <p:spPr>
          <a:xfrm>
            <a:off x="6566489" y="5039441"/>
            <a:ext cx="272125" cy="272125"/>
          </a:xfrm>
          <a:prstGeom prst="rect">
            <a:avLst/>
          </a:prstGeom>
        </p:spPr>
      </p:pic>
      <p:sp>
        <p:nvSpPr>
          <p:cNvPr id="34" name="Text 24"/>
          <p:cNvSpPr/>
          <p:nvPr/>
        </p:nvSpPr>
        <p:spPr>
          <a:xfrm>
            <a:off x="7168896" y="4873752"/>
            <a:ext cx="4617720" cy="310896"/>
          </a:xfrm>
          <a:prstGeom prst="rect">
            <a:avLst/>
          </a:prstGeom>
          <a:noFill/>
          <a:ln/>
        </p:spPr>
        <p:txBody>
          <a:bodyPr wrap="square" lIns="0" tIns="0" rIns="0" bIns="0" rtlCol="0" anchor="ctr"/>
          <a:lstStyle/>
          <a:p>
            <a:pPr indent="0" marL="0">
              <a:buNone/>
            </a:pPr>
            <a:r>
              <a:rPr lang="en-US" sz="1600" b="1" dirty="0">
                <a:solidFill>
                  <a:srgbClr val="232F3E"/>
                </a:solidFill>
                <a:latin typeface="Cambria" pitchFamily="34" charset="0"/>
                <a:ea typeface="Cambria" pitchFamily="34" charset="-122"/>
                <a:cs typeface="Cambria" pitchFamily="34" charset="-120"/>
              </a:rPr>
              <a:t>Verdict</a:t>
            </a:r>
            <a:endParaRPr lang="en-US" sz="1600" dirty="0"/>
          </a:p>
        </p:txBody>
      </p:sp>
      <p:sp>
        <p:nvSpPr>
          <p:cNvPr id="35" name="Text 25"/>
          <p:cNvSpPr/>
          <p:nvPr/>
        </p:nvSpPr>
        <p:spPr>
          <a:xfrm>
            <a:off x="7168896" y="5221224"/>
            <a:ext cx="4617720" cy="310896"/>
          </a:xfrm>
          <a:prstGeom prst="rect">
            <a:avLst/>
          </a:prstGeom>
          <a:noFill/>
          <a:ln/>
        </p:spPr>
        <p:txBody>
          <a:bodyPr wrap="square" lIns="0" tIns="0" rIns="0" bIns="0" rtlCol="0" anchor="ctr"/>
          <a:lstStyle/>
          <a:p>
            <a:pPr indent="0" marL="0">
              <a:buNone/>
            </a:pPr>
            <a:r>
              <a:rPr lang="en-US" sz="1200" dirty="0">
                <a:solidFill>
                  <a:srgbClr val="5A6B7B"/>
                </a:solidFill>
                <a:latin typeface="Calibri" pitchFamily="34" charset="0"/>
                <a:ea typeface="Calibri" pitchFamily="34" charset="-122"/>
                <a:cs typeface="Calibri" pitchFamily="34" charset="-120"/>
              </a:rPr>
              <a:t>When this is the right tool</a:t>
            </a:r>
            <a:endParaRPr lang="en-US" sz="1200" dirty="0"/>
          </a:p>
        </p:txBody>
      </p:sp>
      <p:sp>
        <p:nvSpPr>
          <p:cNvPr id="36" name="Text 26"/>
          <p:cNvSpPr/>
          <p:nvPr/>
        </p:nvSpPr>
        <p:spPr>
          <a:xfrm>
            <a:off x="566928" y="6437376"/>
            <a:ext cx="7772400" cy="256032"/>
          </a:xfrm>
          <a:prstGeom prst="rect">
            <a:avLst/>
          </a:prstGeom>
          <a:noFill/>
          <a:ln/>
        </p:spPr>
        <p:txBody>
          <a:bodyPr wrap="square" lIns="0" tIns="0" rIns="0" bIns="0" rtlCol="0" anchor="ctr"/>
          <a:lstStyle/>
          <a:p>
            <a:pPr algn="l" indent="0" marL="0">
              <a:buNone/>
            </a:pPr>
            <a:r>
              <a:rPr lang="en-US" sz="950" dirty="0">
                <a:solidFill>
                  <a:srgbClr val="9AA9B5"/>
                </a:solidFill>
                <a:latin typeface="Calibri" pitchFamily="34" charset="0"/>
                <a:ea typeface="Calibri" pitchFamily="34" charset="-122"/>
                <a:cs typeface="Calibri" pitchFamily="34" charset="-120"/>
              </a:rPr>
              <a:t>Amazon Lightsail (PaaS-Lite)  ·  Hridiyansh Shukla  ·  2427030591</a:t>
            </a:r>
            <a:endParaRPr lang="en-US" sz="950" dirty="0"/>
          </a:p>
        </p:txBody>
      </p:sp>
      <p:sp>
        <p:nvSpPr>
          <p:cNvPr id="37" name="Text 27"/>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950" dirty="0">
                <a:solidFill>
                  <a:srgbClr val="9AA9B5"/>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algn="l" indent="0" marL="0">
              <a:buNone/>
            </a:pPr>
            <a:r>
              <a:rPr lang="en-US" sz="1100" b="1" spc="220" kern="0" dirty="0">
                <a:solidFill>
                  <a:srgbClr val="FF9900"/>
                </a:solidFill>
                <a:latin typeface="Calibri" pitchFamily="34" charset="0"/>
                <a:ea typeface="Calibri" pitchFamily="34" charset="-122"/>
                <a:cs typeface="Calibri" pitchFamily="34" charset="-120"/>
              </a:rPr>
              <a:t>MOTIVATION</a:t>
            </a:r>
            <a:endParaRPr lang="en-US" sz="1100" dirty="0"/>
          </a:p>
        </p:txBody>
      </p:sp>
      <p:sp>
        <p:nvSpPr>
          <p:cNvPr id="3" name="Text 1"/>
          <p:cNvSpPr/>
          <p:nvPr/>
        </p:nvSpPr>
        <p:spPr>
          <a:xfrm>
            <a:off x="566928" y="566928"/>
            <a:ext cx="11057839" cy="50292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The problem: power arrived with complexity</a:t>
            </a:r>
            <a:endParaRPr lang="en-US" sz="3000" dirty="0"/>
          </a:p>
        </p:txBody>
      </p:sp>
      <p:sp>
        <p:nvSpPr>
          <p:cNvPr id="4" name="Text 2"/>
          <p:cNvSpPr/>
          <p:nvPr/>
        </p:nvSpPr>
        <p:spPr>
          <a:xfrm>
            <a:off x="566928" y="1417320"/>
            <a:ext cx="6400800" cy="685800"/>
          </a:xfrm>
          <a:prstGeom prst="rect">
            <a:avLst/>
          </a:prstGeom>
          <a:noFill/>
          <a:ln/>
        </p:spPr>
        <p:txBody>
          <a:bodyPr wrap="square" lIns="0" tIns="0" rIns="0" bIns="0" rtlCol="0" anchor="ctr"/>
          <a:lstStyle/>
          <a:p>
            <a:pPr indent="0" marL="0">
              <a:lnSpc>
                <a:spcPct val="122000"/>
              </a:lnSpc>
              <a:buNone/>
            </a:pPr>
            <a:r>
              <a:rPr lang="en-US" sz="1400" dirty="0">
                <a:solidFill>
                  <a:srgbClr val="232F3E"/>
                </a:solidFill>
                <a:latin typeface="Calibri" pitchFamily="34" charset="0"/>
                <a:ea typeface="Calibri" pitchFamily="34" charset="-122"/>
                <a:cs typeface="Calibri" pitchFamily="34" charset="-120"/>
              </a:rPr>
              <a:t>Amazon EC2 gives you every knob a data centre has. For a team that only wants a website, a blog or a small application online, most of those knobs are a tax rather than a feature.</a:t>
            </a:r>
            <a:endParaRPr lang="en-US" sz="1400" dirty="0"/>
          </a:p>
        </p:txBody>
      </p:sp>
      <p:sp>
        <p:nvSpPr>
          <p:cNvPr id="5" name="Shape 3"/>
          <p:cNvSpPr/>
          <p:nvPr/>
        </p:nvSpPr>
        <p:spPr>
          <a:xfrm>
            <a:off x="566928" y="2212848"/>
            <a:ext cx="530352" cy="530352"/>
          </a:xfrm>
          <a:prstGeom prst="ellipse">
            <a:avLst/>
          </a:prstGeom>
          <a:solidFill>
            <a:srgbClr val="232F3E"/>
          </a:solidFill>
          <a:ln/>
        </p:spPr>
      </p:sp>
      <p:pic>
        <p:nvPicPr>
          <p:cNvPr id="6" name="Image 0" descr="/home/user/PBL-Proj/lightsail/assets/icon-wrench.png">    </p:cNvPr>
          <p:cNvPicPr>
            <a:picLocks noChangeAspect="1"/>
          </p:cNvPicPr>
          <p:nvPr/>
        </p:nvPicPr>
        <p:blipFill>
          <a:blip r:embed="rId1"/>
          <a:stretch>
            <a:fillRect/>
          </a:stretch>
        </p:blipFill>
        <p:spPr>
          <a:xfrm>
            <a:off x="704820" y="2350740"/>
            <a:ext cx="254569" cy="254569"/>
          </a:xfrm>
          <a:prstGeom prst="rect">
            <a:avLst/>
          </a:prstGeom>
        </p:spPr>
      </p:pic>
      <p:sp>
        <p:nvSpPr>
          <p:cNvPr id="7" name="Text 4"/>
          <p:cNvSpPr/>
          <p:nvPr/>
        </p:nvSpPr>
        <p:spPr>
          <a:xfrm>
            <a:off x="1280160" y="2185416"/>
            <a:ext cx="5669280" cy="292608"/>
          </a:xfrm>
          <a:prstGeom prst="rect">
            <a:avLst/>
          </a:prstGeom>
          <a:noFill/>
          <a:ln/>
        </p:spPr>
        <p:txBody>
          <a:bodyPr wrap="square" lIns="0" tIns="0" rIns="0" bIns="0" rtlCol="0" anchor="ctr"/>
          <a:lstStyle/>
          <a:p>
            <a:pPr indent="0" marL="0">
              <a:buNone/>
            </a:pPr>
            <a:r>
              <a:rPr lang="en-US" sz="1600" b="1" dirty="0">
                <a:solidFill>
                  <a:srgbClr val="232F3E"/>
                </a:solidFill>
                <a:latin typeface="Cambria" pitchFamily="34" charset="0"/>
                <a:ea typeface="Cambria" pitchFamily="34" charset="-122"/>
                <a:cs typeface="Cambria" pitchFamily="34" charset="-120"/>
              </a:rPr>
              <a:t>Too many decisions</a:t>
            </a:r>
            <a:endParaRPr lang="en-US" sz="1600" dirty="0"/>
          </a:p>
        </p:txBody>
      </p:sp>
      <p:sp>
        <p:nvSpPr>
          <p:cNvPr id="8" name="Text 5"/>
          <p:cNvSpPr/>
          <p:nvPr/>
        </p:nvSpPr>
        <p:spPr>
          <a:xfrm>
            <a:off x="1280160" y="2496312"/>
            <a:ext cx="5669280" cy="822960"/>
          </a:xfrm>
          <a:prstGeom prst="rect">
            <a:avLst/>
          </a:prstGeom>
          <a:noFill/>
          <a:ln/>
        </p:spPr>
        <p:txBody>
          <a:bodyPr wrap="square" lIns="0" tIns="0" rIns="0" bIns="0" rtlCol="0" anchor="ctr"/>
          <a:lstStyle/>
          <a:p>
            <a:pPr indent="0" marL="0">
              <a:lnSpc>
                <a:spcPct val="114000"/>
              </a:lnSpc>
              <a:buNone/>
            </a:pPr>
            <a:r>
              <a:rPr lang="en-US" sz="1200" dirty="0">
                <a:solidFill>
                  <a:srgbClr val="5A6B7B"/>
                </a:solidFill>
                <a:latin typeface="Calibri" pitchFamily="34" charset="0"/>
                <a:ea typeface="Calibri" pitchFamily="34" charset="-122"/>
                <a:cs typeface="Calibri" pitchFamily="34" charset="-120"/>
              </a:rPr>
              <a:t>Before a raw EC2 instance serves traffic you must design a VPC, a subnet, a route table, an internet gateway, a security group, an EBS volume, a key pair and an Elastic IP.</a:t>
            </a:r>
            <a:endParaRPr lang="en-US" sz="1200" dirty="0"/>
          </a:p>
        </p:txBody>
      </p:sp>
      <p:sp>
        <p:nvSpPr>
          <p:cNvPr id="9" name="Shape 6"/>
          <p:cNvSpPr/>
          <p:nvPr/>
        </p:nvSpPr>
        <p:spPr>
          <a:xfrm>
            <a:off x="566928" y="3511296"/>
            <a:ext cx="530352" cy="530352"/>
          </a:xfrm>
          <a:prstGeom prst="ellipse">
            <a:avLst/>
          </a:prstGeom>
          <a:solidFill>
            <a:srgbClr val="232F3E"/>
          </a:solidFill>
          <a:ln/>
        </p:spPr>
      </p:sp>
      <p:pic>
        <p:nvPicPr>
          <p:cNvPr id="10" name="Image 1" descr="/home/user/PBL-Proj/lightsail/assets/icon-tag.png">    </p:cNvPr>
          <p:cNvPicPr>
            <a:picLocks noChangeAspect="1"/>
          </p:cNvPicPr>
          <p:nvPr/>
        </p:nvPicPr>
        <p:blipFill>
          <a:blip r:embed="rId2"/>
          <a:stretch>
            <a:fillRect/>
          </a:stretch>
        </p:blipFill>
        <p:spPr>
          <a:xfrm>
            <a:off x="704820" y="3649188"/>
            <a:ext cx="254569" cy="254569"/>
          </a:xfrm>
          <a:prstGeom prst="rect">
            <a:avLst/>
          </a:prstGeom>
        </p:spPr>
      </p:pic>
      <p:sp>
        <p:nvSpPr>
          <p:cNvPr id="11" name="Text 7"/>
          <p:cNvSpPr/>
          <p:nvPr/>
        </p:nvSpPr>
        <p:spPr>
          <a:xfrm>
            <a:off x="1280160" y="3483864"/>
            <a:ext cx="5669280" cy="292608"/>
          </a:xfrm>
          <a:prstGeom prst="rect">
            <a:avLst/>
          </a:prstGeom>
          <a:noFill/>
          <a:ln/>
        </p:spPr>
        <p:txBody>
          <a:bodyPr wrap="square" lIns="0" tIns="0" rIns="0" bIns="0" rtlCol="0" anchor="ctr"/>
          <a:lstStyle/>
          <a:p>
            <a:pPr indent="0" marL="0">
              <a:buNone/>
            </a:pPr>
            <a:r>
              <a:rPr lang="en-US" sz="1600" b="1" dirty="0">
                <a:solidFill>
                  <a:srgbClr val="232F3E"/>
                </a:solidFill>
                <a:latin typeface="Cambria" pitchFamily="34" charset="0"/>
                <a:ea typeface="Cambria" pitchFamily="34" charset="-122"/>
                <a:cs typeface="Cambria" pitchFamily="34" charset="-120"/>
              </a:rPr>
              <a:t>Unpredictable bills</a:t>
            </a:r>
            <a:endParaRPr lang="en-US" sz="1600" dirty="0"/>
          </a:p>
        </p:txBody>
      </p:sp>
      <p:sp>
        <p:nvSpPr>
          <p:cNvPr id="12" name="Text 8"/>
          <p:cNvSpPr/>
          <p:nvPr/>
        </p:nvSpPr>
        <p:spPr>
          <a:xfrm>
            <a:off x="1280160" y="3794760"/>
            <a:ext cx="5669280" cy="822960"/>
          </a:xfrm>
          <a:prstGeom prst="rect">
            <a:avLst/>
          </a:prstGeom>
          <a:noFill/>
          <a:ln/>
        </p:spPr>
        <p:txBody>
          <a:bodyPr wrap="square" lIns="0" tIns="0" rIns="0" bIns="0" rtlCol="0" anchor="ctr"/>
          <a:lstStyle/>
          <a:p>
            <a:pPr indent="0" marL="0">
              <a:lnSpc>
                <a:spcPct val="114000"/>
              </a:lnSpc>
              <a:buNone/>
            </a:pPr>
            <a:r>
              <a:rPr lang="en-US" sz="1200" dirty="0">
                <a:solidFill>
                  <a:srgbClr val="5A6B7B"/>
                </a:solidFill>
                <a:latin typeface="Calibri" pitchFamily="34" charset="0"/>
                <a:ea typeface="Calibri" pitchFamily="34" charset="-122"/>
                <a:cs typeface="Calibri" pitchFamily="34" charset="-120"/>
              </a:rPr>
              <a:t>Compute, storage, egress and the IP address are four separate meters. A small site cannot forecast next month's invoice.</a:t>
            </a:r>
            <a:endParaRPr lang="en-US" sz="1200" dirty="0"/>
          </a:p>
        </p:txBody>
      </p:sp>
      <p:sp>
        <p:nvSpPr>
          <p:cNvPr id="13" name="Shape 9"/>
          <p:cNvSpPr/>
          <p:nvPr/>
        </p:nvSpPr>
        <p:spPr>
          <a:xfrm>
            <a:off x="566928" y="4809744"/>
            <a:ext cx="530352" cy="530352"/>
          </a:xfrm>
          <a:prstGeom prst="ellipse">
            <a:avLst/>
          </a:prstGeom>
          <a:solidFill>
            <a:srgbClr val="232F3E"/>
          </a:solidFill>
          <a:ln/>
        </p:spPr>
      </p:sp>
      <p:pic>
        <p:nvPicPr>
          <p:cNvPr id="14" name="Image 2" descr="/home/user/PBL-Proj/lightsail/assets/icon-cap.png">    </p:cNvPr>
          <p:cNvPicPr>
            <a:picLocks noChangeAspect="1"/>
          </p:cNvPicPr>
          <p:nvPr/>
        </p:nvPicPr>
        <p:blipFill>
          <a:blip r:embed="rId3"/>
          <a:stretch>
            <a:fillRect/>
          </a:stretch>
        </p:blipFill>
        <p:spPr>
          <a:xfrm>
            <a:off x="704820" y="4947636"/>
            <a:ext cx="254569" cy="254569"/>
          </a:xfrm>
          <a:prstGeom prst="rect">
            <a:avLst/>
          </a:prstGeom>
        </p:spPr>
      </p:pic>
      <p:sp>
        <p:nvSpPr>
          <p:cNvPr id="15" name="Text 10"/>
          <p:cNvSpPr/>
          <p:nvPr/>
        </p:nvSpPr>
        <p:spPr>
          <a:xfrm>
            <a:off x="1280160" y="4782312"/>
            <a:ext cx="5669280" cy="292608"/>
          </a:xfrm>
          <a:prstGeom prst="rect">
            <a:avLst/>
          </a:prstGeom>
          <a:noFill/>
          <a:ln/>
        </p:spPr>
        <p:txBody>
          <a:bodyPr wrap="square" lIns="0" tIns="0" rIns="0" bIns="0" rtlCol="0" anchor="ctr"/>
          <a:lstStyle/>
          <a:p>
            <a:pPr indent="0" marL="0">
              <a:buNone/>
            </a:pPr>
            <a:r>
              <a:rPr lang="en-US" sz="1600" b="1" dirty="0">
                <a:solidFill>
                  <a:srgbClr val="232F3E"/>
                </a:solidFill>
                <a:latin typeface="Cambria" pitchFamily="34" charset="0"/>
                <a:ea typeface="Cambria" pitchFamily="34" charset="-122"/>
                <a:cs typeface="Cambria" pitchFamily="34" charset="-120"/>
              </a:rPr>
              <a:t>Skills mismatch</a:t>
            </a:r>
            <a:endParaRPr lang="en-US" sz="1600" dirty="0"/>
          </a:p>
        </p:txBody>
      </p:sp>
      <p:sp>
        <p:nvSpPr>
          <p:cNvPr id="16" name="Text 11"/>
          <p:cNvSpPr/>
          <p:nvPr/>
        </p:nvSpPr>
        <p:spPr>
          <a:xfrm>
            <a:off x="1280160" y="5093208"/>
            <a:ext cx="5669280" cy="822960"/>
          </a:xfrm>
          <a:prstGeom prst="rect">
            <a:avLst/>
          </a:prstGeom>
          <a:noFill/>
          <a:ln/>
        </p:spPr>
        <p:txBody>
          <a:bodyPr wrap="square" lIns="0" tIns="0" rIns="0" bIns="0" rtlCol="0" anchor="ctr"/>
          <a:lstStyle/>
          <a:p>
            <a:pPr indent="0" marL="0">
              <a:lnSpc>
                <a:spcPct val="114000"/>
              </a:lnSpc>
              <a:buNone/>
            </a:pPr>
            <a:r>
              <a:rPr lang="en-US" sz="1200" dirty="0">
                <a:solidFill>
                  <a:srgbClr val="5A6B7B"/>
                </a:solidFill>
                <a:latin typeface="Calibri" pitchFamily="34" charset="0"/>
                <a:ea typeface="Calibri" pitchFamily="34" charset="-122"/>
                <a:cs typeface="Calibri" pitchFamily="34" charset="-120"/>
              </a:rPr>
              <a:t>Students, freelancers and small businesses need a running server, not a cloud architecture certification.</a:t>
            </a:r>
            <a:endParaRPr lang="en-US" sz="1200" dirty="0"/>
          </a:p>
        </p:txBody>
      </p:sp>
      <p:sp>
        <p:nvSpPr>
          <p:cNvPr id="17" name="Shape 12"/>
          <p:cNvSpPr/>
          <p:nvPr/>
        </p:nvSpPr>
        <p:spPr>
          <a:xfrm>
            <a:off x="7452360" y="1417320"/>
            <a:ext cx="4160520" cy="1325880"/>
          </a:xfrm>
          <a:prstGeom prst="roundRect">
            <a:avLst>
              <a:gd name="adj" fmla="val 6207"/>
            </a:avLst>
          </a:prstGeom>
          <a:solidFill>
            <a:srgbClr val="F4F7F9"/>
          </a:solidFill>
          <a:ln w="12700">
            <a:solidFill>
              <a:srgbClr val="D5DEE5"/>
            </a:solidFill>
            <a:prstDash val="solid"/>
          </a:ln>
        </p:spPr>
      </p:sp>
      <p:sp>
        <p:nvSpPr>
          <p:cNvPr id="18" name="Text 13"/>
          <p:cNvSpPr/>
          <p:nvPr/>
        </p:nvSpPr>
        <p:spPr>
          <a:xfrm>
            <a:off x="7680960" y="1517904"/>
            <a:ext cx="3703320" cy="603504"/>
          </a:xfrm>
          <a:prstGeom prst="rect">
            <a:avLst/>
          </a:prstGeom>
          <a:noFill/>
          <a:ln/>
        </p:spPr>
        <p:txBody>
          <a:bodyPr wrap="square" lIns="0" tIns="0" rIns="0" bIns="0" rtlCol="0" anchor="ctr"/>
          <a:lstStyle/>
          <a:p>
            <a:pPr indent="0" marL="0">
              <a:buNone/>
            </a:pPr>
            <a:r>
              <a:rPr lang="en-US" sz="4000" b="1" dirty="0">
                <a:solidFill>
                  <a:srgbClr val="A8342B"/>
                </a:solidFill>
                <a:latin typeface="Cambria" pitchFamily="34" charset="0"/>
                <a:ea typeface="Cambria" pitchFamily="34" charset="-122"/>
                <a:cs typeface="Cambria" pitchFamily="34" charset="-120"/>
              </a:rPr>
              <a:t>750+</a:t>
            </a:r>
            <a:endParaRPr lang="en-US" sz="4000" dirty="0"/>
          </a:p>
        </p:txBody>
      </p:sp>
      <p:sp>
        <p:nvSpPr>
          <p:cNvPr id="19" name="Text 14"/>
          <p:cNvSpPr/>
          <p:nvPr/>
        </p:nvSpPr>
        <p:spPr>
          <a:xfrm>
            <a:off x="7680960" y="2139696"/>
            <a:ext cx="3703320" cy="512064"/>
          </a:xfrm>
          <a:prstGeom prst="rect">
            <a:avLst/>
          </a:prstGeom>
          <a:noFill/>
          <a:ln/>
        </p:spPr>
        <p:txBody>
          <a:bodyPr wrap="square" lIns="0" tIns="0" rIns="0" bIns="0" rtlCol="0" anchor="ctr"/>
          <a:lstStyle/>
          <a:p>
            <a:pPr indent="0" marL="0">
              <a:lnSpc>
                <a:spcPct val="110000"/>
              </a:lnSpc>
              <a:buNone/>
            </a:pPr>
            <a:r>
              <a:rPr lang="en-US" sz="1200" dirty="0">
                <a:solidFill>
                  <a:srgbClr val="5A6B7B"/>
                </a:solidFill>
                <a:latin typeface="Calibri" pitchFamily="34" charset="0"/>
                <a:ea typeface="Calibri" pitchFamily="34" charset="-122"/>
                <a:cs typeface="Calibri" pitchFamily="34" charset="-120"/>
              </a:rPr>
              <a:t>Amazon EC2 instance types to choose between</a:t>
            </a:r>
            <a:endParaRPr lang="en-US" sz="1200" dirty="0"/>
          </a:p>
        </p:txBody>
      </p:sp>
      <p:sp>
        <p:nvSpPr>
          <p:cNvPr id="20" name="Shape 15"/>
          <p:cNvSpPr/>
          <p:nvPr/>
        </p:nvSpPr>
        <p:spPr>
          <a:xfrm>
            <a:off x="7452360" y="2889504"/>
            <a:ext cx="4160520" cy="1325880"/>
          </a:xfrm>
          <a:prstGeom prst="roundRect">
            <a:avLst>
              <a:gd name="adj" fmla="val 6207"/>
            </a:avLst>
          </a:prstGeom>
          <a:solidFill>
            <a:srgbClr val="F4F7F9"/>
          </a:solidFill>
          <a:ln w="12700">
            <a:solidFill>
              <a:srgbClr val="D5DEE5"/>
            </a:solidFill>
            <a:prstDash val="solid"/>
          </a:ln>
        </p:spPr>
      </p:sp>
      <p:sp>
        <p:nvSpPr>
          <p:cNvPr id="21" name="Text 16"/>
          <p:cNvSpPr/>
          <p:nvPr/>
        </p:nvSpPr>
        <p:spPr>
          <a:xfrm>
            <a:off x="7680960" y="2990088"/>
            <a:ext cx="3703320" cy="603504"/>
          </a:xfrm>
          <a:prstGeom prst="rect">
            <a:avLst/>
          </a:prstGeom>
          <a:noFill/>
          <a:ln/>
        </p:spPr>
        <p:txBody>
          <a:bodyPr wrap="square" lIns="0" tIns="0" rIns="0" bIns="0" rtlCol="0" anchor="ctr"/>
          <a:lstStyle/>
          <a:p>
            <a:pPr indent="0" marL="0">
              <a:buNone/>
            </a:pPr>
            <a:r>
              <a:rPr lang="en-US" sz="4000" b="1" dirty="0">
                <a:solidFill>
                  <a:srgbClr val="00A1C9"/>
                </a:solidFill>
                <a:latin typeface="Cambria" pitchFamily="34" charset="0"/>
                <a:ea typeface="Cambria" pitchFamily="34" charset="-122"/>
                <a:cs typeface="Cambria" pitchFamily="34" charset="-120"/>
              </a:rPr>
              <a:t>8</a:t>
            </a:r>
            <a:endParaRPr lang="en-US" sz="4000" dirty="0"/>
          </a:p>
        </p:txBody>
      </p:sp>
      <p:sp>
        <p:nvSpPr>
          <p:cNvPr id="22" name="Text 17"/>
          <p:cNvSpPr/>
          <p:nvPr/>
        </p:nvSpPr>
        <p:spPr>
          <a:xfrm>
            <a:off x="7680960" y="3611880"/>
            <a:ext cx="3703320" cy="512064"/>
          </a:xfrm>
          <a:prstGeom prst="rect">
            <a:avLst/>
          </a:prstGeom>
          <a:noFill/>
          <a:ln/>
        </p:spPr>
        <p:txBody>
          <a:bodyPr wrap="square" lIns="0" tIns="0" rIns="0" bIns="0" rtlCol="0" anchor="ctr"/>
          <a:lstStyle/>
          <a:p>
            <a:pPr indent="0" marL="0">
              <a:lnSpc>
                <a:spcPct val="110000"/>
              </a:lnSpc>
              <a:buNone/>
            </a:pPr>
            <a:r>
              <a:rPr lang="en-US" sz="1200" dirty="0">
                <a:solidFill>
                  <a:srgbClr val="5A6B7B"/>
                </a:solidFill>
                <a:latin typeface="Calibri" pitchFamily="34" charset="0"/>
                <a:ea typeface="Calibri" pitchFamily="34" charset="-122"/>
                <a:cs typeface="Calibri" pitchFamily="34" charset="-120"/>
              </a:rPr>
              <a:t>Lightsail general-purpose bundles — the whole menu</a:t>
            </a:r>
            <a:endParaRPr lang="en-US" sz="1200" dirty="0"/>
          </a:p>
        </p:txBody>
      </p:sp>
      <p:sp>
        <p:nvSpPr>
          <p:cNvPr id="23" name="Shape 18"/>
          <p:cNvSpPr/>
          <p:nvPr/>
        </p:nvSpPr>
        <p:spPr>
          <a:xfrm>
            <a:off x="7452360" y="4361688"/>
            <a:ext cx="4160520" cy="1325880"/>
          </a:xfrm>
          <a:prstGeom prst="roundRect">
            <a:avLst>
              <a:gd name="adj" fmla="val 6207"/>
            </a:avLst>
          </a:prstGeom>
          <a:solidFill>
            <a:srgbClr val="232F3E"/>
          </a:solidFill>
          <a:ln w="12700">
            <a:solidFill>
              <a:srgbClr val="232F3E"/>
            </a:solidFill>
            <a:prstDash val="solid"/>
          </a:ln>
        </p:spPr>
      </p:sp>
      <p:sp>
        <p:nvSpPr>
          <p:cNvPr id="24" name="Text 19"/>
          <p:cNvSpPr/>
          <p:nvPr/>
        </p:nvSpPr>
        <p:spPr>
          <a:xfrm>
            <a:off x="7680960" y="4462272"/>
            <a:ext cx="3703320" cy="603504"/>
          </a:xfrm>
          <a:prstGeom prst="rect">
            <a:avLst/>
          </a:prstGeom>
          <a:noFill/>
          <a:ln/>
        </p:spPr>
        <p:txBody>
          <a:bodyPr wrap="square" lIns="0" tIns="0" rIns="0" bIns="0" rtlCol="0" anchor="ctr"/>
          <a:lstStyle/>
          <a:p>
            <a:pPr indent="0" marL="0">
              <a:buNone/>
            </a:pPr>
            <a:r>
              <a:rPr lang="en-US" sz="4000" b="1" dirty="0">
                <a:solidFill>
                  <a:srgbClr val="FF9900"/>
                </a:solidFill>
                <a:latin typeface="Cambria" pitchFamily="34" charset="0"/>
                <a:ea typeface="Cambria" pitchFamily="34" charset="-122"/>
                <a:cs typeface="Cambria" pitchFamily="34" charset="-120"/>
              </a:rPr>
              <a:t>1</a:t>
            </a:r>
            <a:endParaRPr lang="en-US" sz="4000" dirty="0"/>
          </a:p>
        </p:txBody>
      </p:sp>
      <p:sp>
        <p:nvSpPr>
          <p:cNvPr id="25" name="Text 20"/>
          <p:cNvSpPr/>
          <p:nvPr/>
        </p:nvSpPr>
        <p:spPr>
          <a:xfrm>
            <a:off x="7680960" y="5084064"/>
            <a:ext cx="3703320" cy="512064"/>
          </a:xfrm>
          <a:prstGeom prst="rect">
            <a:avLst/>
          </a:prstGeom>
          <a:noFill/>
          <a:ln/>
        </p:spPr>
        <p:txBody>
          <a:bodyPr wrap="square" lIns="0" tIns="0" rIns="0" bIns="0" rtlCol="0" anchor="ctr"/>
          <a:lstStyle/>
          <a:p>
            <a:pPr indent="0" marL="0">
              <a:lnSpc>
                <a:spcPct val="110000"/>
              </a:lnSpc>
              <a:buNone/>
            </a:pPr>
            <a:r>
              <a:rPr lang="en-US" sz="1200" dirty="0">
                <a:solidFill>
                  <a:srgbClr val="C4CFD8"/>
                </a:solidFill>
                <a:latin typeface="Calibri" pitchFamily="34" charset="0"/>
                <a:ea typeface="Calibri" pitchFamily="34" charset="-122"/>
                <a:cs typeface="Calibri" pitchFamily="34" charset="-120"/>
              </a:rPr>
              <a:t>Line on your bill, fixed before you deploy</a:t>
            </a:r>
            <a:endParaRPr lang="en-US" sz="1200" dirty="0"/>
          </a:p>
        </p:txBody>
      </p:sp>
      <p:sp>
        <p:nvSpPr>
          <p:cNvPr id="26" name="Text 21"/>
          <p:cNvSpPr/>
          <p:nvPr/>
        </p:nvSpPr>
        <p:spPr>
          <a:xfrm>
            <a:off x="7452360" y="5833872"/>
            <a:ext cx="4160520" cy="274320"/>
          </a:xfrm>
          <a:prstGeom prst="rect">
            <a:avLst/>
          </a:prstGeom>
          <a:noFill/>
          <a:ln/>
        </p:spPr>
        <p:txBody>
          <a:bodyPr wrap="square" lIns="0" tIns="0" rIns="0" bIns="0" rtlCol="0" anchor="ctr"/>
          <a:lstStyle/>
          <a:p>
            <a:pPr algn="ctr" indent="0" marL="0">
              <a:buNone/>
            </a:pPr>
            <a:r>
              <a:rPr lang="en-US" sz="1150" i="1" dirty="0">
                <a:solidFill>
                  <a:srgbClr val="232F3E"/>
                </a:solidFill>
                <a:latin typeface="Calibri" pitchFamily="34" charset="0"/>
                <a:ea typeface="Calibri" pitchFamily="34" charset="-122"/>
                <a:cs typeface="Calibri" pitchFamily="34" charset="-120"/>
              </a:rPr>
              <a:t>Fewer choices, stated cost, identical AWS hardware.</a:t>
            </a:r>
            <a:endParaRPr lang="en-US" sz="1150" dirty="0"/>
          </a:p>
        </p:txBody>
      </p:sp>
      <p:sp>
        <p:nvSpPr>
          <p:cNvPr id="27" name="Text 22"/>
          <p:cNvSpPr/>
          <p:nvPr/>
        </p:nvSpPr>
        <p:spPr>
          <a:xfrm>
            <a:off x="566928" y="6437376"/>
            <a:ext cx="7772400" cy="256032"/>
          </a:xfrm>
          <a:prstGeom prst="rect">
            <a:avLst/>
          </a:prstGeom>
          <a:noFill/>
          <a:ln/>
        </p:spPr>
        <p:txBody>
          <a:bodyPr wrap="square" lIns="0" tIns="0" rIns="0" bIns="0" rtlCol="0" anchor="ctr"/>
          <a:lstStyle/>
          <a:p>
            <a:pPr algn="l" indent="0" marL="0">
              <a:buNone/>
            </a:pPr>
            <a:r>
              <a:rPr lang="en-US" sz="950" dirty="0">
                <a:solidFill>
                  <a:srgbClr val="9AA9B5"/>
                </a:solidFill>
                <a:latin typeface="Calibri" pitchFamily="34" charset="0"/>
                <a:ea typeface="Calibri" pitchFamily="34" charset="-122"/>
                <a:cs typeface="Calibri" pitchFamily="34" charset="-120"/>
              </a:rPr>
              <a:t>Amazon Lightsail (PaaS-Lite)  ·  Hridiyansh Shukla  ·  2427030591</a:t>
            </a:r>
            <a:endParaRPr lang="en-US" sz="950" dirty="0"/>
          </a:p>
        </p:txBody>
      </p:sp>
      <p:sp>
        <p:nvSpPr>
          <p:cNvPr id="28" name="Text 23"/>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950" dirty="0">
                <a:solidFill>
                  <a:srgbClr val="9AA9B5"/>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algn="l" indent="0" marL="0">
              <a:buNone/>
            </a:pPr>
            <a:r>
              <a:rPr lang="en-US" sz="1100" b="1" spc="220" kern="0" dirty="0">
                <a:solidFill>
                  <a:srgbClr val="FF9900"/>
                </a:solidFill>
                <a:latin typeface="Calibri" pitchFamily="34" charset="0"/>
                <a:ea typeface="Calibri" pitchFamily="34" charset="-122"/>
                <a:cs typeface="Calibri" pitchFamily="34" charset="-120"/>
              </a:rPr>
              <a:t>POSITIONING</a:t>
            </a:r>
            <a:endParaRPr lang="en-US" sz="1100" dirty="0"/>
          </a:p>
        </p:txBody>
      </p:sp>
      <p:sp>
        <p:nvSpPr>
          <p:cNvPr id="3" name="Text 1"/>
          <p:cNvSpPr/>
          <p:nvPr/>
        </p:nvSpPr>
        <p:spPr>
          <a:xfrm>
            <a:off x="566928" y="566928"/>
            <a:ext cx="11057839" cy="50292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Where Lightsail sits in the cloud stack</a:t>
            </a:r>
            <a:endParaRPr lang="en-US" sz="3000" dirty="0"/>
          </a:p>
        </p:txBody>
      </p:sp>
      <p:sp>
        <p:nvSpPr>
          <p:cNvPr id="4" name="Shape 2"/>
          <p:cNvSpPr/>
          <p:nvPr/>
        </p:nvSpPr>
        <p:spPr>
          <a:xfrm>
            <a:off x="566928" y="1371600"/>
            <a:ext cx="2697480" cy="4572000"/>
          </a:xfrm>
          <a:prstGeom prst="roundRect">
            <a:avLst>
              <a:gd name="adj" fmla="val 3051"/>
            </a:avLst>
          </a:prstGeom>
          <a:solidFill>
            <a:srgbClr val="232F3E"/>
          </a:solidFill>
          <a:ln w="12700">
            <a:solidFill>
              <a:srgbClr val="232F3E"/>
            </a:solidFill>
            <a:prstDash val="solid"/>
          </a:ln>
        </p:spPr>
      </p:sp>
      <p:sp>
        <p:nvSpPr>
          <p:cNvPr id="5" name="Text 3"/>
          <p:cNvSpPr/>
          <p:nvPr/>
        </p:nvSpPr>
        <p:spPr>
          <a:xfrm>
            <a:off x="786384" y="1572768"/>
            <a:ext cx="2286000" cy="365760"/>
          </a:xfrm>
          <a:prstGeom prst="rect">
            <a:avLst/>
          </a:prstGeom>
          <a:noFill/>
          <a:ln/>
        </p:spPr>
        <p:txBody>
          <a:bodyPr wrap="square" lIns="0" tIns="0" rIns="0" bIns="0" rtlCol="0" anchor="ctr"/>
          <a:lstStyle/>
          <a:p>
            <a:pPr indent="0" marL="0">
              <a:buNone/>
            </a:pPr>
            <a:r>
              <a:rPr lang="en-US" sz="1700" b="1" dirty="0">
                <a:solidFill>
                  <a:srgbClr val="FF9900"/>
                </a:solidFill>
                <a:latin typeface="Cambria" pitchFamily="34" charset="0"/>
                <a:ea typeface="Cambria" pitchFamily="34" charset="-122"/>
                <a:cs typeface="Cambria" pitchFamily="34" charset="-120"/>
              </a:rPr>
              <a:t>Why “PaaS-Lite”?</a:t>
            </a:r>
            <a:endParaRPr lang="en-US" sz="1700" dirty="0"/>
          </a:p>
        </p:txBody>
      </p:sp>
      <p:sp>
        <p:nvSpPr>
          <p:cNvPr id="6" name="Text 4"/>
          <p:cNvSpPr/>
          <p:nvPr/>
        </p:nvSpPr>
        <p:spPr>
          <a:xfrm>
            <a:off x="786384" y="2029968"/>
            <a:ext cx="2286000" cy="3657600"/>
          </a:xfrm>
          <a:prstGeom prst="rect">
            <a:avLst/>
          </a:prstGeom>
          <a:noFill/>
          <a:ln/>
        </p:spPr>
        <p:txBody>
          <a:bodyPr wrap="square" lIns="0" tIns="0" rIns="0" bIns="0" rtlCol="0" anchor="ctr"/>
          <a:lstStyle/>
          <a:p>
            <a:pPr indent="0" marL="0">
              <a:lnSpc>
                <a:spcPct val="116000"/>
              </a:lnSpc>
              <a:buNone/>
            </a:pPr>
            <a:r>
              <a:rPr lang="en-US" sz="1200" dirty="0">
                <a:solidFill>
                  <a:srgbClr val="C4CFD8"/>
                </a:solidFill>
                <a:latin typeface="Calibri" pitchFamily="34" charset="0"/>
                <a:ea typeface="Calibri" pitchFamily="34" charset="-122"/>
                <a:cs typeface="Calibri" pitchFamily="34" charset="-120"/>
              </a:rPr>
              <a:t>A true PaaS hides the operating system entirely — you push code and never meet a server.</a:t>
            </a:r>
            <a:endParaRPr lang="en-US" sz="1200" dirty="0"/>
          </a:p>
          <a:p>
            <a:pPr indent="0" marL="0">
              <a:lnSpc>
                <a:spcPct val="116000"/>
              </a:lnSpc>
              <a:buNone/>
            </a:pPr>
            <a:endParaRPr lang="en-US" sz="1200" dirty="0"/>
          </a:p>
          <a:p>
            <a:pPr indent="0" marL="0">
              <a:lnSpc>
                <a:spcPct val="116000"/>
              </a:lnSpc>
              <a:buNone/>
            </a:pPr>
            <a:r>
              <a:rPr lang="en-US" sz="1200" dirty="0">
                <a:solidFill>
                  <a:srgbClr val="C4CFD8"/>
                </a:solidFill>
                <a:latin typeface="Calibri" pitchFamily="34" charset="0"/>
                <a:ea typeface="Calibri" pitchFamily="34" charset="-122"/>
                <a:cs typeface="Calibri" pitchFamily="34" charset="-120"/>
              </a:rPr>
              <a:t>Lightsail pre-builds the OS and the runtime for you, then hands you the root password anyway.</a:t>
            </a:r>
            <a:endParaRPr lang="en-US" sz="1200" dirty="0"/>
          </a:p>
          <a:p>
            <a:pPr indent="0" marL="0">
              <a:lnSpc>
                <a:spcPct val="116000"/>
              </a:lnSpc>
              <a:buNone/>
            </a:pPr>
            <a:endParaRPr lang="en-US" sz="1200" dirty="0"/>
          </a:p>
          <a:p>
            <a:pPr indent="0" marL="0">
              <a:lnSpc>
                <a:spcPct val="116000"/>
              </a:lnSpc>
              <a:buNone/>
            </a:pPr>
            <a:r>
              <a:rPr lang="en-US" sz="1200" dirty="0">
                <a:solidFill>
                  <a:srgbClr val="C4CFD8"/>
                </a:solidFill>
                <a:latin typeface="Calibri" pitchFamily="34" charset="0"/>
                <a:ea typeface="Calibri" pitchFamily="34" charset="-122"/>
                <a:cs typeface="Calibri" pitchFamily="34" charset="-120"/>
              </a:rPr>
              <a:t>You get PaaS convenience on day one and IaaS control on day two. That hybrid position is the whole product.</a:t>
            </a:r>
            <a:endParaRPr lang="en-US" sz="1200" dirty="0"/>
          </a:p>
        </p:txBody>
      </p:sp>
      <p:pic>
        <p:nvPicPr>
          <p:cNvPr id="7" name="Image 0" descr="/home/user/PBL-Proj/lightsail/assets/fig-service-models.png">    </p:cNvPr>
          <p:cNvPicPr>
            <a:picLocks noChangeAspect="1"/>
          </p:cNvPicPr>
          <p:nvPr/>
        </p:nvPicPr>
        <p:blipFill>
          <a:blip r:embed="rId1"/>
          <a:stretch>
            <a:fillRect/>
          </a:stretch>
        </p:blipFill>
        <p:spPr>
          <a:xfrm>
            <a:off x="3547872" y="1371600"/>
            <a:ext cx="8074152" cy="4745736"/>
          </a:xfrm>
          <a:prstGeom prst="rect">
            <a:avLst/>
          </a:prstGeom>
        </p:spPr>
      </p:pic>
      <p:sp>
        <p:nvSpPr>
          <p:cNvPr id="8" name="Text 5"/>
          <p:cNvSpPr/>
          <p:nvPr/>
        </p:nvSpPr>
        <p:spPr>
          <a:xfrm>
            <a:off x="3547872" y="6144768"/>
            <a:ext cx="8074152" cy="237744"/>
          </a:xfrm>
          <a:prstGeom prst="rect">
            <a:avLst/>
          </a:prstGeom>
          <a:noFill/>
          <a:ln/>
        </p:spPr>
        <p:txBody>
          <a:bodyPr wrap="square" lIns="0" tIns="0" rIns="0" bIns="0" rtlCol="0" anchor="ctr"/>
          <a:lstStyle/>
          <a:p>
            <a:pPr algn="r" indent="0" marL="0">
              <a:buNone/>
            </a:pPr>
            <a:r>
              <a:rPr lang="en-US" sz="950" i="1" dirty="0">
                <a:solidFill>
                  <a:srgbClr val="5A6B7B"/>
                </a:solidFill>
                <a:latin typeface="Calibri" pitchFamily="34" charset="0"/>
                <a:ea typeface="Calibri" pitchFamily="34" charset="-122"/>
                <a:cs typeface="Calibri" pitchFamily="34" charset="-120"/>
              </a:rPr>
              <a:t>Figure 1 — Division of management responsibility across cloud service models.</a:t>
            </a:r>
            <a:endParaRPr lang="en-US" sz="950" dirty="0"/>
          </a:p>
        </p:txBody>
      </p:sp>
      <p:sp>
        <p:nvSpPr>
          <p:cNvPr id="9" name="Text 6"/>
          <p:cNvSpPr/>
          <p:nvPr/>
        </p:nvSpPr>
        <p:spPr>
          <a:xfrm>
            <a:off x="566928" y="6437376"/>
            <a:ext cx="7772400" cy="256032"/>
          </a:xfrm>
          <a:prstGeom prst="rect">
            <a:avLst/>
          </a:prstGeom>
          <a:noFill/>
          <a:ln/>
        </p:spPr>
        <p:txBody>
          <a:bodyPr wrap="square" lIns="0" tIns="0" rIns="0" bIns="0" rtlCol="0" anchor="ctr"/>
          <a:lstStyle/>
          <a:p>
            <a:pPr algn="l" indent="0" marL="0">
              <a:buNone/>
            </a:pPr>
            <a:r>
              <a:rPr lang="en-US" sz="950" dirty="0">
                <a:solidFill>
                  <a:srgbClr val="9AA9B5"/>
                </a:solidFill>
                <a:latin typeface="Calibri" pitchFamily="34" charset="0"/>
                <a:ea typeface="Calibri" pitchFamily="34" charset="-122"/>
                <a:cs typeface="Calibri" pitchFamily="34" charset="-120"/>
              </a:rPr>
              <a:t>Amazon Lightsail (PaaS-Lite)  ·  Hridiyansh Shukla  ·  2427030591</a:t>
            </a:r>
            <a:endParaRPr lang="en-US" sz="950" dirty="0"/>
          </a:p>
        </p:txBody>
      </p:sp>
      <p:sp>
        <p:nvSpPr>
          <p:cNvPr id="10" name="Text 7"/>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950" dirty="0">
                <a:solidFill>
                  <a:srgbClr val="9AA9B5"/>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algn="l" indent="0" marL="0">
              <a:buNone/>
            </a:pPr>
            <a:r>
              <a:rPr lang="en-US" sz="1100" b="1" spc="220" kern="0" dirty="0">
                <a:solidFill>
                  <a:srgbClr val="FF9900"/>
                </a:solidFill>
                <a:latin typeface="Calibri" pitchFamily="34" charset="0"/>
                <a:ea typeface="Calibri" pitchFamily="34" charset="-122"/>
                <a:cs typeface="Calibri" pitchFamily="34" charset="-120"/>
              </a:rPr>
              <a:t>DEFINITION</a:t>
            </a:r>
            <a:endParaRPr lang="en-US" sz="1100" dirty="0"/>
          </a:p>
        </p:txBody>
      </p:sp>
      <p:sp>
        <p:nvSpPr>
          <p:cNvPr id="3" name="Text 1"/>
          <p:cNvSpPr/>
          <p:nvPr/>
        </p:nvSpPr>
        <p:spPr>
          <a:xfrm>
            <a:off x="566928" y="566928"/>
            <a:ext cx="11057839" cy="50292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What Amazon Lightsail actually is</a:t>
            </a:r>
            <a:endParaRPr lang="en-US" sz="3000" dirty="0"/>
          </a:p>
        </p:txBody>
      </p:sp>
      <p:sp>
        <p:nvSpPr>
          <p:cNvPr id="4" name="Shape 2"/>
          <p:cNvSpPr/>
          <p:nvPr/>
        </p:nvSpPr>
        <p:spPr>
          <a:xfrm>
            <a:off x="566928" y="1371600"/>
            <a:ext cx="11055096" cy="1170432"/>
          </a:xfrm>
          <a:prstGeom prst="roundRect">
            <a:avLst>
              <a:gd name="adj" fmla="val 7031"/>
            </a:avLst>
          </a:prstGeom>
          <a:solidFill>
            <a:srgbClr val="F4F7F9"/>
          </a:solidFill>
          <a:ln w="12700">
            <a:solidFill>
              <a:srgbClr val="00A1C9"/>
            </a:solidFill>
            <a:prstDash val="solid"/>
          </a:ln>
        </p:spPr>
      </p:sp>
      <p:sp>
        <p:nvSpPr>
          <p:cNvPr id="5" name="Text 3"/>
          <p:cNvSpPr/>
          <p:nvPr/>
        </p:nvSpPr>
        <p:spPr>
          <a:xfrm>
            <a:off x="841248" y="1517904"/>
            <a:ext cx="10515600" cy="877824"/>
          </a:xfrm>
          <a:prstGeom prst="rect">
            <a:avLst/>
          </a:prstGeom>
          <a:noFill/>
          <a:ln/>
        </p:spPr>
        <p:txBody>
          <a:bodyPr wrap="square" lIns="0" tIns="0" rIns="0" bIns="0" rtlCol="0" anchor="ctr"/>
          <a:lstStyle/>
          <a:p>
            <a:pPr indent="0" marL="0">
              <a:lnSpc>
                <a:spcPct val="118000"/>
              </a:lnSpc>
              <a:buNone/>
            </a:pPr>
            <a:r>
              <a:rPr lang="en-US" sz="1550" b="1" dirty="0">
                <a:solidFill>
                  <a:srgbClr val="232F3E"/>
                </a:solidFill>
                <a:latin typeface="Calibri" pitchFamily="34" charset="0"/>
                <a:ea typeface="Calibri" pitchFamily="34" charset="-122"/>
                <a:cs typeface="Calibri" pitchFamily="34" charset="-120"/>
              </a:rPr>
              <a:t>Amazon Lightsail </a:t>
            </a:r>
            <a:pPr indent="0" marL="0">
              <a:lnSpc>
                <a:spcPct val="118000"/>
              </a:lnSpc>
              <a:buNone/>
            </a:pPr>
            <a:r>
              <a:rPr lang="en-US" sz="1550" dirty="0">
                <a:solidFill>
                  <a:srgbClr val="232F3E"/>
                </a:solidFill>
                <a:latin typeface="Calibri" pitchFamily="34" charset="0"/>
                <a:ea typeface="Calibri" pitchFamily="34" charset="-122"/>
                <a:cs typeface="Calibri" pitchFamily="34" charset="-120"/>
              </a:rPr>
              <a:t>is AWS's virtual private server offering: pre-configured compute, storage, networking and managed services, sold as fixed-price monthly bundles through a deliberately simplified console.</a:t>
            </a:r>
            <a:endParaRPr lang="en-US" sz="1550" dirty="0"/>
          </a:p>
        </p:txBody>
      </p:sp>
      <p:sp>
        <p:nvSpPr>
          <p:cNvPr id="6" name="Shape 4"/>
          <p:cNvSpPr/>
          <p:nvPr/>
        </p:nvSpPr>
        <p:spPr>
          <a:xfrm>
            <a:off x="566928" y="2798064"/>
            <a:ext cx="5394960" cy="1572768"/>
          </a:xfrm>
          <a:prstGeom prst="roundRect">
            <a:avLst>
              <a:gd name="adj" fmla="val 5233"/>
            </a:avLst>
          </a:prstGeom>
          <a:solidFill>
            <a:srgbClr val="FFFFFF"/>
          </a:solidFill>
          <a:ln w="12700">
            <a:solidFill>
              <a:srgbClr val="D5DEE5"/>
            </a:solidFill>
            <a:prstDash val="solid"/>
          </a:ln>
          <a:effectLst>
            <a:outerShdw sx="100000" sy="100000" kx="0" ky="0" algn="bl" rotWithShape="0" blurRad="101600" dist="25400" dir="5400000">
              <a:srgbClr val="9AA9B5">
                <a:alpha val="25000"/>
              </a:srgbClr>
            </a:outerShdw>
          </a:effectLst>
        </p:spPr>
      </p:sp>
      <p:sp>
        <p:nvSpPr>
          <p:cNvPr id="7" name="Shape 5"/>
          <p:cNvSpPr/>
          <p:nvPr/>
        </p:nvSpPr>
        <p:spPr>
          <a:xfrm>
            <a:off x="822960" y="3090672"/>
            <a:ext cx="548640" cy="548640"/>
          </a:xfrm>
          <a:prstGeom prst="ellipse">
            <a:avLst/>
          </a:prstGeom>
          <a:solidFill>
            <a:srgbClr val="232F3E"/>
          </a:solidFill>
          <a:ln/>
        </p:spPr>
      </p:sp>
      <p:pic>
        <p:nvPicPr>
          <p:cNvPr id="8" name="Image 0" descr="/home/user/PBL-Proj/lightsail/assets/icon-clock.png">    </p:cNvPr>
          <p:cNvPicPr>
            <a:picLocks noChangeAspect="1"/>
          </p:cNvPicPr>
          <p:nvPr/>
        </p:nvPicPr>
        <p:blipFill>
          <a:blip r:embed="rId1"/>
          <a:stretch>
            <a:fillRect/>
          </a:stretch>
        </p:blipFill>
        <p:spPr>
          <a:xfrm>
            <a:off x="965606" y="3233318"/>
            <a:ext cx="263347" cy="263347"/>
          </a:xfrm>
          <a:prstGeom prst="rect">
            <a:avLst/>
          </a:prstGeom>
        </p:spPr>
      </p:pic>
      <p:sp>
        <p:nvSpPr>
          <p:cNvPr id="9" name="Text 6"/>
          <p:cNvSpPr/>
          <p:nvPr/>
        </p:nvSpPr>
        <p:spPr>
          <a:xfrm>
            <a:off x="1499616" y="3017520"/>
            <a:ext cx="4224528" cy="310896"/>
          </a:xfrm>
          <a:prstGeom prst="rect">
            <a:avLst/>
          </a:prstGeom>
          <a:noFill/>
          <a:ln/>
        </p:spPr>
        <p:txBody>
          <a:bodyPr wrap="square" lIns="0" tIns="0" rIns="0" bIns="0" rtlCol="0" anchor="ctr"/>
          <a:lstStyle/>
          <a:p>
            <a:pPr indent="0" marL="0">
              <a:buNone/>
            </a:pPr>
            <a:r>
              <a:rPr lang="en-US" sz="1550" b="1" dirty="0">
                <a:solidFill>
                  <a:srgbClr val="232F3E"/>
                </a:solidFill>
                <a:latin typeface="Cambria" pitchFamily="34" charset="0"/>
                <a:ea typeface="Cambria" pitchFamily="34" charset="-122"/>
                <a:cs typeface="Cambria" pitchFamily="34" charset="-120"/>
              </a:rPr>
              <a:t>Announced 30 November 2016</a:t>
            </a:r>
            <a:endParaRPr lang="en-US" sz="1550" dirty="0"/>
          </a:p>
        </p:txBody>
      </p:sp>
      <p:sp>
        <p:nvSpPr>
          <p:cNvPr id="10" name="Text 7"/>
          <p:cNvSpPr/>
          <p:nvPr/>
        </p:nvSpPr>
        <p:spPr>
          <a:xfrm>
            <a:off x="1499616" y="3364992"/>
            <a:ext cx="4224528" cy="841248"/>
          </a:xfrm>
          <a:prstGeom prst="rect">
            <a:avLst/>
          </a:prstGeom>
          <a:noFill/>
          <a:ln/>
        </p:spPr>
        <p:txBody>
          <a:bodyPr wrap="square" lIns="0" tIns="0" rIns="0" bIns="0" rtlCol="0" anchor="ctr"/>
          <a:lstStyle/>
          <a:p>
            <a:pPr indent="0" marL="0">
              <a:lnSpc>
                <a:spcPct val="114000"/>
              </a:lnSpc>
              <a:buNone/>
            </a:pPr>
            <a:r>
              <a:rPr lang="en-US" sz="1150" dirty="0">
                <a:solidFill>
                  <a:srgbClr val="5A6B7B"/>
                </a:solidFill>
                <a:latin typeface="Calibri" pitchFamily="34" charset="0"/>
                <a:ea typeface="Calibri" pitchFamily="34" charset="-122"/>
                <a:cs typeface="Calibri" pitchFamily="34" charset="-120"/>
              </a:rPr>
              <a:t>Launched at AWS re:Invent in US East (N. Virginia); expanded to Hong Kong, São Paulo and Spain in June 2026.</a:t>
            </a:r>
            <a:endParaRPr lang="en-US" sz="1150" dirty="0"/>
          </a:p>
        </p:txBody>
      </p:sp>
      <p:sp>
        <p:nvSpPr>
          <p:cNvPr id="11" name="Shape 8"/>
          <p:cNvSpPr/>
          <p:nvPr/>
        </p:nvSpPr>
        <p:spPr>
          <a:xfrm>
            <a:off x="6227064" y="2798064"/>
            <a:ext cx="5394960" cy="1572768"/>
          </a:xfrm>
          <a:prstGeom prst="roundRect">
            <a:avLst>
              <a:gd name="adj" fmla="val 5233"/>
            </a:avLst>
          </a:prstGeom>
          <a:solidFill>
            <a:srgbClr val="FFFFFF"/>
          </a:solidFill>
          <a:ln w="12700">
            <a:solidFill>
              <a:srgbClr val="D5DEE5"/>
            </a:solidFill>
            <a:prstDash val="solid"/>
          </a:ln>
          <a:effectLst>
            <a:outerShdw sx="100000" sy="100000" kx="0" ky="0" algn="bl" rotWithShape="0" blurRad="101600" dist="25400" dir="5400000">
              <a:srgbClr val="9AA9B5">
                <a:alpha val="25000"/>
              </a:srgbClr>
            </a:outerShdw>
          </a:effectLst>
        </p:spPr>
      </p:sp>
      <p:sp>
        <p:nvSpPr>
          <p:cNvPr id="12" name="Shape 9"/>
          <p:cNvSpPr/>
          <p:nvPr/>
        </p:nvSpPr>
        <p:spPr>
          <a:xfrm>
            <a:off x="6483096" y="3090672"/>
            <a:ext cx="548640" cy="548640"/>
          </a:xfrm>
          <a:prstGeom prst="ellipse">
            <a:avLst/>
          </a:prstGeom>
          <a:solidFill>
            <a:srgbClr val="00A1C9"/>
          </a:solidFill>
          <a:ln/>
        </p:spPr>
      </p:sp>
      <p:pic>
        <p:nvPicPr>
          <p:cNvPr id="13" name="Image 1" descr="/home/user/PBL-Proj/lightsail/assets/icon-tag.png">    </p:cNvPr>
          <p:cNvPicPr>
            <a:picLocks noChangeAspect="1"/>
          </p:cNvPicPr>
          <p:nvPr/>
        </p:nvPicPr>
        <p:blipFill>
          <a:blip r:embed="rId2"/>
          <a:stretch>
            <a:fillRect/>
          </a:stretch>
        </p:blipFill>
        <p:spPr>
          <a:xfrm>
            <a:off x="6625742" y="3233318"/>
            <a:ext cx="263347" cy="263347"/>
          </a:xfrm>
          <a:prstGeom prst="rect">
            <a:avLst/>
          </a:prstGeom>
        </p:spPr>
      </p:pic>
      <p:sp>
        <p:nvSpPr>
          <p:cNvPr id="14" name="Text 10"/>
          <p:cNvSpPr/>
          <p:nvPr/>
        </p:nvSpPr>
        <p:spPr>
          <a:xfrm>
            <a:off x="7159752" y="3017520"/>
            <a:ext cx="4224528" cy="310896"/>
          </a:xfrm>
          <a:prstGeom prst="rect">
            <a:avLst/>
          </a:prstGeom>
          <a:noFill/>
          <a:ln/>
        </p:spPr>
        <p:txBody>
          <a:bodyPr wrap="square" lIns="0" tIns="0" rIns="0" bIns="0" rtlCol="0" anchor="ctr"/>
          <a:lstStyle/>
          <a:p>
            <a:pPr indent="0" marL="0">
              <a:buNone/>
            </a:pPr>
            <a:r>
              <a:rPr lang="en-US" sz="1550" b="1" dirty="0">
                <a:solidFill>
                  <a:srgbClr val="232F3E"/>
                </a:solidFill>
                <a:latin typeface="Cambria" pitchFamily="34" charset="0"/>
                <a:ea typeface="Cambria" pitchFamily="34" charset="-122"/>
                <a:cs typeface="Cambria" pitchFamily="34" charset="-120"/>
              </a:rPr>
              <a:t>One price, four things</a:t>
            </a:r>
            <a:endParaRPr lang="en-US" sz="1550" dirty="0"/>
          </a:p>
        </p:txBody>
      </p:sp>
      <p:sp>
        <p:nvSpPr>
          <p:cNvPr id="15" name="Text 11"/>
          <p:cNvSpPr/>
          <p:nvPr/>
        </p:nvSpPr>
        <p:spPr>
          <a:xfrm>
            <a:off x="7159752" y="3364992"/>
            <a:ext cx="4224528" cy="841248"/>
          </a:xfrm>
          <a:prstGeom prst="rect">
            <a:avLst/>
          </a:prstGeom>
          <a:noFill/>
          <a:ln/>
        </p:spPr>
        <p:txBody>
          <a:bodyPr wrap="square" lIns="0" tIns="0" rIns="0" bIns="0" rtlCol="0" anchor="ctr"/>
          <a:lstStyle/>
          <a:p>
            <a:pPr indent="0" marL="0">
              <a:lnSpc>
                <a:spcPct val="114000"/>
              </a:lnSpc>
              <a:buNone/>
            </a:pPr>
            <a:r>
              <a:rPr lang="en-US" sz="1150" dirty="0">
                <a:solidFill>
                  <a:srgbClr val="5A6B7B"/>
                </a:solidFill>
                <a:latin typeface="Calibri" pitchFamily="34" charset="0"/>
                <a:ea typeface="Calibri" pitchFamily="34" charset="-122"/>
                <a:cs typeface="Calibri" pitchFamily="34" charset="-120"/>
              </a:rPr>
              <a:t>Every bundle folds vCPU, memory, SSD storage and a monthly data-transfer allowance into a single figure.</a:t>
            </a:r>
            <a:endParaRPr lang="en-US" sz="1150" dirty="0"/>
          </a:p>
        </p:txBody>
      </p:sp>
      <p:sp>
        <p:nvSpPr>
          <p:cNvPr id="16" name="Shape 12"/>
          <p:cNvSpPr/>
          <p:nvPr/>
        </p:nvSpPr>
        <p:spPr>
          <a:xfrm>
            <a:off x="566928" y="4626864"/>
            <a:ext cx="5394960" cy="1572768"/>
          </a:xfrm>
          <a:prstGeom prst="roundRect">
            <a:avLst>
              <a:gd name="adj" fmla="val 5233"/>
            </a:avLst>
          </a:prstGeom>
          <a:solidFill>
            <a:srgbClr val="FFFFFF"/>
          </a:solidFill>
          <a:ln w="12700">
            <a:solidFill>
              <a:srgbClr val="D5DEE5"/>
            </a:solidFill>
            <a:prstDash val="solid"/>
          </a:ln>
          <a:effectLst>
            <a:outerShdw sx="100000" sy="100000" kx="0" ky="0" algn="bl" rotWithShape="0" blurRad="101600" dist="25400" dir="5400000">
              <a:srgbClr val="9AA9B5">
                <a:alpha val="25000"/>
              </a:srgbClr>
            </a:outerShdw>
          </a:effectLst>
        </p:spPr>
      </p:sp>
      <p:sp>
        <p:nvSpPr>
          <p:cNvPr id="17" name="Shape 13"/>
          <p:cNvSpPr/>
          <p:nvPr/>
        </p:nvSpPr>
        <p:spPr>
          <a:xfrm>
            <a:off x="822960" y="4919472"/>
            <a:ext cx="548640" cy="548640"/>
          </a:xfrm>
          <a:prstGeom prst="ellipse">
            <a:avLst/>
          </a:prstGeom>
          <a:solidFill>
            <a:srgbClr val="232F3E"/>
          </a:solidFill>
          <a:ln/>
        </p:spPr>
      </p:sp>
      <p:pic>
        <p:nvPicPr>
          <p:cNvPr id="18" name="Image 2" descr="/home/user/PBL-Proj/lightsail/assets/icon-doc.png">    </p:cNvPr>
          <p:cNvPicPr>
            <a:picLocks noChangeAspect="1"/>
          </p:cNvPicPr>
          <p:nvPr/>
        </p:nvPicPr>
        <p:blipFill>
          <a:blip r:embed="rId3"/>
          <a:stretch>
            <a:fillRect/>
          </a:stretch>
        </p:blipFill>
        <p:spPr>
          <a:xfrm>
            <a:off x="965606" y="5062118"/>
            <a:ext cx="263347" cy="263347"/>
          </a:xfrm>
          <a:prstGeom prst="rect">
            <a:avLst/>
          </a:prstGeom>
        </p:spPr>
      </p:pic>
      <p:sp>
        <p:nvSpPr>
          <p:cNvPr id="19" name="Text 14"/>
          <p:cNvSpPr/>
          <p:nvPr/>
        </p:nvSpPr>
        <p:spPr>
          <a:xfrm>
            <a:off x="1499616" y="4846320"/>
            <a:ext cx="4224528" cy="310896"/>
          </a:xfrm>
          <a:prstGeom prst="rect">
            <a:avLst/>
          </a:prstGeom>
          <a:noFill/>
          <a:ln/>
        </p:spPr>
        <p:txBody>
          <a:bodyPr wrap="square" lIns="0" tIns="0" rIns="0" bIns="0" rtlCol="0" anchor="ctr"/>
          <a:lstStyle/>
          <a:p>
            <a:pPr indent="0" marL="0">
              <a:buNone/>
            </a:pPr>
            <a:r>
              <a:rPr lang="en-US" sz="1550" b="1" dirty="0">
                <a:solidFill>
                  <a:srgbClr val="232F3E"/>
                </a:solidFill>
                <a:latin typeface="Cambria" pitchFamily="34" charset="0"/>
                <a:ea typeface="Cambria" pitchFamily="34" charset="-122"/>
                <a:cs typeface="Cambria" pitchFamily="34" charset="-120"/>
              </a:rPr>
              <a:t>Blueprint, not blank box</a:t>
            </a:r>
            <a:endParaRPr lang="en-US" sz="1550" dirty="0"/>
          </a:p>
        </p:txBody>
      </p:sp>
      <p:sp>
        <p:nvSpPr>
          <p:cNvPr id="20" name="Text 15"/>
          <p:cNvSpPr/>
          <p:nvPr/>
        </p:nvSpPr>
        <p:spPr>
          <a:xfrm>
            <a:off x="1499616" y="5193792"/>
            <a:ext cx="4224528" cy="841248"/>
          </a:xfrm>
          <a:prstGeom prst="rect">
            <a:avLst/>
          </a:prstGeom>
          <a:noFill/>
          <a:ln/>
        </p:spPr>
        <p:txBody>
          <a:bodyPr wrap="square" lIns="0" tIns="0" rIns="0" bIns="0" rtlCol="0" anchor="ctr"/>
          <a:lstStyle/>
          <a:p>
            <a:pPr indent="0" marL="0">
              <a:lnSpc>
                <a:spcPct val="114000"/>
              </a:lnSpc>
              <a:buNone/>
            </a:pPr>
            <a:r>
              <a:rPr lang="en-US" sz="1150" dirty="0">
                <a:solidFill>
                  <a:srgbClr val="5A6B7B"/>
                </a:solidFill>
                <a:latin typeface="Calibri" pitchFamily="34" charset="0"/>
                <a:ea typeface="Calibri" pitchFamily="34" charset="-122"/>
                <a:cs typeface="Calibri" pitchFamily="34" charset="-120"/>
              </a:rPr>
              <a:t>Choose WordPress, LAMP, Node.js or a plain OS; the instance boots with the software already installed.</a:t>
            </a:r>
            <a:endParaRPr lang="en-US" sz="1150" dirty="0"/>
          </a:p>
        </p:txBody>
      </p:sp>
      <p:sp>
        <p:nvSpPr>
          <p:cNvPr id="21" name="Shape 16"/>
          <p:cNvSpPr/>
          <p:nvPr/>
        </p:nvSpPr>
        <p:spPr>
          <a:xfrm>
            <a:off x="6227064" y="4626864"/>
            <a:ext cx="5394960" cy="1572768"/>
          </a:xfrm>
          <a:prstGeom prst="roundRect">
            <a:avLst>
              <a:gd name="adj" fmla="val 5233"/>
            </a:avLst>
          </a:prstGeom>
          <a:solidFill>
            <a:srgbClr val="FFFFFF"/>
          </a:solidFill>
          <a:ln w="12700">
            <a:solidFill>
              <a:srgbClr val="D5DEE5"/>
            </a:solidFill>
            <a:prstDash val="solid"/>
          </a:ln>
          <a:effectLst>
            <a:outerShdw sx="100000" sy="100000" kx="0" ky="0" algn="bl" rotWithShape="0" blurRad="101600" dist="25400" dir="5400000">
              <a:srgbClr val="9AA9B5">
                <a:alpha val="25000"/>
              </a:srgbClr>
            </a:outerShdw>
          </a:effectLst>
        </p:spPr>
      </p:sp>
      <p:sp>
        <p:nvSpPr>
          <p:cNvPr id="22" name="Shape 17"/>
          <p:cNvSpPr/>
          <p:nvPr/>
        </p:nvSpPr>
        <p:spPr>
          <a:xfrm>
            <a:off x="6483096" y="4919472"/>
            <a:ext cx="548640" cy="548640"/>
          </a:xfrm>
          <a:prstGeom prst="ellipse">
            <a:avLst/>
          </a:prstGeom>
          <a:solidFill>
            <a:srgbClr val="00A1C9"/>
          </a:solidFill>
          <a:ln/>
        </p:spPr>
      </p:sp>
      <p:pic>
        <p:nvPicPr>
          <p:cNvPr id="23" name="Image 3" descr="/home/user/PBL-Proj/lightsail/assets/icon-server.png">    </p:cNvPr>
          <p:cNvPicPr>
            <a:picLocks noChangeAspect="1"/>
          </p:cNvPicPr>
          <p:nvPr/>
        </p:nvPicPr>
        <p:blipFill>
          <a:blip r:embed="rId4"/>
          <a:stretch>
            <a:fillRect/>
          </a:stretch>
        </p:blipFill>
        <p:spPr>
          <a:xfrm>
            <a:off x="6625742" y="5062118"/>
            <a:ext cx="263347" cy="263347"/>
          </a:xfrm>
          <a:prstGeom prst="rect">
            <a:avLst/>
          </a:prstGeom>
        </p:spPr>
      </p:pic>
      <p:sp>
        <p:nvSpPr>
          <p:cNvPr id="24" name="Text 18"/>
          <p:cNvSpPr/>
          <p:nvPr/>
        </p:nvSpPr>
        <p:spPr>
          <a:xfrm>
            <a:off x="7159752" y="4846320"/>
            <a:ext cx="4224528" cy="310896"/>
          </a:xfrm>
          <a:prstGeom prst="rect">
            <a:avLst/>
          </a:prstGeom>
          <a:noFill/>
          <a:ln/>
        </p:spPr>
        <p:txBody>
          <a:bodyPr wrap="square" lIns="0" tIns="0" rIns="0" bIns="0" rtlCol="0" anchor="ctr"/>
          <a:lstStyle/>
          <a:p>
            <a:pPr indent="0" marL="0">
              <a:buNone/>
            </a:pPr>
            <a:r>
              <a:rPr lang="en-US" sz="1550" b="1" dirty="0">
                <a:solidFill>
                  <a:srgbClr val="232F3E"/>
                </a:solidFill>
                <a:latin typeface="Cambria" pitchFamily="34" charset="0"/>
                <a:ea typeface="Cambria" pitchFamily="34" charset="-122"/>
                <a:cs typeface="Cambria" pitchFamily="34" charset="-120"/>
              </a:rPr>
              <a:t>Real AWS underneath</a:t>
            </a:r>
            <a:endParaRPr lang="en-US" sz="1550" dirty="0"/>
          </a:p>
        </p:txBody>
      </p:sp>
      <p:sp>
        <p:nvSpPr>
          <p:cNvPr id="25" name="Text 19"/>
          <p:cNvSpPr/>
          <p:nvPr/>
        </p:nvSpPr>
        <p:spPr>
          <a:xfrm>
            <a:off x="7159752" y="5193792"/>
            <a:ext cx="4224528" cy="841248"/>
          </a:xfrm>
          <a:prstGeom prst="rect">
            <a:avLst/>
          </a:prstGeom>
          <a:noFill/>
          <a:ln/>
        </p:spPr>
        <p:txBody>
          <a:bodyPr wrap="square" lIns="0" tIns="0" rIns="0" bIns="0" rtlCol="0" anchor="ctr"/>
          <a:lstStyle/>
          <a:p>
            <a:pPr indent="0" marL="0">
              <a:lnSpc>
                <a:spcPct val="114000"/>
              </a:lnSpc>
              <a:buNone/>
            </a:pPr>
            <a:r>
              <a:rPr lang="en-US" sz="1150" dirty="0">
                <a:solidFill>
                  <a:srgbClr val="5A6B7B"/>
                </a:solidFill>
                <a:latin typeface="Calibri" pitchFamily="34" charset="0"/>
                <a:ea typeface="Calibri" pitchFamily="34" charset="-122"/>
                <a:cs typeface="Calibri" pitchFamily="34" charset="-120"/>
              </a:rPr>
              <a:t>Instances are EC2, disks are EBS, DNS is Route 53. Nothing is a proprietary dead end.</a:t>
            </a:r>
            <a:endParaRPr lang="en-US" sz="1150" dirty="0"/>
          </a:p>
        </p:txBody>
      </p:sp>
      <p:sp>
        <p:nvSpPr>
          <p:cNvPr id="26" name="Text 20"/>
          <p:cNvSpPr/>
          <p:nvPr/>
        </p:nvSpPr>
        <p:spPr>
          <a:xfrm>
            <a:off x="566928" y="6437376"/>
            <a:ext cx="7772400" cy="256032"/>
          </a:xfrm>
          <a:prstGeom prst="rect">
            <a:avLst/>
          </a:prstGeom>
          <a:noFill/>
          <a:ln/>
        </p:spPr>
        <p:txBody>
          <a:bodyPr wrap="square" lIns="0" tIns="0" rIns="0" bIns="0" rtlCol="0" anchor="ctr"/>
          <a:lstStyle/>
          <a:p>
            <a:pPr algn="l" indent="0" marL="0">
              <a:buNone/>
            </a:pPr>
            <a:r>
              <a:rPr lang="en-US" sz="950" dirty="0">
                <a:solidFill>
                  <a:srgbClr val="9AA9B5"/>
                </a:solidFill>
                <a:latin typeface="Calibri" pitchFamily="34" charset="0"/>
                <a:ea typeface="Calibri" pitchFamily="34" charset="-122"/>
                <a:cs typeface="Calibri" pitchFamily="34" charset="-120"/>
              </a:rPr>
              <a:t>Amazon Lightsail (PaaS-Lite)  ·  Hridiyansh Shukla  ·  2427030591</a:t>
            </a:r>
            <a:endParaRPr lang="en-US" sz="950" dirty="0"/>
          </a:p>
        </p:txBody>
      </p:sp>
      <p:sp>
        <p:nvSpPr>
          <p:cNvPr id="27" name="Text 21"/>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950" dirty="0">
                <a:solidFill>
                  <a:srgbClr val="9AA9B5"/>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algn="l" indent="0" marL="0">
              <a:buNone/>
            </a:pPr>
            <a:r>
              <a:rPr lang="en-US" sz="1100" b="1" spc="220" kern="0" dirty="0">
                <a:solidFill>
                  <a:srgbClr val="FF9900"/>
                </a:solidFill>
                <a:latin typeface="Calibri" pitchFamily="34" charset="0"/>
                <a:ea typeface="Calibri" pitchFamily="34" charset="-122"/>
                <a:cs typeface="Calibri" pitchFamily="34" charset="-120"/>
              </a:rPr>
              <a:t>ARCHITECTURE</a:t>
            </a:r>
            <a:endParaRPr lang="en-US" sz="1100" dirty="0"/>
          </a:p>
        </p:txBody>
      </p:sp>
      <p:sp>
        <p:nvSpPr>
          <p:cNvPr id="3" name="Text 1"/>
          <p:cNvSpPr/>
          <p:nvPr/>
        </p:nvSpPr>
        <p:spPr>
          <a:xfrm>
            <a:off x="566928" y="566928"/>
            <a:ext cx="11057839" cy="50292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How the abstraction is built</a:t>
            </a:r>
            <a:endParaRPr lang="en-US" sz="3000" dirty="0"/>
          </a:p>
        </p:txBody>
      </p:sp>
      <p:sp>
        <p:nvSpPr>
          <p:cNvPr id="4" name="Shape 2"/>
          <p:cNvSpPr/>
          <p:nvPr/>
        </p:nvSpPr>
        <p:spPr>
          <a:xfrm>
            <a:off x="566928" y="1371600"/>
            <a:ext cx="3127248" cy="4590288"/>
          </a:xfrm>
          <a:prstGeom prst="roundRect">
            <a:avLst>
              <a:gd name="adj" fmla="val 2632"/>
            </a:avLst>
          </a:prstGeom>
          <a:solidFill>
            <a:srgbClr val="F4F7F9"/>
          </a:solidFill>
          <a:ln w="12700">
            <a:solidFill>
              <a:srgbClr val="D5DEE5"/>
            </a:solidFill>
            <a:prstDash val="solid"/>
          </a:ln>
        </p:spPr>
      </p:sp>
      <p:sp>
        <p:nvSpPr>
          <p:cNvPr id="5" name="Text 3"/>
          <p:cNvSpPr/>
          <p:nvPr/>
        </p:nvSpPr>
        <p:spPr>
          <a:xfrm>
            <a:off x="804672" y="1554480"/>
            <a:ext cx="2697480" cy="310896"/>
          </a:xfrm>
          <a:prstGeom prst="rect">
            <a:avLst/>
          </a:prstGeom>
          <a:noFill/>
          <a:ln/>
        </p:spPr>
        <p:txBody>
          <a:bodyPr wrap="square" lIns="0" tIns="0" rIns="0" bIns="0" rtlCol="0" anchor="ctr"/>
          <a:lstStyle/>
          <a:p>
            <a:pPr indent="0" marL="0">
              <a:buNone/>
            </a:pPr>
            <a:r>
              <a:rPr lang="en-US" sz="1600" b="1" dirty="0">
                <a:solidFill>
                  <a:srgbClr val="00A1C9"/>
                </a:solidFill>
                <a:latin typeface="Cambria" pitchFamily="34" charset="0"/>
                <a:ea typeface="Cambria" pitchFamily="34" charset="-122"/>
                <a:cs typeface="Cambria" pitchFamily="34" charset="-120"/>
              </a:rPr>
              <a:t>The one idea</a:t>
            </a:r>
            <a:endParaRPr lang="en-US" sz="1600" dirty="0"/>
          </a:p>
        </p:txBody>
      </p:sp>
      <p:sp>
        <p:nvSpPr>
          <p:cNvPr id="6" name="Text 4"/>
          <p:cNvSpPr/>
          <p:nvPr/>
        </p:nvSpPr>
        <p:spPr>
          <a:xfrm>
            <a:off x="804672" y="1901952"/>
            <a:ext cx="2651760" cy="868680"/>
          </a:xfrm>
          <a:prstGeom prst="rect">
            <a:avLst/>
          </a:prstGeom>
          <a:noFill/>
          <a:ln/>
        </p:spPr>
        <p:txBody>
          <a:bodyPr wrap="square" lIns="0" tIns="0" rIns="0" bIns="0" rtlCol="0" anchor="ctr"/>
          <a:lstStyle/>
          <a:p>
            <a:pPr indent="0" marL="0">
              <a:lnSpc>
                <a:spcPct val="116000"/>
              </a:lnSpc>
              <a:buNone/>
            </a:pPr>
            <a:r>
              <a:rPr lang="en-US" sz="1250" dirty="0">
                <a:solidFill>
                  <a:srgbClr val="232F3E"/>
                </a:solidFill>
                <a:latin typeface="Calibri" pitchFamily="34" charset="0"/>
                <a:ea typeface="Calibri" pitchFamily="34" charset="-122"/>
                <a:cs typeface="Calibri" pitchFamily="34" charset="-120"/>
              </a:rPr>
              <a:t>Lightsail is not a new infrastructure platform. It is a curated control plane over services AWS already sells.</a:t>
            </a:r>
            <a:endParaRPr lang="en-US" sz="1250" dirty="0"/>
          </a:p>
        </p:txBody>
      </p:sp>
      <p:sp>
        <p:nvSpPr>
          <p:cNvPr id="7" name="Text 5"/>
          <p:cNvSpPr/>
          <p:nvPr/>
        </p:nvSpPr>
        <p:spPr>
          <a:xfrm>
            <a:off x="804672" y="2907792"/>
            <a:ext cx="2651760" cy="2011680"/>
          </a:xfrm>
          <a:prstGeom prst="rect">
            <a:avLst/>
          </a:prstGeom>
          <a:noFill/>
          <a:ln/>
        </p:spPr>
        <p:txBody>
          <a:bodyPr wrap="square" lIns="0" tIns="0" rIns="0" bIns="0" rtlCol="0" anchor="t"/>
          <a:lstStyle/>
          <a:p>
            <a:pPr marL="342900" indent="-342900">
              <a:lnSpc>
                <a:spcPct val="105000"/>
              </a:lnSpc>
              <a:spcAft>
                <a:spcPts val="1000"/>
              </a:spcAft>
              <a:buSzPct val="100000"/>
              <a:buChar char="●"/>
            </a:pPr>
            <a:r>
              <a:rPr lang="en-US" sz="1150" dirty="0">
                <a:solidFill>
                  <a:srgbClr val="232F3E"/>
                </a:solidFill>
                <a:latin typeface="Calibri" pitchFamily="34" charset="0"/>
                <a:ea typeface="Calibri" pitchFamily="34" charset="-122"/>
                <a:cs typeface="Calibri" pitchFamily="34" charset="-120"/>
              </a:rPr>
              <a:t>An instance is an EC2 instance</a:t>
            </a:r>
            <a:endParaRPr lang="en-US" sz="1150" dirty="0"/>
          </a:p>
          <a:p>
            <a:pPr marL="342900" indent="-342900">
              <a:lnSpc>
                <a:spcPct val="105000"/>
              </a:lnSpc>
              <a:spcAft>
                <a:spcPts val="1000"/>
              </a:spcAft>
              <a:buSzPct val="100000"/>
              <a:buChar char="●"/>
            </a:pPr>
            <a:r>
              <a:rPr lang="en-US" sz="1150" dirty="0">
                <a:solidFill>
                  <a:srgbClr val="232F3E"/>
                </a:solidFill>
                <a:latin typeface="Calibri" pitchFamily="34" charset="0"/>
                <a:ea typeface="Calibri" pitchFamily="34" charset="-122"/>
                <a:cs typeface="Calibri" pitchFamily="34" charset="-120"/>
              </a:rPr>
              <a:t>A disk is an EBS volume</a:t>
            </a:r>
            <a:endParaRPr lang="en-US" sz="1150" dirty="0"/>
          </a:p>
          <a:p>
            <a:pPr marL="342900" indent="-342900">
              <a:lnSpc>
                <a:spcPct val="105000"/>
              </a:lnSpc>
              <a:spcAft>
                <a:spcPts val="1000"/>
              </a:spcAft>
              <a:buSzPct val="100000"/>
              <a:buChar char="●"/>
            </a:pPr>
            <a:r>
              <a:rPr lang="en-US" sz="1150" dirty="0">
                <a:solidFill>
                  <a:srgbClr val="232F3E"/>
                </a:solidFill>
                <a:latin typeface="Calibri" pitchFamily="34" charset="0"/>
                <a:ea typeface="Calibri" pitchFamily="34" charset="-122"/>
                <a:cs typeface="Calibri" pitchFamily="34" charset="-120"/>
              </a:rPr>
              <a:t>A load balancer is ELB plus a free ACM certificate</a:t>
            </a:r>
            <a:endParaRPr lang="en-US" sz="1150" dirty="0"/>
          </a:p>
          <a:p>
            <a:pPr marL="342900" indent="-342900">
              <a:lnSpc>
                <a:spcPct val="105000"/>
              </a:lnSpc>
              <a:spcAft>
                <a:spcPts val="1000"/>
              </a:spcAft>
              <a:buSzPct val="100000"/>
              <a:buChar char="●"/>
            </a:pPr>
            <a:r>
              <a:rPr lang="en-US" sz="1150" dirty="0">
                <a:solidFill>
                  <a:srgbClr val="232F3E"/>
                </a:solidFill>
                <a:latin typeface="Calibri" pitchFamily="34" charset="0"/>
                <a:ea typeface="Calibri" pitchFamily="34" charset="-122"/>
                <a:cs typeface="Calibri" pitchFamily="34" charset="-120"/>
              </a:rPr>
              <a:t>A distribution is CloudFront</a:t>
            </a:r>
            <a:endParaRPr lang="en-US" sz="1150" dirty="0"/>
          </a:p>
          <a:p>
            <a:pPr marL="342900" indent="-342900">
              <a:lnSpc>
                <a:spcPct val="105000"/>
              </a:lnSpc>
              <a:spcAft>
                <a:spcPts val="1000"/>
              </a:spcAft>
              <a:buSzPct val="100000"/>
              <a:buChar char="●"/>
            </a:pPr>
            <a:r>
              <a:rPr lang="en-US" sz="1150" dirty="0">
                <a:solidFill>
                  <a:srgbClr val="232F3E"/>
                </a:solidFill>
                <a:latin typeface="Calibri" pitchFamily="34" charset="0"/>
                <a:ea typeface="Calibri" pitchFamily="34" charset="-122"/>
                <a:cs typeface="Calibri" pitchFamily="34" charset="-120"/>
              </a:rPr>
              <a:t>A DNS zone is Route 53</a:t>
            </a:r>
            <a:endParaRPr lang="en-US" sz="1150" dirty="0"/>
          </a:p>
        </p:txBody>
      </p:sp>
      <p:sp>
        <p:nvSpPr>
          <p:cNvPr id="8" name="Text 6"/>
          <p:cNvSpPr/>
          <p:nvPr/>
        </p:nvSpPr>
        <p:spPr>
          <a:xfrm>
            <a:off x="804672" y="4983480"/>
            <a:ext cx="2651760" cy="640080"/>
          </a:xfrm>
          <a:prstGeom prst="rect">
            <a:avLst/>
          </a:prstGeom>
          <a:noFill/>
          <a:ln/>
        </p:spPr>
        <p:txBody>
          <a:bodyPr wrap="square" lIns="0" tIns="0" rIns="0" bIns="0" rtlCol="0" anchor="ctr"/>
          <a:lstStyle/>
          <a:p>
            <a:pPr indent="0" marL="0">
              <a:lnSpc>
                <a:spcPct val="112000"/>
              </a:lnSpc>
              <a:buNone/>
            </a:pPr>
            <a:r>
              <a:rPr lang="en-US" sz="1200" b="1" i="1" dirty="0">
                <a:solidFill>
                  <a:srgbClr val="232F3E"/>
                </a:solidFill>
                <a:latin typeface="Calibri" pitchFamily="34" charset="0"/>
                <a:ea typeface="Calibri" pitchFamily="34" charset="-122"/>
                <a:cs typeface="Calibri" pitchFamily="34" charset="-120"/>
              </a:rPr>
              <a:t>Simplicity is the feature; the hardware is unchanged.</a:t>
            </a:r>
            <a:endParaRPr lang="en-US" sz="1200" dirty="0"/>
          </a:p>
        </p:txBody>
      </p:sp>
      <p:pic>
        <p:nvPicPr>
          <p:cNvPr id="9" name="Image 0" descr="/home/user/PBL-Proj/lightsail/assets/fig-architecture.png">    </p:cNvPr>
          <p:cNvPicPr>
            <a:picLocks noChangeAspect="1"/>
          </p:cNvPicPr>
          <p:nvPr/>
        </p:nvPicPr>
        <p:blipFill>
          <a:blip r:embed="rId1"/>
          <a:stretch>
            <a:fillRect/>
          </a:stretch>
        </p:blipFill>
        <p:spPr>
          <a:xfrm>
            <a:off x="3977640" y="1371600"/>
            <a:ext cx="7644384" cy="4828032"/>
          </a:xfrm>
          <a:prstGeom prst="rect">
            <a:avLst/>
          </a:prstGeom>
        </p:spPr>
      </p:pic>
      <p:sp>
        <p:nvSpPr>
          <p:cNvPr id="10" name="Text 7"/>
          <p:cNvSpPr/>
          <p:nvPr/>
        </p:nvSpPr>
        <p:spPr>
          <a:xfrm>
            <a:off x="3977640" y="6217920"/>
            <a:ext cx="7644384" cy="219456"/>
          </a:xfrm>
          <a:prstGeom prst="rect">
            <a:avLst/>
          </a:prstGeom>
          <a:noFill/>
          <a:ln/>
        </p:spPr>
        <p:txBody>
          <a:bodyPr wrap="square" lIns="0" tIns="0" rIns="0" bIns="0" rtlCol="0" anchor="ctr"/>
          <a:lstStyle/>
          <a:p>
            <a:pPr algn="r" indent="0" marL="0">
              <a:buNone/>
            </a:pPr>
            <a:r>
              <a:rPr lang="en-US" sz="950" i="1" dirty="0">
                <a:solidFill>
                  <a:srgbClr val="5A6B7B"/>
                </a:solidFill>
                <a:latin typeface="Calibri" pitchFamily="34" charset="0"/>
                <a:ea typeface="Calibri" pitchFamily="34" charset="-122"/>
                <a:cs typeface="Calibri" pitchFamily="34" charset="-120"/>
              </a:rPr>
              <a:t>Figure 2 — The Lightsail control plane and the AWS primitives beneath it.</a:t>
            </a:r>
            <a:endParaRPr lang="en-US" sz="950" dirty="0"/>
          </a:p>
        </p:txBody>
      </p:sp>
      <p:sp>
        <p:nvSpPr>
          <p:cNvPr id="11" name="Text 8"/>
          <p:cNvSpPr/>
          <p:nvPr/>
        </p:nvSpPr>
        <p:spPr>
          <a:xfrm>
            <a:off x="566928" y="6437376"/>
            <a:ext cx="7772400" cy="256032"/>
          </a:xfrm>
          <a:prstGeom prst="rect">
            <a:avLst/>
          </a:prstGeom>
          <a:noFill/>
          <a:ln/>
        </p:spPr>
        <p:txBody>
          <a:bodyPr wrap="square" lIns="0" tIns="0" rIns="0" bIns="0" rtlCol="0" anchor="ctr"/>
          <a:lstStyle/>
          <a:p>
            <a:pPr algn="l" indent="0" marL="0">
              <a:buNone/>
            </a:pPr>
            <a:r>
              <a:rPr lang="en-US" sz="950" dirty="0">
                <a:solidFill>
                  <a:srgbClr val="9AA9B5"/>
                </a:solidFill>
                <a:latin typeface="Calibri" pitchFamily="34" charset="0"/>
                <a:ea typeface="Calibri" pitchFamily="34" charset="-122"/>
                <a:cs typeface="Calibri" pitchFamily="34" charset="-120"/>
              </a:rPr>
              <a:t>Amazon Lightsail (PaaS-Lite)  ·  Hridiyansh Shukla  ·  2427030591</a:t>
            </a:r>
            <a:endParaRPr lang="en-US" sz="950" dirty="0"/>
          </a:p>
        </p:txBody>
      </p:sp>
      <p:sp>
        <p:nvSpPr>
          <p:cNvPr id="12" name="Text 9"/>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950" dirty="0">
                <a:solidFill>
                  <a:srgbClr val="9AA9B5"/>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algn="l" indent="0" marL="0">
              <a:buNone/>
            </a:pPr>
            <a:r>
              <a:rPr lang="en-US" sz="1100" b="1" spc="220" kern="0" dirty="0">
                <a:solidFill>
                  <a:srgbClr val="FF9900"/>
                </a:solidFill>
                <a:latin typeface="Calibri" pitchFamily="34" charset="0"/>
                <a:ea typeface="Calibri" pitchFamily="34" charset="-122"/>
                <a:cs typeface="Calibri" pitchFamily="34" charset="-120"/>
              </a:rPr>
              <a:t>ANATOMY</a:t>
            </a:r>
            <a:endParaRPr lang="en-US" sz="1100" dirty="0"/>
          </a:p>
        </p:txBody>
      </p:sp>
      <p:sp>
        <p:nvSpPr>
          <p:cNvPr id="3" name="Text 1"/>
          <p:cNvSpPr/>
          <p:nvPr/>
        </p:nvSpPr>
        <p:spPr>
          <a:xfrm>
            <a:off x="566928" y="566928"/>
            <a:ext cx="11057839" cy="50292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The resource catalogue</a:t>
            </a:r>
            <a:endParaRPr lang="en-US" sz="3000" dirty="0"/>
          </a:p>
        </p:txBody>
      </p:sp>
      <p:sp>
        <p:nvSpPr>
          <p:cNvPr id="4" name="Text 2"/>
          <p:cNvSpPr/>
          <p:nvPr/>
        </p:nvSpPr>
        <p:spPr>
          <a:xfrm>
            <a:off x="566928" y="1060704"/>
            <a:ext cx="11057839" cy="274320"/>
          </a:xfrm>
          <a:prstGeom prst="rect">
            <a:avLst/>
          </a:prstGeom>
          <a:noFill/>
          <a:ln/>
        </p:spPr>
        <p:txBody>
          <a:bodyPr wrap="square" lIns="0" tIns="0" rIns="0" bIns="0" rtlCol="0" anchor="ctr"/>
          <a:lstStyle/>
          <a:p>
            <a:pPr algn="l" indent="0" marL="0">
              <a:buNone/>
            </a:pPr>
            <a:r>
              <a:rPr lang="en-US" sz="1350" i="1" dirty="0">
                <a:solidFill>
                  <a:srgbClr val="5A6B7B"/>
                </a:solidFill>
                <a:latin typeface="Calibri" pitchFamily="34" charset="0"/>
                <a:ea typeface="Calibri" pitchFamily="34" charset="-122"/>
                <a:cs typeface="Calibri" pitchFamily="34" charset="-120"/>
              </a:rPr>
              <a:t>Ten resource types cover the whole surface of the service.</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5096" cy="914400"/>
        </p:xfrm>
        <a:graphic>
          <a:graphicData uri="http://schemas.openxmlformats.org/drawingml/2006/table">
            <a:tbl>
              <a:tblPr/>
              <a:tblGrid>
                <a:gridCol w="2148840"/>
                <a:gridCol w="6345936"/>
                <a:gridCol w="2560320"/>
              </a:tblGrid>
              <a:tr h="402336">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Resource</a:t>
                      </a:r>
                      <a:endParaRPr lang="en-US" sz="1200" dirty="0">
                        <a:latin typeface="Calibri" charset="0"/>
                        <a:ea typeface="Calibri" charset="0"/>
                        <a:cs typeface="Calibri" charset="0"/>
                      </a:endParaRPr>
                    </a:p>
                  </a:txBody>
                  <a:tcPr marL="88900" marR="88900" marT="50800" marB="508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232F3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What it gives you</a:t>
                      </a:r>
                      <a:endParaRPr lang="en-US" sz="1200" dirty="0">
                        <a:latin typeface="Calibri" charset="0"/>
                        <a:ea typeface="Calibri" charset="0"/>
                        <a:cs typeface="Calibri" charset="0"/>
                      </a:endParaRPr>
                    </a:p>
                  </a:txBody>
                  <a:tcPr marL="88900" marR="88900" marT="50800" marB="508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232F3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Built on</a:t>
                      </a:r>
                      <a:endParaRPr lang="en-US" sz="1200" dirty="0">
                        <a:latin typeface="Calibri" charset="0"/>
                        <a:ea typeface="Calibri" charset="0"/>
                        <a:cs typeface="Calibri" charset="0"/>
                      </a:endParaRPr>
                    </a:p>
                  </a:txBody>
                  <a:tcPr marL="88900" marR="88900" marT="50800" marB="508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232F3E"/>
                    </a:solidFill>
                  </a:tcPr>
                </a:tc>
              </a:tr>
              <a:tr h="402336">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Instance</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Virtual server with a fixed bundle of vCPU, RAM, SSD and transfer</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Amazon EC2</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r>
              <a:tr h="402336">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Container service</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Runs Docker images behind a managed HTTPS endpoint — no cluster to operate</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ECS / Fargate</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r>
              <a:tr h="402336">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Managed database</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MySQL or PostgreSQL with automated backups and an optional standby</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Amazon RDS</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r>
              <a:tr h="402336">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Block storage disk</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Additional SSD volumes attached to a running instance</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Amazon EBS</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r>
              <a:tr h="402336">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Object storage bucket</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Static assets, media and backups served over HTTPS</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Amazon S3</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r>
              <a:tr h="402336">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Load balancer</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Spreads traffic across instances; includes a free, auto-renewed certificate</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ELB + ACM</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r>
              <a:tr h="402336">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CDN distribution</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Edge caching in front of an instance, bucket or load balancer</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Amazon CloudFront</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r>
              <a:tr h="402336">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DNS zone</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Authoritative DNS with three million queries a month included</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Amazon Route 53</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r>
              <a:tr h="402336">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Static IP</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A fixed public IPv4 address that survives stop, start and restore</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Elastic IP</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r>
              <a:tr h="402336">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Snapshot</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Point-in-time backup of an instance or disk; exportable to EC2</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EBS snapshot</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r>
            </a:tbl>
          </a:graphicData>
        </a:graphic>
      </p:graphicFrame>
      <p:sp>
        <p:nvSpPr>
          <p:cNvPr id="6" name="Text 3"/>
          <p:cNvSpPr/>
          <p:nvPr/>
        </p:nvSpPr>
        <p:spPr>
          <a:xfrm>
            <a:off x="566928" y="5943600"/>
            <a:ext cx="11055096" cy="384048"/>
          </a:xfrm>
          <a:prstGeom prst="rect">
            <a:avLst/>
          </a:prstGeom>
          <a:noFill/>
          <a:ln/>
        </p:spPr>
        <p:txBody>
          <a:bodyPr wrap="square" lIns="0" tIns="0" rIns="0" bIns="0" rtlCol="0" anchor="ctr"/>
          <a:lstStyle/>
          <a:p>
            <a:pPr indent="0" marL="0">
              <a:buNone/>
            </a:pPr>
            <a:r>
              <a:rPr lang="en-US" sz="1150" i="1" dirty="0">
                <a:solidFill>
                  <a:srgbClr val="5A6B7B"/>
                </a:solidFill>
                <a:latin typeface="Calibri" pitchFamily="34" charset="0"/>
                <a:ea typeface="Calibri" pitchFamily="34" charset="-122"/>
                <a:cs typeface="Calibri" pitchFamily="34" charset="-120"/>
              </a:rPr>
              <a:t>Every row is an AWS service with its configuration surface deliberately reduced — which is exactly why a Lightsail workload can later be lifted onto the full service without a rewrite.</a:t>
            </a:r>
            <a:endParaRPr lang="en-US" sz="1150" dirty="0"/>
          </a:p>
        </p:txBody>
      </p:sp>
      <p:sp>
        <p:nvSpPr>
          <p:cNvPr id="7" name="Text 4"/>
          <p:cNvSpPr/>
          <p:nvPr/>
        </p:nvSpPr>
        <p:spPr>
          <a:xfrm>
            <a:off x="566928" y="6437376"/>
            <a:ext cx="7772400" cy="256032"/>
          </a:xfrm>
          <a:prstGeom prst="rect">
            <a:avLst/>
          </a:prstGeom>
          <a:noFill/>
          <a:ln/>
        </p:spPr>
        <p:txBody>
          <a:bodyPr wrap="square" lIns="0" tIns="0" rIns="0" bIns="0" rtlCol="0" anchor="ctr"/>
          <a:lstStyle/>
          <a:p>
            <a:pPr algn="l" indent="0" marL="0">
              <a:buNone/>
            </a:pPr>
            <a:r>
              <a:rPr lang="en-US" sz="950" dirty="0">
                <a:solidFill>
                  <a:srgbClr val="9AA9B5"/>
                </a:solidFill>
                <a:latin typeface="Calibri" pitchFamily="34" charset="0"/>
                <a:ea typeface="Calibri" pitchFamily="34" charset="-122"/>
                <a:cs typeface="Calibri" pitchFamily="34" charset="-120"/>
              </a:rPr>
              <a:t>Amazon Lightsail (PaaS-Lite)  ·  Hridiyansh Shukla  ·  2427030591</a:t>
            </a:r>
            <a:endParaRPr lang="en-US" sz="950" dirty="0"/>
          </a:p>
        </p:txBody>
      </p:sp>
      <p:sp>
        <p:nvSpPr>
          <p:cNvPr id="8" name="Text 5"/>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950" dirty="0">
                <a:solidFill>
                  <a:srgbClr val="9AA9B5"/>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algn="l" indent="0" marL="0">
              <a:buNone/>
            </a:pPr>
            <a:r>
              <a:rPr lang="en-US" sz="1100" b="1" spc="220" kern="0" dirty="0">
                <a:solidFill>
                  <a:srgbClr val="FF9900"/>
                </a:solidFill>
                <a:latin typeface="Calibri" pitchFamily="34" charset="0"/>
                <a:ea typeface="Calibri" pitchFamily="34" charset="-122"/>
                <a:cs typeface="Calibri" pitchFamily="34" charset="-120"/>
              </a:rPr>
              <a:t>ANATOMY</a:t>
            </a:r>
            <a:endParaRPr lang="en-US" sz="1100" dirty="0"/>
          </a:p>
        </p:txBody>
      </p:sp>
      <p:sp>
        <p:nvSpPr>
          <p:cNvPr id="3" name="Text 1"/>
          <p:cNvSpPr/>
          <p:nvPr/>
        </p:nvSpPr>
        <p:spPr>
          <a:xfrm>
            <a:off x="566928" y="566928"/>
            <a:ext cx="11057839" cy="50292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Two choices: the blueprint and the bundle</a:t>
            </a:r>
            <a:endParaRPr lang="en-US" sz="3000" dirty="0"/>
          </a:p>
        </p:txBody>
      </p:sp>
      <p:sp>
        <p:nvSpPr>
          <p:cNvPr id="4" name="Shape 2"/>
          <p:cNvSpPr/>
          <p:nvPr/>
        </p:nvSpPr>
        <p:spPr>
          <a:xfrm>
            <a:off x="566928" y="1444752"/>
            <a:ext cx="5486400" cy="3246120"/>
          </a:xfrm>
          <a:prstGeom prst="roundRect">
            <a:avLst>
              <a:gd name="adj" fmla="val 2535"/>
            </a:avLst>
          </a:prstGeom>
          <a:solidFill>
            <a:srgbClr val="FFFFFF"/>
          </a:solidFill>
          <a:ln w="12700">
            <a:solidFill>
              <a:srgbClr val="00A1C9"/>
            </a:solidFill>
            <a:prstDash val="solid"/>
          </a:ln>
          <a:effectLst>
            <a:outerShdw sx="100000" sy="100000" kx="0" ky="0" algn="bl" rotWithShape="0" blurRad="101600" dist="25400" dir="5400000">
              <a:srgbClr val="9AA9B5">
                <a:alpha val="25000"/>
              </a:srgbClr>
            </a:outerShdw>
          </a:effectLst>
        </p:spPr>
      </p:sp>
      <p:sp>
        <p:nvSpPr>
          <p:cNvPr id="5" name="Shape 3"/>
          <p:cNvSpPr/>
          <p:nvPr/>
        </p:nvSpPr>
        <p:spPr>
          <a:xfrm>
            <a:off x="841248" y="1664208"/>
            <a:ext cx="512064" cy="512064"/>
          </a:xfrm>
          <a:prstGeom prst="ellipse">
            <a:avLst/>
          </a:prstGeom>
          <a:solidFill>
            <a:srgbClr val="00A1C9"/>
          </a:solidFill>
          <a:ln/>
        </p:spPr>
      </p:sp>
      <p:pic>
        <p:nvPicPr>
          <p:cNvPr id="6" name="Image 0" descr="/home/user/PBL-Proj/lightsail/assets/icon-doc.png">    </p:cNvPr>
          <p:cNvPicPr>
            <a:picLocks noChangeAspect="1"/>
          </p:cNvPicPr>
          <p:nvPr/>
        </p:nvPicPr>
        <p:blipFill>
          <a:blip r:embed="rId1"/>
          <a:stretch>
            <a:fillRect/>
          </a:stretch>
        </p:blipFill>
        <p:spPr>
          <a:xfrm>
            <a:off x="974385" y="1797345"/>
            <a:ext cx="245791" cy="245791"/>
          </a:xfrm>
          <a:prstGeom prst="rect">
            <a:avLst/>
          </a:prstGeom>
        </p:spPr>
      </p:pic>
      <p:sp>
        <p:nvSpPr>
          <p:cNvPr id="7" name="Text 4"/>
          <p:cNvSpPr/>
          <p:nvPr/>
        </p:nvSpPr>
        <p:spPr>
          <a:xfrm>
            <a:off x="1481328" y="1682496"/>
            <a:ext cx="4297680" cy="329184"/>
          </a:xfrm>
          <a:prstGeom prst="rect">
            <a:avLst/>
          </a:prstGeom>
          <a:noFill/>
          <a:ln/>
        </p:spPr>
        <p:txBody>
          <a:bodyPr wrap="square" lIns="0" tIns="0" rIns="0" bIns="0" rtlCol="0" anchor="ctr"/>
          <a:lstStyle/>
          <a:p>
            <a:pPr indent="0" marL="0">
              <a:buNone/>
            </a:pPr>
            <a:r>
              <a:rPr lang="en-US" sz="1700" b="1" dirty="0">
                <a:solidFill>
                  <a:srgbClr val="232F3E"/>
                </a:solidFill>
                <a:latin typeface="Cambria" pitchFamily="34" charset="0"/>
                <a:ea typeface="Cambria" pitchFamily="34" charset="-122"/>
                <a:cs typeface="Cambria" pitchFamily="34" charset="-120"/>
              </a:rPr>
              <a:t>Blueprint — the software</a:t>
            </a:r>
            <a:endParaRPr lang="en-US" sz="1700" dirty="0"/>
          </a:p>
        </p:txBody>
      </p:sp>
      <p:sp>
        <p:nvSpPr>
          <p:cNvPr id="8" name="Text 5"/>
          <p:cNvSpPr/>
          <p:nvPr/>
        </p:nvSpPr>
        <p:spPr>
          <a:xfrm>
            <a:off x="1481328" y="2011680"/>
            <a:ext cx="4297680" cy="256032"/>
          </a:xfrm>
          <a:prstGeom prst="rect">
            <a:avLst/>
          </a:prstGeom>
          <a:noFill/>
          <a:ln/>
        </p:spPr>
        <p:txBody>
          <a:bodyPr wrap="square" lIns="0" tIns="0" rIns="0" bIns="0" rtlCol="0" anchor="ctr"/>
          <a:lstStyle/>
          <a:p>
            <a:pPr indent="0" marL="0">
              <a:buNone/>
            </a:pPr>
            <a:r>
              <a:rPr lang="en-US" sz="1150" dirty="0">
                <a:solidFill>
                  <a:srgbClr val="5A6B7B"/>
                </a:solidFill>
                <a:latin typeface="Calibri" pitchFamily="34" charset="0"/>
                <a:ea typeface="Calibri" pitchFamily="34" charset="-122"/>
                <a:cs typeface="Calibri" pitchFamily="34" charset="-120"/>
              </a:rPr>
              <a:t>What the machine boots into.</a:t>
            </a:r>
            <a:endParaRPr lang="en-US" sz="1150" dirty="0"/>
          </a:p>
        </p:txBody>
      </p:sp>
      <p:sp>
        <p:nvSpPr>
          <p:cNvPr id="9" name="Text 6"/>
          <p:cNvSpPr/>
          <p:nvPr/>
        </p:nvSpPr>
        <p:spPr>
          <a:xfrm>
            <a:off x="859536" y="2395728"/>
            <a:ext cx="4937760" cy="237744"/>
          </a:xfrm>
          <a:prstGeom prst="rect">
            <a:avLst/>
          </a:prstGeom>
          <a:noFill/>
          <a:ln/>
        </p:spPr>
        <p:txBody>
          <a:bodyPr wrap="square" lIns="0" tIns="0" rIns="0" bIns="0" rtlCol="0" anchor="ctr"/>
          <a:lstStyle/>
          <a:p>
            <a:pPr indent="0" marL="0">
              <a:buNone/>
            </a:pPr>
            <a:r>
              <a:rPr lang="en-US" sz="1100" b="1" dirty="0">
                <a:solidFill>
                  <a:srgbClr val="00A1C9"/>
                </a:solidFill>
                <a:latin typeface="Calibri" pitchFamily="34" charset="0"/>
                <a:ea typeface="Calibri" pitchFamily="34" charset="-122"/>
                <a:cs typeface="Calibri" pitchFamily="34" charset="-120"/>
              </a:rPr>
              <a:t>Operating systems</a:t>
            </a:r>
            <a:endParaRPr lang="en-US" sz="1100" dirty="0"/>
          </a:p>
        </p:txBody>
      </p:sp>
      <p:sp>
        <p:nvSpPr>
          <p:cNvPr id="10" name="Text 7"/>
          <p:cNvSpPr/>
          <p:nvPr/>
        </p:nvSpPr>
        <p:spPr>
          <a:xfrm>
            <a:off x="859536" y="2633472"/>
            <a:ext cx="4937760" cy="566928"/>
          </a:xfrm>
          <a:prstGeom prst="rect">
            <a:avLst/>
          </a:prstGeom>
          <a:noFill/>
          <a:ln/>
        </p:spPr>
        <p:txBody>
          <a:bodyPr wrap="square" lIns="0" tIns="0" rIns="0" bIns="0" rtlCol="0" anchor="ctr"/>
          <a:lstStyle/>
          <a:p>
            <a:pPr indent="0" marL="0">
              <a:lnSpc>
                <a:spcPct val="114000"/>
              </a:lnSpc>
              <a:buNone/>
            </a:pPr>
            <a:r>
              <a:rPr lang="en-US" sz="1100" dirty="0">
                <a:solidFill>
                  <a:srgbClr val="232F3E"/>
                </a:solidFill>
                <a:latin typeface="Calibri" pitchFamily="34" charset="0"/>
                <a:ea typeface="Calibri" pitchFamily="34" charset="-122"/>
                <a:cs typeface="Calibri" pitchFamily="34" charset="-120"/>
              </a:rPr>
              <a:t>Amazon Linux 2 and 2023  ·  Ubuntu  ·  Debian  ·  AlmaLinux 9  ·  CentOS  ·  FreeBSD  ·  openSUSE  ·  Windows Server 2016 / 2019 / 2022</a:t>
            </a:r>
            <a:endParaRPr lang="en-US" sz="1100" dirty="0"/>
          </a:p>
        </p:txBody>
      </p:sp>
      <p:sp>
        <p:nvSpPr>
          <p:cNvPr id="11" name="Text 8"/>
          <p:cNvSpPr/>
          <p:nvPr/>
        </p:nvSpPr>
        <p:spPr>
          <a:xfrm>
            <a:off x="859536" y="3310128"/>
            <a:ext cx="4937760" cy="237744"/>
          </a:xfrm>
          <a:prstGeom prst="rect">
            <a:avLst/>
          </a:prstGeom>
          <a:noFill/>
          <a:ln/>
        </p:spPr>
        <p:txBody>
          <a:bodyPr wrap="square" lIns="0" tIns="0" rIns="0" bIns="0" rtlCol="0" anchor="ctr"/>
          <a:lstStyle/>
          <a:p>
            <a:pPr indent="0" marL="0">
              <a:buNone/>
            </a:pPr>
            <a:r>
              <a:rPr lang="en-US" sz="1100" b="1" dirty="0">
                <a:solidFill>
                  <a:srgbClr val="00A1C9"/>
                </a:solidFill>
                <a:latin typeface="Calibri" pitchFamily="34" charset="0"/>
                <a:ea typeface="Calibri" pitchFamily="34" charset="-122"/>
                <a:cs typeface="Calibri" pitchFamily="34" charset="-120"/>
              </a:rPr>
              <a:t>Application stacks</a:t>
            </a:r>
            <a:endParaRPr lang="en-US" sz="1100" dirty="0"/>
          </a:p>
        </p:txBody>
      </p:sp>
      <p:sp>
        <p:nvSpPr>
          <p:cNvPr id="12" name="Text 9"/>
          <p:cNvSpPr/>
          <p:nvPr/>
        </p:nvSpPr>
        <p:spPr>
          <a:xfrm>
            <a:off x="859536" y="3547872"/>
            <a:ext cx="4937760" cy="1005840"/>
          </a:xfrm>
          <a:prstGeom prst="rect">
            <a:avLst/>
          </a:prstGeom>
          <a:noFill/>
          <a:ln/>
        </p:spPr>
        <p:txBody>
          <a:bodyPr wrap="square" lIns="0" tIns="0" rIns="0" bIns="0" rtlCol="0" anchor="ctr"/>
          <a:lstStyle/>
          <a:p>
            <a:pPr indent="0" marL="0">
              <a:lnSpc>
                <a:spcPct val="114000"/>
              </a:lnSpc>
              <a:buNone/>
            </a:pPr>
            <a:r>
              <a:rPr lang="en-US" sz="1100" dirty="0">
                <a:solidFill>
                  <a:srgbClr val="232F3E"/>
                </a:solidFill>
                <a:latin typeface="Calibri" pitchFamily="34" charset="0"/>
                <a:ea typeface="Calibri" pitchFamily="34" charset="-122"/>
                <a:cs typeface="Calibri" pitchFamily="34" charset="-120"/>
              </a:rPr>
              <a:t>WordPress  ·  WordPress Multisite  ·  LAMP  ·  Nginx (LEMP)  ·  Node.js  ·  Ruby on Rails  ·  Django  ·  Drupal  ·  Joomla  ·  Magento  ·  PrestaShop  ·  Ghost  ·  Redmine  ·  GitLab  ·  cPanel &amp; WHM  ·  Plesk</a:t>
            </a:r>
            <a:endParaRPr lang="en-US" sz="1100" dirty="0"/>
          </a:p>
        </p:txBody>
      </p:sp>
      <p:sp>
        <p:nvSpPr>
          <p:cNvPr id="13" name="Shape 10"/>
          <p:cNvSpPr/>
          <p:nvPr/>
        </p:nvSpPr>
        <p:spPr>
          <a:xfrm>
            <a:off x="6419088" y="1444752"/>
            <a:ext cx="5202936" cy="3246120"/>
          </a:xfrm>
          <a:prstGeom prst="roundRect">
            <a:avLst>
              <a:gd name="adj" fmla="val 2535"/>
            </a:avLst>
          </a:prstGeom>
          <a:solidFill>
            <a:srgbClr val="FFFFFF"/>
          </a:solidFill>
          <a:ln w="12700">
            <a:solidFill>
              <a:srgbClr val="FF9900"/>
            </a:solidFill>
            <a:prstDash val="solid"/>
          </a:ln>
          <a:effectLst>
            <a:outerShdw sx="100000" sy="100000" kx="0" ky="0" algn="bl" rotWithShape="0" blurRad="101600" dist="25400" dir="5400000">
              <a:srgbClr val="9AA9B5">
                <a:alpha val="25000"/>
              </a:srgbClr>
            </a:outerShdw>
          </a:effectLst>
        </p:spPr>
      </p:sp>
      <p:sp>
        <p:nvSpPr>
          <p:cNvPr id="14" name="Shape 11"/>
          <p:cNvSpPr/>
          <p:nvPr/>
        </p:nvSpPr>
        <p:spPr>
          <a:xfrm>
            <a:off x="6693408" y="1664208"/>
            <a:ext cx="512064" cy="512064"/>
          </a:xfrm>
          <a:prstGeom prst="ellipse">
            <a:avLst/>
          </a:prstGeom>
          <a:solidFill>
            <a:srgbClr val="FF9900"/>
          </a:solidFill>
          <a:ln/>
        </p:spPr>
      </p:sp>
      <p:pic>
        <p:nvPicPr>
          <p:cNvPr id="15" name="Image 1" descr="/home/user/PBL-Proj/lightsail/assets/icon-server.png">    </p:cNvPr>
          <p:cNvPicPr>
            <a:picLocks noChangeAspect="1"/>
          </p:cNvPicPr>
          <p:nvPr/>
        </p:nvPicPr>
        <p:blipFill>
          <a:blip r:embed="rId2"/>
          <a:stretch>
            <a:fillRect/>
          </a:stretch>
        </p:blipFill>
        <p:spPr>
          <a:xfrm>
            <a:off x="6826545" y="1797345"/>
            <a:ext cx="245791" cy="245791"/>
          </a:xfrm>
          <a:prstGeom prst="rect">
            <a:avLst/>
          </a:prstGeom>
        </p:spPr>
      </p:pic>
      <p:sp>
        <p:nvSpPr>
          <p:cNvPr id="16" name="Text 12"/>
          <p:cNvSpPr/>
          <p:nvPr/>
        </p:nvSpPr>
        <p:spPr>
          <a:xfrm>
            <a:off x="7333488" y="1682496"/>
            <a:ext cx="4023360" cy="329184"/>
          </a:xfrm>
          <a:prstGeom prst="rect">
            <a:avLst/>
          </a:prstGeom>
          <a:noFill/>
          <a:ln/>
        </p:spPr>
        <p:txBody>
          <a:bodyPr wrap="square" lIns="0" tIns="0" rIns="0" bIns="0" rtlCol="0" anchor="ctr"/>
          <a:lstStyle/>
          <a:p>
            <a:pPr indent="0" marL="0">
              <a:buNone/>
            </a:pPr>
            <a:r>
              <a:rPr lang="en-US" sz="1700" b="1" dirty="0">
                <a:solidFill>
                  <a:srgbClr val="232F3E"/>
                </a:solidFill>
                <a:latin typeface="Cambria" pitchFamily="34" charset="0"/>
                <a:ea typeface="Cambria" pitchFamily="34" charset="-122"/>
                <a:cs typeface="Cambria" pitchFamily="34" charset="-120"/>
              </a:rPr>
              <a:t>Bundle — the hardware</a:t>
            </a:r>
            <a:endParaRPr lang="en-US" sz="1700" dirty="0"/>
          </a:p>
        </p:txBody>
      </p:sp>
      <p:sp>
        <p:nvSpPr>
          <p:cNvPr id="17" name="Text 13"/>
          <p:cNvSpPr/>
          <p:nvPr/>
        </p:nvSpPr>
        <p:spPr>
          <a:xfrm>
            <a:off x="7333488" y="2011680"/>
            <a:ext cx="4023360" cy="256032"/>
          </a:xfrm>
          <a:prstGeom prst="rect">
            <a:avLst/>
          </a:prstGeom>
          <a:noFill/>
          <a:ln/>
        </p:spPr>
        <p:txBody>
          <a:bodyPr wrap="square" lIns="0" tIns="0" rIns="0" bIns="0" rtlCol="0" anchor="ctr"/>
          <a:lstStyle/>
          <a:p>
            <a:pPr indent="0" marL="0">
              <a:buNone/>
            </a:pPr>
            <a:r>
              <a:rPr lang="en-US" sz="1150" dirty="0">
                <a:solidFill>
                  <a:srgbClr val="5A6B7B"/>
                </a:solidFill>
                <a:latin typeface="Calibri" pitchFamily="34" charset="0"/>
                <a:ea typeface="Calibri" pitchFamily="34" charset="-122"/>
                <a:cs typeface="Calibri" pitchFamily="34" charset="-120"/>
              </a:rPr>
              <a:t>What it runs on, and what it costs.</a:t>
            </a:r>
            <a:endParaRPr lang="en-US" sz="1150" dirty="0"/>
          </a:p>
        </p:txBody>
      </p:sp>
      <p:sp>
        <p:nvSpPr>
          <p:cNvPr id="18" name="Text 14"/>
          <p:cNvSpPr/>
          <p:nvPr/>
        </p:nvSpPr>
        <p:spPr>
          <a:xfrm>
            <a:off x="6711696" y="2432304"/>
            <a:ext cx="4663440" cy="210312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150" dirty="0">
                <a:solidFill>
                  <a:srgbClr val="232F3E"/>
                </a:solidFill>
                <a:latin typeface="Calibri" pitchFamily="34" charset="0"/>
                <a:ea typeface="Calibri" pitchFamily="34" charset="-122"/>
                <a:cs typeface="Calibri" pitchFamily="34" charset="-120"/>
              </a:rPr>
              <a:t>One bundle fixes vCPU, RAM, SSD size and the monthly transfer allowance together</a:t>
            </a:r>
            <a:endParaRPr lang="en-US" sz="1150" dirty="0"/>
          </a:p>
          <a:p>
            <a:pPr marL="342900" indent="-342900">
              <a:lnSpc>
                <a:spcPct val="105000"/>
              </a:lnSpc>
              <a:spcAft>
                <a:spcPts val="700"/>
              </a:spcAft>
              <a:buSzPct val="100000"/>
              <a:buChar char="●"/>
            </a:pPr>
            <a:r>
              <a:rPr lang="en-US" sz="1150" dirty="0">
                <a:solidFill>
                  <a:srgbClr val="232F3E"/>
                </a:solidFill>
                <a:latin typeface="Calibri" pitchFamily="34" charset="0"/>
                <a:ea typeface="Calibri" pitchFamily="34" charset="-122"/>
                <a:cs typeface="Calibri" pitchFamily="34" charset="-120"/>
              </a:rPr>
              <a:t>Three families: general purpose, memory optimised (to 512 GB RAM, Feb 2026) and compute optimised (to 72 vCPU, Apr 2026)</a:t>
            </a:r>
            <a:endParaRPr lang="en-US" sz="1150" dirty="0"/>
          </a:p>
          <a:p>
            <a:pPr marL="342900" indent="-342900">
              <a:lnSpc>
                <a:spcPct val="105000"/>
              </a:lnSpc>
              <a:spcAft>
                <a:spcPts val="700"/>
              </a:spcAft>
              <a:buSzPct val="100000"/>
              <a:buChar char="●"/>
            </a:pPr>
            <a:r>
              <a:rPr lang="en-US" sz="1150" dirty="0">
                <a:solidFill>
                  <a:srgbClr val="232F3E"/>
                </a:solidFill>
                <a:latin typeface="Calibri" pitchFamily="34" charset="0"/>
                <a:ea typeface="Calibri" pitchFamily="34" charset="-122"/>
                <a:cs typeface="Calibri" pitchFamily="34" charset="-120"/>
              </a:rPr>
              <a:t>Entry tiers use burstable CPU; $24/month and above give dedicated vCPU</a:t>
            </a:r>
            <a:endParaRPr lang="en-US" sz="1150" dirty="0"/>
          </a:p>
          <a:p>
            <a:pPr marL="342900" indent="-342900">
              <a:lnSpc>
                <a:spcPct val="105000"/>
              </a:lnSpc>
              <a:spcAft>
                <a:spcPts val="700"/>
              </a:spcAft>
              <a:buSzPct val="100000"/>
              <a:buChar char="●"/>
            </a:pPr>
            <a:r>
              <a:rPr lang="en-US" sz="1150" dirty="0">
                <a:solidFill>
                  <a:srgbClr val="232F3E"/>
                </a:solidFill>
                <a:latin typeface="Calibri" pitchFamily="34" charset="0"/>
                <a:ea typeface="Calibri" pitchFamily="34" charset="-122"/>
                <a:cs typeface="Calibri" pitchFamily="34" charset="-120"/>
              </a:rPr>
              <a:t>Bundles can be resized upward by taking a snapshot and restoring onto a larger plan</a:t>
            </a:r>
            <a:endParaRPr lang="en-US" sz="1150" dirty="0"/>
          </a:p>
        </p:txBody>
      </p:sp>
      <p:sp>
        <p:nvSpPr>
          <p:cNvPr id="19" name="Shape 15"/>
          <p:cNvSpPr/>
          <p:nvPr/>
        </p:nvSpPr>
        <p:spPr>
          <a:xfrm>
            <a:off x="566928" y="4864608"/>
            <a:ext cx="11055096" cy="1170432"/>
          </a:xfrm>
          <a:prstGeom prst="roundRect">
            <a:avLst>
              <a:gd name="adj" fmla="val 7031"/>
            </a:avLst>
          </a:prstGeom>
          <a:solidFill>
            <a:srgbClr val="FFF4E2"/>
          </a:solidFill>
          <a:ln w="12700">
            <a:solidFill>
              <a:srgbClr val="FF9900"/>
            </a:solidFill>
            <a:prstDash val="solid"/>
          </a:ln>
        </p:spPr>
      </p:sp>
      <p:sp>
        <p:nvSpPr>
          <p:cNvPr id="20" name="Shape 16"/>
          <p:cNvSpPr/>
          <p:nvPr/>
        </p:nvSpPr>
        <p:spPr>
          <a:xfrm>
            <a:off x="804672" y="5102352"/>
            <a:ext cx="512064" cy="512064"/>
          </a:xfrm>
          <a:prstGeom prst="ellipse">
            <a:avLst/>
          </a:prstGeom>
          <a:solidFill>
            <a:srgbClr val="FF9900"/>
          </a:solidFill>
          <a:ln/>
        </p:spPr>
      </p:sp>
      <p:pic>
        <p:nvPicPr>
          <p:cNvPr id="21" name="Image 2" descr="/home/user/PBL-Proj/lightsail/assets/icon-warn.png">    </p:cNvPr>
          <p:cNvPicPr>
            <a:picLocks noChangeAspect="1"/>
          </p:cNvPicPr>
          <p:nvPr/>
        </p:nvPicPr>
        <p:blipFill>
          <a:blip r:embed="rId3"/>
          <a:stretch>
            <a:fillRect/>
          </a:stretch>
        </p:blipFill>
        <p:spPr>
          <a:xfrm>
            <a:off x="937809" y="5235489"/>
            <a:ext cx="245791" cy="245791"/>
          </a:xfrm>
          <a:prstGeom prst="rect">
            <a:avLst/>
          </a:prstGeom>
        </p:spPr>
      </p:pic>
      <p:sp>
        <p:nvSpPr>
          <p:cNvPr id="22" name="Text 17"/>
          <p:cNvSpPr/>
          <p:nvPr/>
        </p:nvSpPr>
        <p:spPr>
          <a:xfrm>
            <a:off x="1463040" y="5010912"/>
            <a:ext cx="9966960" cy="274320"/>
          </a:xfrm>
          <a:prstGeom prst="rect">
            <a:avLst/>
          </a:prstGeom>
          <a:noFill/>
          <a:ln/>
        </p:spPr>
        <p:txBody>
          <a:bodyPr wrap="square" lIns="0" tIns="0" rIns="0" bIns="0" rtlCol="0" anchor="ctr"/>
          <a:lstStyle/>
          <a:p>
            <a:pPr indent="0" marL="0">
              <a:buNone/>
            </a:pPr>
            <a:r>
              <a:rPr lang="en-US" sz="1450" b="1" dirty="0">
                <a:solidFill>
                  <a:srgbClr val="8A4B00"/>
                </a:solidFill>
                <a:latin typeface="Cambria" pitchFamily="34" charset="0"/>
                <a:ea typeface="Cambria" pitchFamily="34" charset="-122"/>
                <a:cs typeface="Cambria" pitchFamily="34" charset="-120"/>
              </a:rPr>
              <a:t>Currently in transition — worth knowing for any new build</a:t>
            </a:r>
            <a:endParaRPr lang="en-US" sz="1450" dirty="0"/>
          </a:p>
        </p:txBody>
      </p:sp>
      <p:sp>
        <p:nvSpPr>
          <p:cNvPr id="23" name="Text 18"/>
          <p:cNvSpPr/>
          <p:nvPr/>
        </p:nvSpPr>
        <p:spPr>
          <a:xfrm>
            <a:off x="1463040" y="5303520"/>
            <a:ext cx="9966960" cy="658368"/>
          </a:xfrm>
          <a:prstGeom prst="rect">
            <a:avLst/>
          </a:prstGeom>
          <a:noFill/>
          <a:ln/>
        </p:spPr>
        <p:txBody>
          <a:bodyPr wrap="square" lIns="0" tIns="0" rIns="0" bIns="0" rtlCol="0" anchor="ctr"/>
          <a:lstStyle/>
          <a:p>
            <a:pPr indent="0" marL="0">
              <a:lnSpc>
                <a:spcPct val="112000"/>
              </a:lnSpc>
              <a:buNone/>
            </a:pPr>
            <a:r>
              <a:rPr lang="en-US" sz="1100" dirty="0">
                <a:solidFill>
                  <a:srgbClr val="232F3E"/>
                </a:solidFill>
                <a:latin typeface="Calibri" pitchFamily="34" charset="0"/>
                <a:ea typeface="Calibri" pitchFamily="34" charset="-122"/>
                <a:cs typeface="Calibri" pitchFamily="34" charset="-120"/>
              </a:rPr>
              <a:t>AWS stopped shipping newer Bitnami-packaged blueprints on 19 May 2026. WordPress, LAMP, Nginx and Node.js images packaged by Bitnami retire on 19 November 2026; Joomla, Magento, Drupal, Ghost, Django, GitLab, Redmine, MEAN and PrestaShop follow on 19 May 2027. AWS-maintained replacements for Node.js, LAMP and Ruby on Rails shipped in January 2026.</a:t>
            </a:r>
            <a:endParaRPr lang="en-US" sz="1100" dirty="0"/>
          </a:p>
        </p:txBody>
      </p:sp>
      <p:sp>
        <p:nvSpPr>
          <p:cNvPr id="24" name="Text 19"/>
          <p:cNvSpPr/>
          <p:nvPr/>
        </p:nvSpPr>
        <p:spPr>
          <a:xfrm>
            <a:off x="566928" y="6437376"/>
            <a:ext cx="7772400" cy="256032"/>
          </a:xfrm>
          <a:prstGeom prst="rect">
            <a:avLst/>
          </a:prstGeom>
          <a:noFill/>
          <a:ln/>
        </p:spPr>
        <p:txBody>
          <a:bodyPr wrap="square" lIns="0" tIns="0" rIns="0" bIns="0" rtlCol="0" anchor="ctr"/>
          <a:lstStyle/>
          <a:p>
            <a:pPr algn="l" indent="0" marL="0">
              <a:buNone/>
            </a:pPr>
            <a:r>
              <a:rPr lang="en-US" sz="950" dirty="0">
                <a:solidFill>
                  <a:srgbClr val="9AA9B5"/>
                </a:solidFill>
                <a:latin typeface="Calibri" pitchFamily="34" charset="0"/>
                <a:ea typeface="Calibri" pitchFamily="34" charset="-122"/>
                <a:cs typeface="Calibri" pitchFamily="34" charset="-120"/>
              </a:rPr>
              <a:t>Amazon Lightsail (PaaS-Lite)  ·  Hridiyansh Shukla  ·  2427030591</a:t>
            </a:r>
            <a:endParaRPr lang="en-US" sz="950" dirty="0"/>
          </a:p>
        </p:txBody>
      </p:sp>
      <p:sp>
        <p:nvSpPr>
          <p:cNvPr id="25" name="Text 20"/>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950" dirty="0">
                <a:solidFill>
                  <a:srgbClr val="9AA9B5"/>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algn="l" indent="0" marL="0">
              <a:buNone/>
            </a:pPr>
            <a:r>
              <a:rPr lang="en-US" sz="1100" b="1" spc="220" kern="0" dirty="0">
                <a:solidFill>
                  <a:srgbClr val="FF9900"/>
                </a:solidFill>
                <a:latin typeface="Calibri" pitchFamily="34" charset="0"/>
                <a:ea typeface="Calibri" pitchFamily="34" charset="-122"/>
                <a:cs typeface="Calibri" pitchFamily="34" charset="-120"/>
              </a:rPr>
              <a:t>ECONOMICS</a:t>
            </a:r>
            <a:endParaRPr lang="en-US" sz="1100" dirty="0"/>
          </a:p>
        </p:txBody>
      </p:sp>
      <p:sp>
        <p:nvSpPr>
          <p:cNvPr id="3" name="Text 1"/>
          <p:cNvSpPr/>
          <p:nvPr/>
        </p:nvSpPr>
        <p:spPr>
          <a:xfrm>
            <a:off x="566928" y="566928"/>
            <a:ext cx="11057839" cy="50292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Instance bundles — the published price list</a:t>
            </a:r>
            <a:endParaRPr lang="en-US" sz="3000" dirty="0"/>
          </a:p>
        </p:txBody>
      </p:sp>
      <p:sp>
        <p:nvSpPr>
          <p:cNvPr id="4" name="Text 2"/>
          <p:cNvSpPr/>
          <p:nvPr/>
        </p:nvSpPr>
        <p:spPr>
          <a:xfrm>
            <a:off x="566928" y="1060704"/>
            <a:ext cx="11057839" cy="274320"/>
          </a:xfrm>
          <a:prstGeom prst="rect">
            <a:avLst/>
          </a:prstGeom>
          <a:noFill/>
          <a:ln/>
        </p:spPr>
        <p:txBody>
          <a:bodyPr wrap="square" lIns="0" tIns="0" rIns="0" bIns="0" rtlCol="0" anchor="ctr"/>
          <a:lstStyle/>
          <a:p>
            <a:pPr algn="l" indent="0" marL="0">
              <a:buNone/>
            </a:pPr>
            <a:r>
              <a:rPr lang="en-US" sz="1350" i="1" dirty="0">
                <a:solidFill>
                  <a:srgbClr val="5A6B7B"/>
                </a:solidFill>
                <a:latin typeface="Calibri" pitchFamily="34" charset="0"/>
                <a:ea typeface="Calibri" pitchFamily="34" charset="-122"/>
                <a:cs typeface="Calibri" pitchFamily="34" charset="-120"/>
              </a:rPr>
              <a:t>Linux/Unix general-purpose bundles with a public IPv4 address. Windows bundles carry a licence premium.</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664208"/>
          <a:ext cx="11055096" cy="914400"/>
        </p:xfrm>
        <a:graphic>
          <a:graphicData uri="http://schemas.openxmlformats.org/drawingml/2006/table">
            <a:tbl>
              <a:tblPr/>
              <a:tblGrid>
                <a:gridCol w="1517904"/>
                <a:gridCol w="1517904"/>
                <a:gridCol w="1033272"/>
                <a:gridCol w="1700784"/>
                <a:gridCol w="2121408"/>
                <a:gridCol w="1700784"/>
                <a:gridCol w="1463040"/>
              </a:tblGrid>
              <a:tr h="38404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Bundle</a:t>
                      </a:r>
                      <a:endParaRPr lang="en-US" sz="1150" dirty="0">
                        <a:latin typeface="Calibri" charset="0"/>
                        <a:ea typeface="Calibri" charset="0"/>
                        <a:cs typeface="Calibri" charset="0"/>
                      </a:endParaRPr>
                    </a:p>
                  </a:txBody>
                  <a:tcPr marL="88900" marR="88900" marT="50800" marB="508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232F3E"/>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Memory</a:t>
                      </a:r>
                      <a:endParaRPr lang="en-US" sz="1150" dirty="0">
                        <a:latin typeface="Calibri" charset="0"/>
                        <a:ea typeface="Calibri" charset="0"/>
                        <a:cs typeface="Calibri" charset="0"/>
                      </a:endParaRPr>
                    </a:p>
                  </a:txBody>
                  <a:tcPr marL="88900" marR="88900" marT="50800" marB="508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232F3E"/>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vCPU</a:t>
                      </a:r>
                      <a:endParaRPr lang="en-US" sz="1150" dirty="0">
                        <a:latin typeface="Calibri" charset="0"/>
                        <a:ea typeface="Calibri" charset="0"/>
                        <a:cs typeface="Calibri" charset="0"/>
                      </a:endParaRPr>
                    </a:p>
                  </a:txBody>
                  <a:tcPr marL="88900" marR="88900" marT="50800" marB="508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232F3E"/>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SSD storage</a:t>
                      </a:r>
                      <a:endParaRPr lang="en-US" sz="1150" dirty="0">
                        <a:latin typeface="Calibri" charset="0"/>
                        <a:ea typeface="Calibri" charset="0"/>
                        <a:cs typeface="Calibri" charset="0"/>
                      </a:endParaRPr>
                    </a:p>
                  </a:txBody>
                  <a:tcPr marL="88900" marR="88900" marT="50800" marB="508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232F3E"/>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Transfer / month</a:t>
                      </a:r>
                      <a:endParaRPr lang="en-US" sz="1150" dirty="0">
                        <a:latin typeface="Calibri" charset="0"/>
                        <a:ea typeface="Calibri" charset="0"/>
                        <a:cs typeface="Calibri" charset="0"/>
                      </a:endParaRPr>
                    </a:p>
                  </a:txBody>
                  <a:tcPr marL="88900" marR="88900" marT="50800" marB="508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232F3E"/>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Linux $/month</a:t>
                      </a:r>
                      <a:endParaRPr lang="en-US" sz="1150" dirty="0">
                        <a:latin typeface="Calibri" charset="0"/>
                        <a:ea typeface="Calibri" charset="0"/>
                        <a:cs typeface="Calibri" charset="0"/>
                      </a:endParaRPr>
                    </a:p>
                  </a:txBody>
                  <a:tcPr marL="88900" marR="88900" marT="50800" marB="508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232F3E"/>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Windows $/month</a:t>
                      </a:r>
                      <a:endParaRPr lang="en-US" sz="1150" dirty="0">
                        <a:latin typeface="Calibri" charset="0"/>
                        <a:ea typeface="Calibri" charset="0"/>
                        <a:cs typeface="Calibri" charset="0"/>
                      </a:endParaRPr>
                    </a:p>
                  </a:txBody>
                  <a:tcPr marL="88900" marR="88900" marT="50800" marB="508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232F3E"/>
                    </a:solidFill>
                  </a:tcPr>
                </a:tc>
              </a:tr>
              <a:tr h="384048">
                <a:tc>
                  <a:txBody>
                    <a:bodyPr/>
                    <a:lstStyle/>
                    <a:p>
                      <a:pPr algn="l" indent="0" marL="0">
                        <a:buNone/>
                      </a:pPr>
                      <a:r>
                        <a:rPr lang="en-US" sz="1150" dirty="0">
                          <a:solidFill>
                            <a:srgbClr val="232F3E"/>
                          </a:solidFill>
                          <a:latin typeface="Calibri" pitchFamily="34" charset="0"/>
                          <a:ea typeface="Calibri" pitchFamily="34" charset="-122"/>
                          <a:cs typeface="Calibri" pitchFamily="34" charset="-120"/>
                        </a:rPr>
                        <a:t>Nano</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512 MB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20 GB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1 TB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32F3E"/>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$9.50</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232F3E"/>
                          </a:solidFill>
                          <a:latin typeface="Calibri" pitchFamily="34" charset="0"/>
                          <a:ea typeface="Calibri" pitchFamily="34" charset="-122"/>
                          <a:cs typeface="Calibri" pitchFamily="34" charset="-120"/>
                        </a:rPr>
                        <a:t>Micro</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1 GB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40 GB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2 TB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b="1" dirty="0">
                          <a:solidFill>
                            <a:srgbClr val="232F3E"/>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r>
              <a:tr h="384048">
                <a:tc>
                  <a:txBody>
                    <a:bodyPr/>
                    <a:lstStyle/>
                    <a:p>
                      <a:pPr algn="l" indent="0" marL="0">
                        <a:buNone/>
                      </a:pPr>
                      <a:r>
                        <a:rPr lang="en-US" sz="1150" dirty="0">
                          <a:solidFill>
                            <a:srgbClr val="232F3E"/>
                          </a:solidFill>
                          <a:latin typeface="Calibri" pitchFamily="34" charset="0"/>
                          <a:ea typeface="Calibri" pitchFamily="34" charset="-122"/>
                          <a:cs typeface="Calibri" pitchFamily="34" charset="-120"/>
                        </a:rPr>
                        <a:t>Small</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2 GB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60 GB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3 TB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32F3E"/>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232F3E"/>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4 GB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80 GB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4 TB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b="1" dirty="0">
                          <a:solidFill>
                            <a:srgbClr val="232F3E"/>
                          </a:solidFill>
                          <a:latin typeface="Calibri" pitchFamily="34" charset="0"/>
                          <a:ea typeface="Calibri" pitchFamily="34" charset="-122"/>
                          <a:cs typeface="Calibri" pitchFamily="34" charset="-120"/>
                        </a:rPr>
                        <a:t>$24</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r>
              <a:tr h="384048">
                <a:tc>
                  <a:txBody>
                    <a:bodyPr/>
                    <a:lstStyle/>
                    <a:p>
                      <a:pPr algn="l" indent="0" marL="0">
                        <a:buNone/>
                      </a:pPr>
                      <a:r>
                        <a:rPr lang="en-US" sz="1150" dirty="0">
                          <a:solidFill>
                            <a:srgbClr val="232F3E"/>
                          </a:solidFill>
                          <a:latin typeface="Calibri" pitchFamily="34" charset="0"/>
                          <a:ea typeface="Calibri" pitchFamily="34" charset="-122"/>
                          <a:cs typeface="Calibri" pitchFamily="34" charset="-120"/>
                        </a:rPr>
                        <a:t>Large</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8 GB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160 GB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5 TB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32F3E"/>
                          </a:solidFill>
                          <a:latin typeface="Calibri" pitchFamily="34" charset="0"/>
                          <a:ea typeface="Calibri" pitchFamily="34" charset="-122"/>
                          <a:cs typeface="Calibri" pitchFamily="34" charset="-120"/>
                        </a:rPr>
                        <a:t>$44</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232F3E"/>
                          </a:solidFill>
                          <a:latin typeface="Calibri" pitchFamily="34" charset="0"/>
                          <a:ea typeface="Calibri" pitchFamily="34" charset="-122"/>
                          <a:cs typeface="Calibri" pitchFamily="34" charset="-120"/>
                        </a:rPr>
                        <a:t>XLarge</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16 GB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320 GB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6 TB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b="1" dirty="0">
                          <a:solidFill>
                            <a:srgbClr val="232F3E"/>
                          </a:solidFill>
                          <a:latin typeface="Calibri" pitchFamily="34" charset="0"/>
                          <a:ea typeface="Calibri" pitchFamily="34" charset="-122"/>
                          <a:cs typeface="Calibri" pitchFamily="34" charset="-120"/>
                        </a:rPr>
                        <a:t>$84</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r>
              <a:tr h="384048">
                <a:tc>
                  <a:txBody>
                    <a:bodyPr/>
                    <a:lstStyle/>
                    <a:p>
                      <a:pPr algn="l" indent="0" marL="0">
                        <a:buNone/>
                      </a:pPr>
                      <a:r>
                        <a:rPr lang="en-US" sz="1150" dirty="0">
                          <a:solidFill>
                            <a:srgbClr val="232F3E"/>
                          </a:solidFill>
                          <a:latin typeface="Calibri" pitchFamily="34" charset="0"/>
                          <a:ea typeface="Calibri" pitchFamily="34" charset="-122"/>
                          <a:cs typeface="Calibri" pitchFamily="34" charset="-120"/>
                        </a:rPr>
                        <a:t>2XLarge</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32 GB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640 GB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7 TB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32F3E"/>
                          </a:solidFill>
                          <a:latin typeface="Calibri" pitchFamily="34" charset="0"/>
                          <a:ea typeface="Calibri" pitchFamily="34" charset="-122"/>
                          <a:cs typeface="Calibri" pitchFamily="34" charset="-120"/>
                        </a:rPr>
                        <a:t>$164</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232F3E"/>
                          </a:solidFill>
                          <a:latin typeface="Calibri" pitchFamily="34" charset="0"/>
                          <a:ea typeface="Calibri" pitchFamily="34" charset="-122"/>
                          <a:cs typeface="Calibri" pitchFamily="34" charset="-120"/>
                        </a:rPr>
                        <a:t>4XLarge</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64 GB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1,280 GB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8 TB</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b="1" dirty="0">
                          <a:solidFill>
                            <a:srgbClr val="232F3E"/>
                          </a:solidFill>
                          <a:latin typeface="Calibri" pitchFamily="34" charset="0"/>
                          <a:ea typeface="Calibri" pitchFamily="34" charset="-122"/>
                          <a:cs typeface="Calibri" pitchFamily="34" charset="-120"/>
                        </a:rPr>
                        <a:t>$384</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ctr" indent="0" marL="0">
                        <a:buNone/>
                      </a:pPr>
                      <a:r>
                        <a:rPr lang="en-US" sz="1150" dirty="0">
                          <a:solidFill>
                            <a:srgbClr val="232F3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r>
            </a:tbl>
          </a:graphicData>
        </a:graphic>
      </p:graphicFrame>
      <p:sp>
        <p:nvSpPr>
          <p:cNvPr id="6" name="Shape 3"/>
          <p:cNvSpPr/>
          <p:nvPr/>
        </p:nvSpPr>
        <p:spPr>
          <a:xfrm>
            <a:off x="566928" y="5193792"/>
            <a:ext cx="3566160" cy="1005840"/>
          </a:xfrm>
          <a:prstGeom prst="roundRect">
            <a:avLst>
              <a:gd name="adj" fmla="val 8182"/>
            </a:avLst>
          </a:prstGeom>
          <a:solidFill>
            <a:srgbClr val="F4F7F9"/>
          </a:solidFill>
          <a:ln w="12700">
            <a:solidFill>
              <a:srgbClr val="D5DEE5"/>
            </a:solidFill>
            <a:prstDash val="solid"/>
          </a:ln>
        </p:spPr>
      </p:sp>
      <p:sp>
        <p:nvSpPr>
          <p:cNvPr id="7" name="Text 4"/>
          <p:cNvSpPr/>
          <p:nvPr/>
        </p:nvSpPr>
        <p:spPr>
          <a:xfrm>
            <a:off x="749808" y="5303520"/>
            <a:ext cx="3200400" cy="274320"/>
          </a:xfrm>
          <a:prstGeom prst="rect">
            <a:avLst/>
          </a:prstGeom>
          <a:noFill/>
          <a:ln/>
        </p:spPr>
        <p:txBody>
          <a:bodyPr wrap="square" lIns="0" tIns="0" rIns="0" bIns="0" rtlCol="0" anchor="ctr"/>
          <a:lstStyle/>
          <a:p>
            <a:pPr indent="0" marL="0">
              <a:buNone/>
            </a:pPr>
            <a:r>
              <a:rPr lang="en-US" sz="1150" b="1" dirty="0">
                <a:solidFill>
                  <a:srgbClr val="00A1C9"/>
                </a:solidFill>
                <a:latin typeface="Calibri" pitchFamily="34" charset="0"/>
                <a:ea typeface="Calibri" pitchFamily="34" charset="-122"/>
                <a:cs typeface="Calibri" pitchFamily="34" charset="-120"/>
              </a:rPr>
              <a:t>IPv6-only bundles cost about 30% less</a:t>
            </a:r>
            <a:endParaRPr lang="en-US" sz="1150" dirty="0"/>
          </a:p>
        </p:txBody>
      </p:sp>
      <p:sp>
        <p:nvSpPr>
          <p:cNvPr id="8" name="Text 5"/>
          <p:cNvSpPr/>
          <p:nvPr/>
        </p:nvSpPr>
        <p:spPr>
          <a:xfrm>
            <a:off x="749808" y="5559552"/>
            <a:ext cx="3200400" cy="566928"/>
          </a:xfrm>
          <a:prstGeom prst="rect">
            <a:avLst/>
          </a:prstGeom>
          <a:noFill/>
          <a:ln/>
        </p:spPr>
        <p:txBody>
          <a:bodyPr wrap="square" lIns="0" tIns="0" rIns="0" bIns="0" rtlCol="0" anchor="ctr"/>
          <a:lstStyle/>
          <a:p>
            <a:pPr indent="0" marL="0">
              <a:lnSpc>
                <a:spcPct val="110000"/>
              </a:lnSpc>
              <a:buNone/>
            </a:pPr>
            <a:r>
              <a:rPr lang="en-US" sz="1000" dirty="0">
                <a:solidFill>
                  <a:srgbClr val="5A6B7B"/>
                </a:solidFill>
                <a:latin typeface="Calibri" pitchFamily="34" charset="0"/>
                <a:ea typeface="Calibri" pitchFamily="34" charset="-122"/>
                <a:cs typeface="Calibri" pitchFamily="34" charset="-120"/>
              </a:rPr>
              <a:t>A public IPv4 address is now the premium — the Linux nano tier drops from $5 to $3.50 without one.</a:t>
            </a:r>
            <a:endParaRPr lang="en-US" sz="1000" dirty="0"/>
          </a:p>
        </p:txBody>
      </p:sp>
      <p:sp>
        <p:nvSpPr>
          <p:cNvPr id="9" name="Shape 6"/>
          <p:cNvSpPr/>
          <p:nvPr/>
        </p:nvSpPr>
        <p:spPr>
          <a:xfrm>
            <a:off x="4315968" y="5193792"/>
            <a:ext cx="3566160" cy="1005840"/>
          </a:xfrm>
          <a:prstGeom prst="roundRect">
            <a:avLst>
              <a:gd name="adj" fmla="val 8182"/>
            </a:avLst>
          </a:prstGeom>
          <a:solidFill>
            <a:srgbClr val="F4F7F9"/>
          </a:solidFill>
          <a:ln w="12700">
            <a:solidFill>
              <a:srgbClr val="D5DEE5"/>
            </a:solidFill>
            <a:prstDash val="solid"/>
          </a:ln>
        </p:spPr>
      </p:sp>
      <p:sp>
        <p:nvSpPr>
          <p:cNvPr id="10" name="Text 7"/>
          <p:cNvSpPr/>
          <p:nvPr/>
        </p:nvSpPr>
        <p:spPr>
          <a:xfrm>
            <a:off x="4498848" y="5303520"/>
            <a:ext cx="3200400" cy="274320"/>
          </a:xfrm>
          <a:prstGeom prst="rect">
            <a:avLst/>
          </a:prstGeom>
          <a:noFill/>
          <a:ln/>
        </p:spPr>
        <p:txBody>
          <a:bodyPr wrap="square" lIns="0" tIns="0" rIns="0" bIns="0" rtlCol="0" anchor="ctr"/>
          <a:lstStyle/>
          <a:p>
            <a:pPr indent="0" marL="0">
              <a:buNone/>
            </a:pPr>
            <a:r>
              <a:rPr lang="en-US" sz="1150" b="1" dirty="0">
                <a:solidFill>
                  <a:srgbClr val="FF9900"/>
                </a:solidFill>
                <a:latin typeface="Calibri" pitchFamily="34" charset="0"/>
                <a:ea typeface="Calibri" pitchFamily="34" charset="-122"/>
                <a:cs typeface="Calibri" pitchFamily="34" charset="-120"/>
              </a:rPr>
              <a:t>Transfer overage is metered</a:t>
            </a:r>
            <a:endParaRPr lang="en-US" sz="1150" dirty="0"/>
          </a:p>
        </p:txBody>
      </p:sp>
      <p:sp>
        <p:nvSpPr>
          <p:cNvPr id="11" name="Text 8"/>
          <p:cNvSpPr/>
          <p:nvPr/>
        </p:nvSpPr>
        <p:spPr>
          <a:xfrm>
            <a:off x="4498848" y="5559552"/>
            <a:ext cx="3200400" cy="566928"/>
          </a:xfrm>
          <a:prstGeom prst="rect">
            <a:avLst/>
          </a:prstGeom>
          <a:noFill/>
          <a:ln/>
        </p:spPr>
        <p:txBody>
          <a:bodyPr wrap="square" lIns="0" tIns="0" rIns="0" bIns="0" rtlCol="0" anchor="ctr"/>
          <a:lstStyle/>
          <a:p>
            <a:pPr indent="0" marL="0">
              <a:lnSpc>
                <a:spcPct val="110000"/>
              </a:lnSpc>
              <a:buNone/>
            </a:pPr>
            <a:r>
              <a:rPr lang="en-US" sz="1000" dirty="0">
                <a:solidFill>
                  <a:srgbClr val="5A6B7B"/>
                </a:solidFill>
                <a:latin typeface="Calibri" pitchFamily="34" charset="0"/>
                <a:ea typeface="Calibri" pitchFamily="34" charset="-122"/>
                <a:cs typeface="Calibri" pitchFamily="34" charset="-120"/>
              </a:rPr>
              <a:t>Exceed the allowance and you pay per GB. Inbound traffic and traffic to other AWS services in-Region are free.</a:t>
            </a:r>
            <a:endParaRPr lang="en-US" sz="1000" dirty="0"/>
          </a:p>
        </p:txBody>
      </p:sp>
      <p:sp>
        <p:nvSpPr>
          <p:cNvPr id="12" name="Shape 9"/>
          <p:cNvSpPr/>
          <p:nvPr/>
        </p:nvSpPr>
        <p:spPr>
          <a:xfrm>
            <a:off x="8065008" y="5193792"/>
            <a:ext cx="3566160" cy="1005840"/>
          </a:xfrm>
          <a:prstGeom prst="roundRect">
            <a:avLst>
              <a:gd name="adj" fmla="val 8182"/>
            </a:avLst>
          </a:prstGeom>
          <a:solidFill>
            <a:srgbClr val="F4F7F9"/>
          </a:solidFill>
          <a:ln w="12700">
            <a:solidFill>
              <a:srgbClr val="D5DEE5"/>
            </a:solidFill>
            <a:prstDash val="solid"/>
          </a:ln>
        </p:spPr>
      </p:sp>
      <p:sp>
        <p:nvSpPr>
          <p:cNvPr id="13" name="Text 10"/>
          <p:cNvSpPr/>
          <p:nvPr/>
        </p:nvSpPr>
        <p:spPr>
          <a:xfrm>
            <a:off x="8247888" y="5303520"/>
            <a:ext cx="3200400" cy="274320"/>
          </a:xfrm>
          <a:prstGeom prst="rect">
            <a:avLst/>
          </a:prstGeom>
          <a:noFill/>
          <a:ln/>
        </p:spPr>
        <p:txBody>
          <a:bodyPr wrap="square" lIns="0" tIns="0" rIns="0" bIns="0" rtlCol="0" anchor="ctr"/>
          <a:lstStyle/>
          <a:p>
            <a:pPr indent="0" marL="0">
              <a:buNone/>
            </a:pPr>
            <a:r>
              <a:rPr lang="en-US" sz="1150" b="1" dirty="0">
                <a:solidFill>
                  <a:srgbClr val="5C8001"/>
                </a:solidFill>
                <a:latin typeface="Calibri" pitchFamily="34" charset="0"/>
                <a:ea typeface="Calibri" pitchFamily="34" charset="-122"/>
                <a:cs typeface="Calibri" pitchFamily="34" charset="-120"/>
              </a:rPr>
              <a:t>Three months free</a:t>
            </a:r>
            <a:endParaRPr lang="en-US" sz="1150" dirty="0"/>
          </a:p>
        </p:txBody>
      </p:sp>
      <p:sp>
        <p:nvSpPr>
          <p:cNvPr id="14" name="Text 11"/>
          <p:cNvSpPr/>
          <p:nvPr/>
        </p:nvSpPr>
        <p:spPr>
          <a:xfrm>
            <a:off x="8247888" y="5559552"/>
            <a:ext cx="3200400" cy="566928"/>
          </a:xfrm>
          <a:prstGeom prst="rect">
            <a:avLst/>
          </a:prstGeom>
          <a:noFill/>
          <a:ln/>
        </p:spPr>
        <p:txBody>
          <a:bodyPr wrap="square" lIns="0" tIns="0" rIns="0" bIns="0" rtlCol="0" anchor="ctr"/>
          <a:lstStyle/>
          <a:p>
            <a:pPr indent="0" marL="0">
              <a:lnSpc>
                <a:spcPct val="110000"/>
              </a:lnSpc>
              <a:buNone/>
            </a:pPr>
            <a:r>
              <a:rPr lang="en-US" sz="1000" dirty="0">
                <a:solidFill>
                  <a:srgbClr val="5A6B7B"/>
                </a:solidFill>
                <a:latin typeface="Calibri" pitchFamily="34" charset="0"/>
                <a:ea typeface="Calibri" pitchFamily="34" charset="-122"/>
                <a:cs typeface="Calibri" pitchFamily="34" charset="-120"/>
              </a:rPr>
              <a:t>Selected Linux/Unix IPv6 bundles at $3.50, $5 and $10 carry a three-month introductory credit for new accounts.</a:t>
            </a:r>
            <a:endParaRPr lang="en-US" sz="1000" dirty="0"/>
          </a:p>
        </p:txBody>
      </p:sp>
      <p:sp>
        <p:nvSpPr>
          <p:cNvPr id="15" name="Text 12"/>
          <p:cNvSpPr/>
          <p:nvPr/>
        </p:nvSpPr>
        <p:spPr>
          <a:xfrm>
            <a:off x="566928" y="6437376"/>
            <a:ext cx="7772400" cy="256032"/>
          </a:xfrm>
          <a:prstGeom prst="rect">
            <a:avLst/>
          </a:prstGeom>
          <a:noFill/>
          <a:ln/>
        </p:spPr>
        <p:txBody>
          <a:bodyPr wrap="square" lIns="0" tIns="0" rIns="0" bIns="0" rtlCol="0" anchor="ctr"/>
          <a:lstStyle/>
          <a:p>
            <a:pPr algn="l" indent="0" marL="0">
              <a:buNone/>
            </a:pPr>
            <a:r>
              <a:rPr lang="en-US" sz="950" dirty="0">
                <a:solidFill>
                  <a:srgbClr val="9AA9B5"/>
                </a:solidFill>
                <a:latin typeface="Calibri" pitchFamily="34" charset="0"/>
                <a:ea typeface="Calibri" pitchFamily="34" charset="-122"/>
                <a:cs typeface="Calibri" pitchFamily="34" charset="-120"/>
              </a:rPr>
              <a:t>Amazon Lightsail (PaaS-Lite)  ·  Hridiyansh Shukla  ·  2427030591</a:t>
            </a:r>
            <a:endParaRPr lang="en-US" sz="950" dirty="0"/>
          </a:p>
        </p:txBody>
      </p:sp>
      <p:sp>
        <p:nvSpPr>
          <p:cNvPr id="16" name="Text 13"/>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950" dirty="0">
                <a:solidFill>
                  <a:srgbClr val="9AA9B5"/>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algn="l" indent="0" marL="0">
              <a:buNone/>
            </a:pPr>
            <a:r>
              <a:rPr lang="en-US" sz="1100" b="1" spc="220" kern="0" dirty="0">
                <a:solidFill>
                  <a:srgbClr val="FF9900"/>
                </a:solidFill>
                <a:latin typeface="Calibri" pitchFamily="34" charset="0"/>
                <a:ea typeface="Calibri" pitchFamily="34" charset="-122"/>
                <a:cs typeface="Calibri" pitchFamily="34" charset="-120"/>
              </a:rPr>
              <a:t>ECONOMICS</a:t>
            </a:r>
            <a:endParaRPr lang="en-US" sz="1100" dirty="0"/>
          </a:p>
        </p:txBody>
      </p:sp>
      <p:sp>
        <p:nvSpPr>
          <p:cNvPr id="3" name="Text 1"/>
          <p:cNvSpPr/>
          <p:nvPr/>
        </p:nvSpPr>
        <p:spPr>
          <a:xfrm>
            <a:off x="566928" y="566928"/>
            <a:ext cx="11057839" cy="50292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What everything else costs</a:t>
            </a:r>
            <a:endParaRPr lang="en-US" sz="3000" dirty="0"/>
          </a:p>
        </p:txBody>
      </p:sp>
      <p:sp>
        <p:nvSpPr>
          <p:cNvPr id="4" name="Text 2"/>
          <p:cNvSpPr/>
          <p:nvPr/>
        </p:nvSpPr>
        <p:spPr>
          <a:xfrm>
            <a:off x="566928" y="1060704"/>
            <a:ext cx="11057839" cy="274320"/>
          </a:xfrm>
          <a:prstGeom prst="rect">
            <a:avLst/>
          </a:prstGeom>
          <a:noFill/>
          <a:ln/>
        </p:spPr>
        <p:txBody>
          <a:bodyPr wrap="square" lIns="0" tIns="0" rIns="0" bIns="0" rtlCol="0" anchor="ctr"/>
          <a:lstStyle/>
          <a:p>
            <a:pPr algn="l" indent="0" marL="0">
              <a:buNone/>
            </a:pPr>
            <a:r>
              <a:rPr lang="en-US" sz="1350" i="1" dirty="0">
                <a:solidFill>
                  <a:srgbClr val="5A6B7B"/>
                </a:solidFill>
                <a:latin typeface="Calibri" pitchFamily="34" charset="0"/>
                <a:ea typeface="Calibri" pitchFamily="34" charset="-122"/>
                <a:cs typeface="Calibri" pitchFamily="34" charset="-120"/>
              </a:rPr>
              <a:t>The rest of the catalogue is priced the same way — a flat monthly figure with an allowance attached.</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664208"/>
          <a:ext cx="11055096" cy="914400"/>
        </p:xfrm>
        <a:graphic>
          <a:graphicData uri="http://schemas.openxmlformats.org/drawingml/2006/table">
            <a:tbl>
              <a:tblPr/>
              <a:tblGrid>
                <a:gridCol w="2286000"/>
                <a:gridCol w="3474720"/>
                <a:gridCol w="2240280"/>
                <a:gridCol w="3054096"/>
              </a:tblGrid>
              <a:tr h="36576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Resource</a:t>
                      </a:r>
                      <a:endParaRPr lang="en-US" sz="1150" dirty="0">
                        <a:latin typeface="Calibri" charset="0"/>
                        <a:ea typeface="Calibri" charset="0"/>
                        <a:cs typeface="Calibri" charset="0"/>
                      </a:endParaRPr>
                    </a:p>
                  </a:txBody>
                  <a:tcPr marL="88900" marR="88900" marT="50800" marB="508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232F3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Representative configuration</a:t>
                      </a:r>
                      <a:endParaRPr lang="en-US" sz="1150" dirty="0">
                        <a:latin typeface="Calibri" charset="0"/>
                        <a:ea typeface="Calibri" charset="0"/>
                        <a:cs typeface="Calibri" charset="0"/>
                      </a:endParaRPr>
                    </a:p>
                  </a:txBody>
                  <a:tcPr marL="88900" marR="88900" marT="50800" marB="508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232F3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Price</a:t>
                      </a:r>
                      <a:endParaRPr lang="en-US" sz="1150" dirty="0">
                        <a:latin typeface="Calibri" charset="0"/>
                        <a:ea typeface="Calibri" charset="0"/>
                        <a:cs typeface="Calibri" charset="0"/>
                      </a:endParaRPr>
                    </a:p>
                  </a:txBody>
                  <a:tcPr marL="88900" marR="88900" marT="50800" marB="508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232F3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What is included</a:t>
                      </a:r>
                      <a:endParaRPr lang="en-US" sz="1150" dirty="0">
                        <a:latin typeface="Calibri" charset="0"/>
                        <a:ea typeface="Calibri" charset="0"/>
                        <a:cs typeface="Calibri" charset="0"/>
                      </a:endParaRPr>
                    </a:p>
                  </a:txBody>
                  <a:tcPr marL="88900" marR="88900" marT="50800" marB="508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232F3E"/>
                    </a:solidFill>
                  </a:tcPr>
                </a:tc>
              </a:tr>
              <a:tr h="365760">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Container service</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Nano node — 0.25 vCPU, 512 MB</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$7 / month per node</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500 GB transfer per service</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r>
              <a:tr h="365760">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Container service</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XLarge node — 4 vCPU, 8 GB</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$160 / month per node</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Scale = price × node count</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r>
              <a:tr h="365760">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Managed database</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1 GB RAM, 40 GB SSD (standard)</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$15 / month</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High-availability plans cost double</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r>
              <a:tr h="365760">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Object storage</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5 GB storage, 25 GB transfer</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$1 / month</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Free for the first 12 months</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r>
              <a:tr h="365760">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Object storage</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250 GB storage, 500 GB transfer</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$5 / month</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100 GB tier sits at $3</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r>
              <a:tr h="365760">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Load balancer</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Includes managed TLS certificate</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$18 / month</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Certificate issue and renewal are free</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r>
              <a:tr h="365760">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CDN distribution</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CloudFront edge caching</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$2.50 / month</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50 GB/month free for 12 months</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r>
              <a:tr h="365760">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Block storage</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Additional SSD disk</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$0.10 / GB / month</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Attach up to 16 TB per instance</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r>
              <a:tr h="365760">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Snapshots</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Instance or disk backup</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$0.05 / GB / month</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Manual and automatic both charged</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r>
              <a:tr h="365760">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Static IP · DNS zone</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IPv4 address · authoritative DNS</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Free</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080" dirty="0">
                          <a:solidFill>
                            <a:srgbClr val="232F3E"/>
                          </a:solidFill>
                          <a:latin typeface="Calibri" pitchFamily="34" charset="0"/>
                          <a:ea typeface="Calibri" pitchFamily="34" charset="-122"/>
                          <a:cs typeface="Calibri" pitchFamily="34" charset="-120"/>
                        </a:rPr>
                        <a:t>IP billed only when left unattached</a:t>
                      </a:r>
                      <a:endParaRPr lang="en-US" sz="108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r>
            </a:tbl>
          </a:graphicData>
        </a:graphic>
      </p:graphicFrame>
      <p:sp>
        <p:nvSpPr>
          <p:cNvPr id="6" name="Shape 3"/>
          <p:cNvSpPr/>
          <p:nvPr/>
        </p:nvSpPr>
        <p:spPr>
          <a:xfrm>
            <a:off x="566928" y="5779008"/>
            <a:ext cx="11055096" cy="548640"/>
          </a:xfrm>
          <a:prstGeom prst="roundRect">
            <a:avLst>
              <a:gd name="adj" fmla="val 15000"/>
            </a:avLst>
          </a:prstGeom>
          <a:solidFill>
            <a:srgbClr val="232F3E"/>
          </a:solidFill>
          <a:ln w="12700">
            <a:solidFill>
              <a:srgbClr val="232F3E"/>
            </a:solidFill>
            <a:prstDash val="solid"/>
          </a:ln>
        </p:spPr>
      </p:sp>
      <p:sp>
        <p:nvSpPr>
          <p:cNvPr id="7" name="Text 4"/>
          <p:cNvSpPr/>
          <p:nvPr/>
        </p:nvSpPr>
        <p:spPr>
          <a:xfrm>
            <a:off x="795528" y="5779008"/>
            <a:ext cx="10607040" cy="5486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Read the pattern: AWS sells you an allowance, not a meter. That is the entire commercial difference between Lightsail and the rest of AWS.</a:t>
            </a:r>
            <a:endParaRPr lang="en-US" sz="1250" dirty="0"/>
          </a:p>
        </p:txBody>
      </p:sp>
      <p:sp>
        <p:nvSpPr>
          <p:cNvPr id="8" name="Text 5"/>
          <p:cNvSpPr/>
          <p:nvPr/>
        </p:nvSpPr>
        <p:spPr>
          <a:xfrm>
            <a:off x="566928" y="6437376"/>
            <a:ext cx="7772400" cy="256032"/>
          </a:xfrm>
          <a:prstGeom prst="rect">
            <a:avLst/>
          </a:prstGeom>
          <a:noFill/>
          <a:ln/>
        </p:spPr>
        <p:txBody>
          <a:bodyPr wrap="square" lIns="0" tIns="0" rIns="0" bIns="0" rtlCol="0" anchor="ctr"/>
          <a:lstStyle/>
          <a:p>
            <a:pPr algn="l" indent="0" marL="0">
              <a:buNone/>
            </a:pPr>
            <a:r>
              <a:rPr lang="en-US" sz="950" dirty="0">
                <a:solidFill>
                  <a:srgbClr val="9AA9B5"/>
                </a:solidFill>
                <a:latin typeface="Calibri" pitchFamily="34" charset="0"/>
                <a:ea typeface="Calibri" pitchFamily="34" charset="-122"/>
                <a:cs typeface="Calibri" pitchFamily="34" charset="-120"/>
              </a:rPr>
              <a:t>Amazon Lightsail (PaaS-Lite)  ·  Hridiyansh Shukla  ·  2427030591</a:t>
            </a:r>
            <a:endParaRPr lang="en-US" sz="950" dirty="0"/>
          </a:p>
        </p:txBody>
      </p:sp>
      <p:sp>
        <p:nvSpPr>
          <p:cNvPr id="9" name="Text 6"/>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950" dirty="0">
                <a:solidFill>
                  <a:srgbClr val="9AA9B5"/>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algn="l" indent="0" marL="0">
              <a:buNone/>
            </a:pPr>
            <a:r>
              <a:rPr lang="en-US" sz="1100" b="1" spc="220" kern="0" dirty="0">
                <a:solidFill>
                  <a:srgbClr val="FF9900"/>
                </a:solidFill>
                <a:latin typeface="Calibri" pitchFamily="34" charset="0"/>
                <a:ea typeface="Calibri" pitchFamily="34" charset="-122"/>
                <a:cs typeface="Calibri" pitchFamily="34" charset="-120"/>
              </a:rPr>
              <a:t>ECONOMICS</a:t>
            </a:r>
            <a:endParaRPr lang="en-US" sz="1100" dirty="0"/>
          </a:p>
        </p:txBody>
      </p:sp>
      <p:sp>
        <p:nvSpPr>
          <p:cNvPr id="3" name="Text 1"/>
          <p:cNvSpPr/>
          <p:nvPr/>
        </p:nvSpPr>
        <p:spPr>
          <a:xfrm>
            <a:off x="566928" y="566928"/>
            <a:ext cx="11057839" cy="50292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Where the fixed price actually pays off</a:t>
            </a:r>
            <a:endParaRPr lang="en-US" sz="3000" dirty="0"/>
          </a:p>
        </p:txBody>
      </p:sp>
      <p:graphicFrame>
        <p:nvGraphicFramePr>
          <p:cNvPr id="4" name="Chart 0" descr=""/>
          <p:cNvGraphicFramePr/>
          <p:nvPr/>
        </p:nvGraphicFramePr>
        <p:xfrm>
          <a:off x="566928" y="1481328"/>
          <a:ext cx="7178040" cy="4160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66928" y="5715000"/>
            <a:ext cx="7178040" cy="237744"/>
          </a:xfrm>
          <a:prstGeom prst="rect">
            <a:avLst/>
          </a:prstGeom>
          <a:noFill/>
          <a:ln/>
        </p:spPr>
        <p:txBody>
          <a:bodyPr wrap="square" lIns="0" tIns="0" rIns="0" bIns="0" rtlCol="0" anchor="ctr"/>
          <a:lstStyle/>
          <a:p>
            <a:pPr indent="0" marL="0">
              <a:buNone/>
            </a:pPr>
            <a:r>
              <a:rPr lang="en-US" sz="950" i="1" dirty="0">
                <a:solidFill>
                  <a:srgbClr val="5A6B7B"/>
                </a:solidFill>
                <a:latin typeface="Calibri" pitchFamily="34" charset="0"/>
                <a:ea typeface="Calibri" pitchFamily="34" charset="-122"/>
                <a:cs typeface="Calibri" pitchFamily="34" charset="-120"/>
              </a:rPr>
              <a:t>Figure 3 — Same workload, two billing models.</a:t>
            </a:r>
            <a:endParaRPr lang="en-US" sz="950" dirty="0"/>
          </a:p>
        </p:txBody>
      </p:sp>
      <p:sp>
        <p:nvSpPr>
          <p:cNvPr id="6" name="Shape 3"/>
          <p:cNvSpPr/>
          <p:nvPr/>
        </p:nvSpPr>
        <p:spPr>
          <a:xfrm>
            <a:off x="8046720" y="1481328"/>
            <a:ext cx="3575304" cy="2286000"/>
          </a:xfrm>
          <a:prstGeom prst="roundRect">
            <a:avLst>
              <a:gd name="adj" fmla="val 3600"/>
            </a:avLst>
          </a:prstGeom>
          <a:solidFill>
            <a:srgbClr val="F4F7F9"/>
          </a:solidFill>
          <a:ln w="12700">
            <a:solidFill>
              <a:srgbClr val="D5DEE5"/>
            </a:solidFill>
            <a:prstDash val="solid"/>
          </a:ln>
        </p:spPr>
      </p:sp>
      <p:sp>
        <p:nvSpPr>
          <p:cNvPr id="7" name="Text 4"/>
          <p:cNvSpPr/>
          <p:nvPr/>
        </p:nvSpPr>
        <p:spPr>
          <a:xfrm>
            <a:off x="8247888" y="1627632"/>
            <a:ext cx="3200400" cy="274320"/>
          </a:xfrm>
          <a:prstGeom prst="rect">
            <a:avLst/>
          </a:prstGeom>
          <a:noFill/>
          <a:ln/>
        </p:spPr>
        <p:txBody>
          <a:bodyPr wrap="square" lIns="0" tIns="0" rIns="0" bIns="0" rtlCol="0" anchor="ctr"/>
          <a:lstStyle/>
          <a:p>
            <a:pPr indent="0" marL="0">
              <a:buNone/>
            </a:pPr>
            <a:r>
              <a:rPr lang="en-US" sz="1400" b="1" dirty="0">
                <a:solidFill>
                  <a:srgbClr val="232F3E"/>
                </a:solidFill>
                <a:latin typeface="Cambria" pitchFamily="34" charset="0"/>
                <a:ea typeface="Cambria" pitchFamily="34" charset="-122"/>
                <a:cs typeface="Cambria" pitchFamily="34" charset="-120"/>
              </a:rPr>
              <a:t>The assumption behind the bars</a:t>
            </a:r>
            <a:endParaRPr lang="en-US" sz="1400" dirty="0"/>
          </a:p>
        </p:txBody>
      </p:sp>
      <p:sp>
        <p:nvSpPr>
          <p:cNvPr id="8" name="Text 5"/>
          <p:cNvSpPr/>
          <p:nvPr/>
        </p:nvSpPr>
        <p:spPr>
          <a:xfrm>
            <a:off x="8247888" y="1938528"/>
            <a:ext cx="3200400" cy="1737360"/>
          </a:xfrm>
          <a:prstGeom prst="rect">
            <a:avLst/>
          </a:prstGeom>
          <a:noFill/>
          <a:ln/>
        </p:spPr>
        <p:txBody>
          <a:bodyPr wrap="square" lIns="0" tIns="0" rIns="0" bIns="0" rtlCol="0" anchor="ctr"/>
          <a:lstStyle/>
          <a:p>
            <a:pPr indent="0" marL="0">
              <a:lnSpc>
                <a:spcPct val="114000"/>
              </a:lnSpc>
              <a:buNone/>
            </a:pPr>
            <a:r>
              <a:rPr lang="en-US" sz="1050" dirty="0">
                <a:solidFill>
                  <a:srgbClr val="5A6B7B"/>
                </a:solidFill>
                <a:latin typeface="Calibri" pitchFamily="34" charset="0"/>
                <a:ea typeface="Calibri" pitchFamily="34" charset="-122"/>
                <a:cs typeface="Calibri" pitchFamily="34" charset="-120"/>
              </a:rPr>
              <a:t>A Lightsail Small bundle is $12/month for 2 GB RAM, 2 vCPU, 60 GB SSD and 3 TB of outbound transfer.</a:t>
            </a:r>
            <a:endParaRPr lang="en-US" sz="1050" dirty="0"/>
          </a:p>
          <a:p>
            <a:pPr indent="0" marL="0">
              <a:lnSpc>
                <a:spcPct val="114000"/>
              </a:lnSpc>
              <a:buNone/>
            </a:pPr>
            <a:endParaRPr lang="en-US" sz="1050" dirty="0"/>
          </a:p>
          <a:p>
            <a:pPr indent="0" marL="0">
              <a:lnSpc>
                <a:spcPct val="114000"/>
              </a:lnSpc>
              <a:buNone/>
            </a:pPr>
            <a:r>
              <a:rPr lang="en-US" sz="1050" dirty="0">
                <a:solidFill>
                  <a:srgbClr val="5A6B7B"/>
                </a:solidFill>
                <a:latin typeface="Calibri" pitchFamily="34" charset="0"/>
                <a:ea typeface="Calibri" pitchFamily="34" charset="-122"/>
                <a:cs typeface="Calibri" pitchFamily="34" charset="-120"/>
              </a:rPr>
              <a:t>The comparison builds the same thing on EC2 at us-east-1 list prices: a t3.small on demand, a 60 GB gp3 volume, one Elastic IP, and egress at $0.09/GB after the first 100 GB.</a:t>
            </a:r>
            <a:endParaRPr lang="en-US" sz="1050" dirty="0"/>
          </a:p>
        </p:txBody>
      </p:sp>
      <p:sp>
        <p:nvSpPr>
          <p:cNvPr id="9" name="Shape 6"/>
          <p:cNvSpPr/>
          <p:nvPr/>
        </p:nvSpPr>
        <p:spPr>
          <a:xfrm>
            <a:off x="8046720" y="3931920"/>
            <a:ext cx="3575304" cy="1737360"/>
          </a:xfrm>
          <a:prstGeom prst="roundRect">
            <a:avLst>
              <a:gd name="adj" fmla="val 4737"/>
            </a:avLst>
          </a:prstGeom>
          <a:solidFill>
            <a:srgbClr val="232F3E"/>
          </a:solidFill>
          <a:ln w="12700">
            <a:solidFill>
              <a:srgbClr val="232F3E"/>
            </a:solidFill>
            <a:prstDash val="solid"/>
          </a:ln>
        </p:spPr>
      </p:sp>
      <p:sp>
        <p:nvSpPr>
          <p:cNvPr id="10" name="Text 7"/>
          <p:cNvSpPr/>
          <p:nvPr/>
        </p:nvSpPr>
        <p:spPr>
          <a:xfrm>
            <a:off x="8247888" y="4078224"/>
            <a:ext cx="3200400" cy="274320"/>
          </a:xfrm>
          <a:prstGeom prst="rect">
            <a:avLst/>
          </a:prstGeom>
          <a:noFill/>
          <a:ln/>
        </p:spPr>
        <p:txBody>
          <a:bodyPr wrap="square" lIns="0" tIns="0" rIns="0" bIns="0" rtlCol="0" anchor="ctr"/>
          <a:lstStyle/>
          <a:p>
            <a:pPr indent="0" marL="0">
              <a:buNone/>
            </a:pPr>
            <a:r>
              <a:rPr lang="en-US" sz="1400" b="1" dirty="0">
                <a:solidFill>
                  <a:srgbClr val="FF9900"/>
                </a:solidFill>
                <a:latin typeface="Cambria" pitchFamily="34" charset="0"/>
                <a:ea typeface="Cambria" pitchFamily="34" charset="-122"/>
                <a:cs typeface="Cambria" pitchFamily="34" charset="-120"/>
              </a:rPr>
              <a:t>Read it honestly</a:t>
            </a:r>
            <a:endParaRPr lang="en-US" sz="1400" dirty="0"/>
          </a:p>
        </p:txBody>
      </p:sp>
      <p:sp>
        <p:nvSpPr>
          <p:cNvPr id="11" name="Text 8"/>
          <p:cNvSpPr/>
          <p:nvPr/>
        </p:nvSpPr>
        <p:spPr>
          <a:xfrm>
            <a:off x="8247888" y="4389120"/>
            <a:ext cx="3200400" cy="1188720"/>
          </a:xfrm>
          <a:prstGeom prst="rect">
            <a:avLst/>
          </a:prstGeom>
          <a:noFill/>
          <a:ln/>
        </p:spPr>
        <p:txBody>
          <a:bodyPr wrap="square" lIns="0" tIns="0" rIns="0" bIns="0" rtlCol="0" anchor="ctr"/>
          <a:lstStyle/>
          <a:p>
            <a:pPr indent="0" marL="0">
              <a:lnSpc>
                <a:spcPct val="114000"/>
              </a:lnSpc>
              <a:buNone/>
            </a:pPr>
            <a:r>
              <a:rPr lang="en-US" sz="1050" dirty="0">
                <a:solidFill>
                  <a:srgbClr val="C4CFD8"/>
                </a:solidFill>
                <a:latin typeface="Calibri" pitchFamily="34" charset="0"/>
                <a:ea typeface="Calibri" pitchFamily="34" charset="-122"/>
                <a:cs typeface="Calibri" pitchFamily="34" charset="-120"/>
              </a:rPr>
              <a:t>Data transfer, not compute, drives the gap. At low traffic the two are close and EC2 wins back ground with Savings Plans. Lightsail's advantage is bandwidth included in the price — and a number you knew in advance.</a:t>
            </a:r>
            <a:endParaRPr lang="en-US" sz="1050" dirty="0"/>
          </a:p>
        </p:txBody>
      </p:sp>
      <p:sp>
        <p:nvSpPr>
          <p:cNvPr id="12" name="Text 9"/>
          <p:cNvSpPr/>
          <p:nvPr/>
        </p:nvSpPr>
        <p:spPr>
          <a:xfrm>
            <a:off x="566928" y="6437376"/>
            <a:ext cx="7772400" cy="256032"/>
          </a:xfrm>
          <a:prstGeom prst="rect">
            <a:avLst/>
          </a:prstGeom>
          <a:noFill/>
          <a:ln/>
        </p:spPr>
        <p:txBody>
          <a:bodyPr wrap="square" lIns="0" tIns="0" rIns="0" bIns="0" rtlCol="0" anchor="ctr"/>
          <a:lstStyle/>
          <a:p>
            <a:pPr algn="l" indent="0" marL="0">
              <a:buNone/>
            </a:pPr>
            <a:r>
              <a:rPr lang="en-US" sz="950" dirty="0">
                <a:solidFill>
                  <a:srgbClr val="9AA9B5"/>
                </a:solidFill>
                <a:latin typeface="Calibri" pitchFamily="34" charset="0"/>
                <a:ea typeface="Calibri" pitchFamily="34" charset="-122"/>
                <a:cs typeface="Calibri" pitchFamily="34" charset="-120"/>
              </a:rPr>
              <a:t>Amazon Lightsail (PaaS-Lite)  ·  Hridiyansh Shukla  ·  2427030591</a:t>
            </a:r>
            <a:endParaRPr lang="en-US" sz="950" dirty="0"/>
          </a:p>
        </p:txBody>
      </p:sp>
      <p:sp>
        <p:nvSpPr>
          <p:cNvPr id="13" name="Text 10"/>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950" dirty="0">
                <a:solidFill>
                  <a:srgbClr val="9AA9B5"/>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algn="l" indent="0" marL="0">
              <a:buNone/>
            </a:pPr>
            <a:r>
              <a:rPr lang="en-US" sz="1100" b="1" spc="220" kern="0" dirty="0">
                <a:solidFill>
                  <a:srgbClr val="FF9900"/>
                </a:solidFill>
                <a:latin typeface="Calibri" pitchFamily="34" charset="0"/>
                <a:ea typeface="Calibri" pitchFamily="34" charset="-122"/>
                <a:cs typeface="Calibri" pitchFamily="34" charset="-120"/>
              </a:rPr>
              <a:t>OPERATIONS</a:t>
            </a:r>
            <a:endParaRPr lang="en-US" sz="1100" dirty="0"/>
          </a:p>
        </p:txBody>
      </p:sp>
      <p:sp>
        <p:nvSpPr>
          <p:cNvPr id="3" name="Text 1"/>
          <p:cNvSpPr/>
          <p:nvPr/>
        </p:nvSpPr>
        <p:spPr>
          <a:xfrm>
            <a:off x="566928" y="566928"/>
            <a:ext cx="11057839" cy="50292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Networking and security by default</a:t>
            </a:r>
            <a:endParaRPr lang="en-US" sz="3000" dirty="0"/>
          </a:p>
        </p:txBody>
      </p:sp>
      <p:sp>
        <p:nvSpPr>
          <p:cNvPr id="4" name="Shape 2"/>
          <p:cNvSpPr/>
          <p:nvPr/>
        </p:nvSpPr>
        <p:spPr>
          <a:xfrm>
            <a:off x="566928" y="1481328"/>
            <a:ext cx="512064" cy="512064"/>
          </a:xfrm>
          <a:prstGeom prst="ellipse">
            <a:avLst/>
          </a:prstGeom>
          <a:solidFill>
            <a:srgbClr val="232F3E"/>
          </a:solidFill>
          <a:ln/>
        </p:spPr>
      </p:sp>
      <p:pic>
        <p:nvPicPr>
          <p:cNvPr id="5" name="Image 0" descr="/home/user/PBL-Proj/lightsail/assets/icon-shield.png">    </p:cNvPr>
          <p:cNvPicPr>
            <a:picLocks noChangeAspect="1"/>
          </p:cNvPicPr>
          <p:nvPr/>
        </p:nvPicPr>
        <p:blipFill>
          <a:blip r:embed="rId1"/>
          <a:stretch>
            <a:fillRect/>
          </a:stretch>
        </p:blipFill>
        <p:spPr>
          <a:xfrm>
            <a:off x="700065" y="1614465"/>
            <a:ext cx="245791" cy="245791"/>
          </a:xfrm>
          <a:prstGeom prst="rect">
            <a:avLst/>
          </a:prstGeom>
        </p:spPr>
      </p:pic>
      <p:sp>
        <p:nvSpPr>
          <p:cNvPr id="6" name="Text 3"/>
          <p:cNvSpPr/>
          <p:nvPr/>
        </p:nvSpPr>
        <p:spPr>
          <a:xfrm>
            <a:off x="1261872" y="1444752"/>
            <a:ext cx="2788920" cy="274320"/>
          </a:xfrm>
          <a:prstGeom prst="rect">
            <a:avLst/>
          </a:prstGeom>
          <a:noFill/>
          <a:ln/>
        </p:spPr>
        <p:txBody>
          <a:bodyPr wrap="square" lIns="0" tIns="0" rIns="0" bIns="0" rtlCol="0" anchor="ctr"/>
          <a:lstStyle/>
          <a:p>
            <a:pPr indent="0" marL="0">
              <a:buNone/>
            </a:pPr>
            <a:r>
              <a:rPr lang="en-US" sz="1450" b="1" dirty="0">
                <a:solidFill>
                  <a:srgbClr val="232F3E"/>
                </a:solidFill>
                <a:latin typeface="Cambria" pitchFamily="34" charset="0"/>
                <a:ea typeface="Cambria" pitchFamily="34" charset="-122"/>
                <a:cs typeface="Cambria" pitchFamily="34" charset="-120"/>
              </a:rPr>
              <a:t>Default-deny firewall</a:t>
            </a:r>
            <a:endParaRPr lang="en-US" sz="1450" dirty="0"/>
          </a:p>
        </p:txBody>
      </p:sp>
      <p:sp>
        <p:nvSpPr>
          <p:cNvPr id="7" name="Text 4"/>
          <p:cNvSpPr/>
          <p:nvPr/>
        </p:nvSpPr>
        <p:spPr>
          <a:xfrm>
            <a:off x="1261872" y="1737360"/>
            <a:ext cx="2788920" cy="868680"/>
          </a:xfrm>
          <a:prstGeom prst="rect">
            <a:avLst/>
          </a:prstGeom>
          <a:noFill/>
          <a:ln/>
        </p:spPr>
        <p:txBody>
          <a:bodyPr wrap="square" lIns="0" tIns="0" rIns="0" bIns="0" rtlCol="0" anchor="ctr"/>
          <a:lstStyle/>
          <a:p>
            <a:pPr indent="0" marL="0">
              <a:lnSpc>
                <a:spcPct val="114000"/>
              </a:lnSpc>
              <a:buNone/>
            </a:pPr>
            <a:r>
              <a:rPr lang="en-US" sz="1100" dirty="0">
                <a:solidFill>
                  <a:srgbClr val="5A6B7B"/>
                </a:solidFill>
                <a:latin typeface="Calibri" pitchFamily="34" charset="0"/>
                <a:ea typeface="Calibri" pitchFamily="34" charset="-122"/>
                <a:cs typeface="Calibri" pitchFamily="34" charset="-120"/>
              </a:rPr>
              <a:t>Every instance ships with its own firewall; only the ports the blueprint needs are open.</a:t>
            </a:r>
            <a:endParaRPr lang="en-US" sz="1100" dirty="0"/>
          </a:p>
        </p:txBody>
      </p:sp>
      <p:sp>
        <p:nvSpPr>
          <p:cNvPr id="8" name="Shape 5"/>
          <p:cNvSpPr/>
          <p:nvPr/>
        </p:nvSpPr>
        <p:spPr>
          <a:xfrm>
            <a:off x="566928" y="2651760"/>
            <a:ext cx="512064" cy="512064"/>
          </a:xfrm>
          <a:prstGeom prst="ellipse">
            <a:avLst/>
          </a:prstGeom>
          <a:solidFill>
            <a:srgbClr val="232F3E"/>
          </a:solidFill>
          <a:ln/>
        </p:spPr>
      </p:sp>
      <p:pic>
        <p:nvPicPr>
          <p:cNvPr id="9" name="Image 1" descr="/home/user/PBL-Proj/lightsail/assets/icon-globe.png">    </p:cNvPr>
          <p:cNvPicPr>
            <a:picLocks noChangeAspect="1"/>
          </p:cNvPicPr>
          <p:nvPr/>
        </p:nvPicPr>
        <p:blipFill>
          <a:blip r:embed="rId2"/>
          <a:stretch>
            <a:fillRect/>
          </a:stretch>
        </p:blipFill>
        <p:spPr>
          <a:xfrm>
            <a:off x="700065" y="2784897"/>
            <a:ext cx="245791" cy="245791"/>
          </a:xfrm>
          <a:prstGeom prst="rect">
            <a:avLst/>
          </a:prstGeom>
        </p:spPr>
      </p:pic>
      <p:sp>
        <p:nvSpPr>
          <p:cNvPr id="10" name="Text 6"/>
          <p:cNvSpPr/>
          <p:nvPr/>
        </p:nvSpPr>
        <p:spPr>
          <a:xfrm>
            <a:off x="1261872" y="2615184"/>
            <a:ext cx="2788920" cy="274320"/>
          </a:xfrm>
          <a:prstGeom prst="rect">
            <a:avLst/>
          </a:prstGeom>
          <a:noFill/>
          <a:ln/>
        </p:spPr>
        <p:txBody>
          <a:bodyPr wrap="square" lIns="0" tIns="0" rIns="0" bIns="0" rtlCol="0" anchor="ctr"/>
          <a:lstStyle/>
          <a:p>
            <a:pPr indent="0" marL="0">
              <a:buNone/>
            </a:pPr>
            <a:r>
              <a:rPr lang="en-US" sz="1450" b="1" dirty="0">
                <a:solidFill>
                  <a:srgbClr val="232F3E"/>
                </a:solidFill>
                <a:latin typeface="Cambria" pitchFamily="34" charset="0"/>
                <a:ea typeface="Cambria" pitchFamily="34" charset="-122"/>
                <a:cs typeface="Cambria" pitchFamily="34" charset="-120"/>
              </a:rPr>
              <a:t>Free managed certificates</a:t>
            </a:r>
            <a:endParaRPr lang="en-US" sz="1450" dirty="0"/>
          </a:p>
        </p:txBody>
      </p:sp>
      <p:sp>
        <p:nvSpPr>
          <p:cNvPr id="11" name="Text 7"/>
          <p:cNvSpPr/>
          <p:nvPr/>
        </p:nvSpPr>
        <p:spPr>
          <a:xfrm>
            <a:off x="1261872" y="2907792"/>
            <a:ext cx="2788920" cy="868680"/>
          </a:xfrm>
          <a:prstGeom prst="rect">
            <a:avLst/>
          </a:prstGeom>
          <a:noFill/>
          <a:ln/>
        </p:spPr>
        <p:txBody>
          <a:bodyPr wrap="square" lIns="0" tIns="0" rIns="0" bIns="0" rtlCol="0" anchor="ctr"/>
          <a:lstStyle/>
          <a:p>
            <a:pPr indent="0" marL="0">
              <a:lnSpc>
                <a:spcPct val="114000"/>
              </a:lnSpc>
              <a:buNone/>
            </a:pPr>
            <a:r>
              <a:rPr lang="en-US" sz="1100" dirty="0">
                <a:solidFill>
                  <a:srgbClr val="5A6B7B"/>
                </a:solidFill>
                <a:latin typeface="Calibri" pitchFamily="34" charset="0"/>
                <a:ea typeface="Calibri" pitchFamily="34" charset="-122"/>
                <a:cs typeface="Calibri" pitchFamily="34" charset="-120"/>
              </a:rPr>
              <a:t>A load balancer issues and renews TLS certificates at no charge; instances can use Let's Encrypt.</a:t>
            </a:r>
            <a:endParaRPr lang="en-US" sz="1100" dirty="0"/>
          </a:p>
        </p:txBody>
      </p:sp>
      <p:sp>
        <p:nvSpPr>
          <p:cNvPr id="12" name="Shape 8"/>
          <p:cNvSpPr/>
          <p:nvPr/>
        </p:nvSpPr>
        <p:spPr>
          <a:xfrm>
            <a:off x="566928" y="3822192"/>
            <a:ext cx="512064" cy="512064"/>
          </a:xfrm>
          <a:prstGeom prst="ellipse">
            <a:avLst/>
          </a:prstGeom>
          <a:solidFill>
            <a:srgbClr val="232F3E"/>
          </a:solidFill>
          <a:ln/>
        </p:spPr>
      </p:sp>
      <p:pic>
        <p:nvPicPr>
          <p:cNvPr id="13" name="Image 2" descr="/home/user/PBL-Proj/lightsail/assets/icon-server.png">    </p:cNvPr>
          <p:cNvPicPr>
            <a:picLocks noChangeAspect="1"/>
          </p:cNvPicPr>
          <p:nvPr/>
        </p:nvPicPr>
        <p:blipFill>
          <a:blip r:embed="rId3"/>
          <a:stretch>
            <a:fillRect/>
          </a:stretch>
        </p:blipFill>
        <p:spPr>
          <a:xfrm>
            <a:off x="700065" y="3955329"/>
            <a:ext cx="245791" cy="245791"/>
          </a:xfrm>
          <a:prstGeom prst="rect">
            <a:avLst/>
          </a:prstGeom>
        </p:spPr>
      </p:pic>
      <p:sp>
        <p:nvSpPr>
          <p:cNvPr id="14" name="Text 9"/>
          <p:cNvSpPr/>
          <p:nvPr/>
        </p:nvSpPr>
        <p:spPr>
          <a:xfrm>
            <a:off x="1261872" y="3785616"/>
            <a:ext cx="2788920" cy="274320"/>
          </a:xfrm>
          <a:prstGeom prst="rect">
            <a:avLst/>
          </a:prstGeom>
          <a:noFill/>
          <a:ln/>
        </p:spPr>
        <p:txBody>
          <a:bodyPr wrap="square" lIns="0" tIns="0" rIns="0" bIns="0" rtlCol="0" anchor="ctr"/>
          <a:lstStyle/>
          <a:p>
            <a:pPr indent="0" marL="0">
              <a:buNone/>
            </a:pPr>
            <a:r>
              <a:rPr lang="en-US" sz="1450" b="1" dirty="0">
                <a:solidFill>
                  <a:srgbClr val="232F3E"/>
                </a:solidFill>
                <a:latin typeface="Cambria" pitchFamily="34" charset="0"/>
                <a:ea typeface="Cambria" pitchFamily="34" charset="-122"/>
                <a:cs typeface="Cambria" pitchFamily="34" charset="-120"/>
              </a:rPr>
              <a:t>Static IPv4, free in use</a:t>
            </a:r>
            <a:endParaRPr lang="en-US" sz="1450" dirty="0"/>
          </a:p>
        </p:txBody>
      </p:sp>
      <p:sp>
        <p:nvSpPr>
          <p:cNvPr id="15" name="Text 10"/>
          <p:cNvSpPr/>
          <p:nvPr/>
        </p:nvSpPr>
        <p:spPr>
          <a:xfrm>
            <a:off x="1261872" y="4078224"/>
            <a:ext cx="2788920" cy="868680"/>
          </a:xfrm>
          <a:prstGeom prst="rect">
            <a:avLst/>
          </a:prstGeom>
          <a:noFill/>
          <a:ln/>
        </p:spPr>
        <p:txBody>
          <a:bodyPr wrap="square" lIns="0" tIns="0" rIns="0" bIns="0" rtlCol="0" anchor="ctr"/>
          <a:lstStyle/>
          <a:p>
            <a:pPr indent="0" marL="0">
              <a:lnSpc>
                <a:spcPct val="114000"/>
              </a:lnSpc>
              <a:buNone/>
            </a:pPr>
            <a:r>
              <a:rPr lang="en-US" sz="1100" dirty="0">
                <a:solidFill>
                  <a:srgbClr val="5A6B7B"/>
                </a:solidFill>
                <a:latin typeface="Calibri" pitchFamily="34" charset="0"/>
                <a:ea typeface="Calibri" pitchFamily="34" charset="-122"/>
                <a:cs typeface="Calibri" pitchFamily="34" charset="-120"/>
              </a:rPr>
              <a:t>Attached addresses cost nothing. An unattached one is billed at $0.005/hour to discourage hoarding.</a:t>
            </a:r>
            <a:endParaRPr lang="en-US" sz="1100" dirty="0"/>
          </a:p>
        </p:txBody>
      </p:sp>
      <p:sp>
        <p:nvSpPr>
          <p:cNvPr id="16" name="Shape 11"/>
          <p:cNvSpPr/>
          <p:nvPr/>
        </p:nvSpPr>
        <p:spPr>
          <a:xfrm>
            <a:off x="566928" y="4992624"/>
            <a:ext cx="512064" cy="512064"/>
          </a:xfrm>
          <a:prstGeom prst="ellipse">
            <a:avLst/>
          </a:prstGeom>
          <a:solidFill>
            <a:srgbClr val="232F3E"/>
          </a:solidFill>
          <a:ln/>
        </p:spPr>
      </p:sp>
      <p:pic>
        <p:nvPicPr>
          <p:cNvPr id="17" name="Image 3" descr="/home/user/PBL-Proj/lightsail/assets/icon-layers.png">    </p:cNvPr>
          <p:cNvPicPr>
            <a:picLocks noChangeAspect="1"/>
          </p:cNvPicPr>
          <p:nvPr/>
        </p:nvPicPr>
        <p:blipFill>
          <a:blip r:embed="rId4"/>
          <a:stretch>
            <a:fillRect/>
          </a:stretch>
        </p:blipFill>
        <p:spPr>
          <a:xfrm>
            <a:off x="700065" y="5125761"/>
            <a:ext cx="245791" cy="245791"/>
          </a:xfrm>
          <a:prstGeom prst="rect">
            <a:avLst/>
          </a:prstGeom>
        </p:spPr>
      </p:pic>
      <p:sp>
        <p:nvSpPr>
          <p:cNvPr id="18" name="Text 12"/>
          <p:cNvSpPr/>
          <p:nvPr/>
        </p:nvSpPr>
        <p:spPr>
          <a:xfrm>
            <a:off x="1261872" y="4956048"/>
            <a:ext cx="2788920" cy="274320"/>
          </a:xfrm>
          <a:prstGeom prst="rect">
            <a:avLst/>
          </a:prstGeom>
          <a:noFill/>
          <a:ln/>
        </p:spPr>
        <p:txBody>
          <a:bodyPr wrap="square" lIns="0" tIns="0" rIns="0" bIns="0" rtlCol="0" anchor="ctr"/>
          <a:lstStyle/>
          <a:p>
            <a:pPr indent="0" marL="0">
              <a:buNone/>
            </a:pPr>
            <a:r>
              <a:rPr lang="en-US" sz="1450" b="1" dirty="0">
                <a:solidFill>
                  <a:srgbClr val="232F3E"/>
                </a:solidFill>
                <a:latin typeface="Cambria" pitchFamily="34" charset="0"/>
                <a:ea typeface="Cambria" pitchFamily="34" charset="-122"/>
                <a:cs typeface="Cambria" pitchFamily="34" charset="-120"/>
              </a:rPr>
              <a:t>Isolation and peering</a:t>
            </a:r>
            <a:endParaRPr lang="en-US" sz="1450" dirty="0"/>
          </a:p>
        </p:txBody>
      </p:sp>
      <p:sp>
        <p:nvSpPr>
          <p:cNvPr id="19" name="Text 13"/>
          <p:cNvSpPr/>
          <p:nvPr/>
        </p:nvSpPr>
        <p:spPr>
          <a:xfrm>
            <a:off x="1261872" y="5248656"/>
            <a:ext cx="2788920" cy="868680"/>
          </a:xfrm>
          <a:prstGeom prst="rect">
            <a:avLst/>
          </a:prstGeom>
          <a:noFill/>
          <a:ln/>
        </p:spPr>
        <p:txBody>
          <a:bodyPr wrap="square" lIns="0" tIns="0" rIns="0" bIns="0" rtlCol="0" anchor="ctr"/>
          <a:lstStyle/>
          <a:p>
            <a:pPr indent="0" marL="0">
              <a:lnSpc>
                <a:spcPct val="114000"/>
              </a:lnSpc>
              <a:buNone/>
            </a:pPr>
            <a:r>
              <a:rPr lang="en-US" sz="1100" dirty="0">
                <a:solidFill>
                  <a:srgbClr val="5A6B7B"/>
                </a:solidFill>
                <a:latin typeface="Calibri" pitchFamily="34" charset="0"/>
                <a:ea typeface="Calibri" pitchFamily="34" charset="-122"/>
                <a:cs typeface="Calibri" pitchFamily="34" charset="-120"/>
              </a:rPr>
              <a:t>Resources live in a Lightsail-managed VPC. One click peers it with your default VPC.</a:t>
            </a:r>
            <a:endParaRPr lang="en-US" sz="1100" dirty="0"/>
          </a:p>
        </p:txBody>
      </p:sp>
      <p:pic>
        <p:nvPicPr>
          <p:cNvPr id="20" name="Image 4" descr="/home/user/PBL-Proj/lightsail/assets/fig-network.png">    </p:cNvPr>
          <p:cNvPicPr>
            <a:picLocks noChangeAspect="1"/>
          </p:cNvPicPr>
          <p:nvPr/>
        </p:nvPicPr>
        <p:blipFill>
          <a:blip r:embed="rId5"/>
          <a:stretch>
            <a:fillRect/>
          </a:stretch>
        </p:blipFill>
        <p:spPr>
          <a:xfrm>
            <a:off x="4160520" y="1536192"/>
            <a:ext cx="7461504" cy="4105656"/>
          </a:xfrm>
          <a:prstGeom prst="rect">
            <a:avLst/>
          </a:prstGeom>
        </p:spPr>
      </p:pic>
      <p:sp>
        <p:nvSpPr>
          <p:cNvPr id="21" name="Text 14"/>
          <p:cNvSpPr/>
          <p:nvPr/>
        </p:nvSpPr>
        <p:spPr>
          <a:xfrm>
            <a:off x="4160520" y="5705856"/>
            <a:ext cx="7461504" cy="237744"/>
          </a:xfrm>
          <a:prstGeom prst="rect">
            <a:avLst/>
          </a:prstGeom>
          <a:noFill/>
          <a:ln/>
        </p:spPr>
        <p:txBody>
          <a:bodyPr wrap="square" lIns="0" tIns="0" rIns="0" bIns="0" rtlCol="0" anchor="ctr"/>
          <a:lstStyle/>
          <a:p>
            <a:pPr algn="r" indent="0" marL="0">
              <a:buNone/>
            </a:pPr>
            <a:r>
              <a:rPr lang="en-US" sz="950" i="1" dirty="0">
                <a:solidFill>
                  <a:srgbClr val="5A6B7B"/>
                </a:solidFill>
                <a:latin typeface="Calibri" pitchFamily="34" charset="0"/>
                <a:ea typeface="Calibri" pitchFamily="34" charset="-122"/>
                <a:cs typeface="Calibri" pitchFamily="34" charset="-120"/>
              </a:rPr>
              <a:t>Figure 4 — A conventional highly available Lightsail deployment.</a:t>
            </a:r>
            <a:endParaRPr lang="en-US" sz="950" dirty="0"/>
          </a:p>
        </p:txBody>
      </p:sp>
      <p:sp>
        <p:nvSpPr>
          <p:cNvPr id="22" name="Text 15"/>
          <p:cNvSpPr/>
          <p:nvPr/>
        </p:nvSpPr>
        <p:spPr>
          <a:xfrm>
            <a:off x="566928" y="6016752"/>
            <a:ext cx="11055096" cy="274320"/>
          </a:xfrm>
          <a:prstGeom prst="rect">
            <a:avLst/>
          </a:prstGeom>
          <a:noFill/>
          <a:ln/>
        </p:spPr>
        <p:txBody>
          <a:bodyPr wrap="square" lIns="0" tIns="0" rIns="0" bIns="0" rtlCol="0" anchor="ctr"/>
          <a:lstStyle/>
          <a:p>
            <a:pPr indent="0" marL="0">
              <a:buNone/>
            </a:pPr>
            <a:r>
              <a:rPr lang="en-US" sz="1150" b="1" i="1" dirty="0">
                <a:solidFill>
                  <a:srgbClr val="A8342B"/>
                </a:solidFill>
                <a:latin typeface="Calibri" pitchFamily="34" charset="0"/>
                <a:ea typeface="Calibri" pitchFamily="34" charset="-122"/>
                <a:cs typeface="Calibri" pitchFamily="34" charset="-120"/>
              </a:rPr>
              <a:t>A simpler console does not shrink your security responsibility — patching the OS inside a blueprint is still your job.</a:t>
            </a:r>
            <a:endParaRPr lang="en-US" sz="1150" dirty="0"/>
          </a:p>
        </p:txBody>
      </p:sp>
      <p:sp>
        <p:nvSpPr>
          <p:cNvPr id="23" name="Text 16"/>
          <p:cNvSpPr/>
          <p:nvPr/>
        </p:nvSpPr>
        <p:spPr>
          <a:xfrm>
            <a:off x="566928" y="6437376"/>
            <a:ext cx="7772400" cy="256032"/>
          </a:xfrm>
          <a:prstGeom prst="rect">
            <a:avLst/>
          </a:prstGeom>
          <a:noFill/>
          <a:ln/>
        </p:spPr>
        <p:txBody>
          <a:bodyPr wrap="square" lIns="0" tIns="0" rIns="0" bIns="0" rtlCol="0" anchor="ctr"/>
          <a:lstStyle/>
          <a:p>
            <a:pPr algn="l" indent="0" marL="0">
              <a:buNone/>
            </a:pPr>
            <a:r>
              <a:rPr lang="en-US" sz="950" dirty="0">
                <a:solidFill>
                  <a:srgbClr val="9AA9B5"/>
                </a:solidFill>
                <a:latin typeface="Calibri" pitchFamily="34" charset="0"/>
                <a:ea typeface="Calibri" pitchFamily="34" charset="-122"/>
                <a:cs typeface="Calibri" pitchFamily="34" charset="-120"/>
              </a:rPr>
              <a:t>Amazon Lightsail (PaaS-Lite)  ·  Hridiyansh Shukla  ·  2427030591</a:t>
            </a:r>
            <a:endParaRPr lang="en-US" sz="950" dirty="0"/>
          </a:p>
        </p:txBody>
      </p:sp>
      <p:sp>
        <p:nvSpPr>
          <p:cNvPr id="24" name="Text 17"/>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950" dirty="0">
                <a:solidFill>
                  <a:srgbClr val="9AA9B5"/>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algn="l" indent="0" marL="0">
              <a:buNone/>
            </a:pPr>
            <a:r>
              <a:rPr lang="en-US" sz="1100" b="1" spc="220" kern="0" dirty="0">
                <a:solidFill>
                  <a:srgbClr val="FF9900"/>
                </a:solidFill>
                <a:latin typeface="Calibri" pitchFamily="34" charset="0"/>
                <a:ea typeface="Calibri" pitchFamily="34" charset="-122"/>
                <a:cs typeface="Calibri" pitchFamily="34" charset="-120"/>
              </a:rPr>
              <a:t>COMPARISON</a:t>
            </a:r>
            <a:endParaRPr lang="en-US" sz="1100" dirty="0"/>
          </a:p>
        </p:txBody>
      </p:sp>
      <p:sp>
        <p:nvSpPr>
          <p:cNvPr id="3" name="Text 1"/>
          <p:cNvSpPr/>
          <p:nvPr/>
        </p:nvSpPr>
        <p:spPr>
          <a:xfrm>
            <a:off x="566928" y="566928"/>
            <a:ext cx="11057839" cy="50292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Amazon Lightsail versus Amazon EC2</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463040"/>
          <a:ext cx="11055096" cy="914400"/>
        </p:xfrm>
        <a:graphic>
          <a:graphicData uri="http://schemas.openxmlformats.org/drawingml/2006/table">
            <a:tbl>
              <a:tblPr/>
              <a:tblGrid>
                <a:gridCol w="2788920"/>
                <a:gridCol w="4133088"/>
                <a:gridCol w="4133088"/>
              </a:tblGrid>
              <a:tr h="42976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Dimension</a:t>
                      </a:r>
                      <a:endParaRPr lang="en-US" sz="1200" dirty="0">
                        <a:latin typeface="Calibri" charset="0"/>
                        <a:ea typeface="Calibri" charset="0"/>
                        <a:cs typeface="Calibri" charset="0"/>
                      </a:endParaRPr>
                    </a:p>
                  </a:txBody>
                  <a:tcPr marL="88900" marR="88900" marT="50800" marB="508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232F3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Amazon Lightsail</a:t>
                      </a:r>
                      <a:endParaRPr lang="en-US" sz="1200" dirty="0">
                        <a:latin typeface="Calibri" charset="0"/>
                        <a:ea typeface="Calibri" charset="0"/>
                        <a:cs typeface="Calibri" charset="0"/>
                      </a:endParaRPr>
                    </a:p>
                  </a:txBody>
                  <a:tcPr marL="88900" marR="88900" marT="50800" marB="508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232F3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Amazon EC2</a:t>
                      </a:r>
                      <a:endParaRPr lang="en-US" sz="1200" dirty="0">
                        <a:latin typeface="Calibri" charset="0"/>
                        <a:ea typeface="Calibri" charset="0"/>
                        <a:cs typeface="Calibri" charset="0"/>
                      </a:endParaRPr>
                    </a:p>
                  </a:txBody>
                  <a:tcPr marL="88900" marR="88900" marT="50800" marB="508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232F3E"/>
                    </a:solidFill>
                  </a:tcPr>
                </a:tc>
              </a:tr>
              <a:tr h="429768">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Pricing model</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Fixed monthly bundle, allowance included</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Per-second metering across four separate meters</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r>
              <a:tr h="429768">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Choice of hardware</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Eight general-purpose bundles plus two specialised families</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More than 750 instance types</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r>
              <a:tr h="429768">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Maximum single instance</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64 GB / 16 vCPU general purpose; 512 GB memory optimised</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Up to 448 vCPU and 12,288 GB of memory</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r>
              <a:tr h="429768">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Networking</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Lightsail-managed VPC; peering to the default VPC</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Full VPC design: subnets, route tables, NAT, gateways</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r>
              <a:tr h="429768">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Automatic scaling</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Not available for instances; containers scale by node count</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EC2 Auto Scaling groups with policies and schedules</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r>
              <a:tr h="429768">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Discount instruments</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None — the list price is the price</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Reserved Instances, Savings Plans, Spot</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r>
              <a:tr h="429768">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Access control</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Coarse; Lightsail-level permissions</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Full IAM, resource policies, service control policies</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r>
              <a:tr h="429768">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Time to first server</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Minutes, from a menu</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Longer; several dependent resources must exist first</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r>
              <a:tr h="429768">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Best fit</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Predictable small workloads, fast delivery, cost certainty</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Elastic, large or compliance-heavy architectures</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r>
            </a:tbl>
          </a:graphicData>
        </a:graphic>
      </p:graphicFrame>
      <p:sp>
        <p:nvSpPr>
          <p:cNvPr id="5" name="Text 2"/>
          <p:cNvSpPr/>
          <p:nvPr/>
        </p:nvSpPr>
        <p:spPr>
          <a:xfrm>
            <a:off x="566928" y="5907024"/>
            <a:ext cx="11055096" cy="274320"/>
          </a:xfrm>
          <a:prstGeom prst="rect">
            <a:avLst/>
          </a:prstGeom>
          <a:noFill/>
          <a:ln/>
        </p:spPr>
        <p:txBody>
          <a:bodyPr wrap="square" lIns="0" tIns="0" rIns="0" bIns="0" rtlCol="0" anchor="ctr"/>
          <a:lstStyle/>
          <a:p>
            <a:pPr indent="0" marL="0">
              <a:buNone/>
            </a:pPr>
            <a:r>
              <a:rPr lang="en-US" sz="1200" i="1" dirty="0">
                <a:solidFill>
                  <a:srgbClr val="232F3E"/>
                </a:solidFill>
                <a:latin typeface="Calibri" pitchFamily="34" charset="0"/>
                <a:ea typeface="Calibri" pitchFamily="34" charset="-122"/>
                <a:cs typeface="Calibri" pitchFamily="34" charset="-120"/>
              </a:rPr>
              <a:t>The two are not rivals: Lightsail is the on-ramp, EC2 the motorway, and the snapshot export makes the journey cheap.</a:t>
            </a:r>
            <a:endParaRPr lang="en-US" sz="1200" dirty="0"/>
          </a:p>
        </p:txBody>
      </p:sp>
      <p:sp>
        <p:nvSpPr>
          <p:cNvPr id="6" name="Text 3"/>
          <p:cNvSpPr/>
          <p:nvPr/>
        </p:nvSpPr>
        <p:spPr>
          <a:xfrm>
            <a:off x="566928" y="6437376"/>
            <a:ext cx="7772400" cy="256032"/>
          </a:xfrm>
          <a:prstGeom prst="rect">
            <a:avLst/>
          </a:prstGeom>
          <a:noFill/>
          <a:ln/>
        </p:spPr>
        <p:txBody>
          <a:bodyPr wrap="square" lIns="0" tIns="0" rIns="0" bIns="0" rtlCol="0" anchor="ctr"/>
          <a:lstStyle/>
          <a:p>
            <a:pPr algn="l" indent="0" marL="0">
              <a:buNone/>
            </a:pPr>
            <a:r>
              <a:rPr lang="en-US" sz="950" dirty="0">
                <a:solidFill>
                  <a:srgbClr val="9AA9B5"/>
                </a:solidFill>
                <a:latin typeface="Calibri" pitchFamily="34" charset="0"/>
                <a:ea typeface="Calibri" pitchFamily="34" charset="-122"/>
                <a:cs typeface="Calibri" pitchFamily="34" charset="-120"/>
              </a:rPr>
              <a:t>Amazon Lightsail (PaaS-Lite)  ·  Hridiyansh Shukla  ·  2427030591</a:t>
            </a:r>
            <a:endParaRPr lang="en-US" sz="950" dirty="0"/>
          </a:p>
        </p:txBody>
      </p:sp>
      <p:sp>
        <p:nvSpPr>
          <p:cNvPr id="7" name="Text 4"/>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950" dirty="0">
                <a:solidFill>
                  <a:srgbClr val="9AA9B5"/>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algn="l" indent="0" marL="0">
              <a:buNone/>
            </a:pPr>
            <a:r>
              <a:rPr lang="en-US" sz="1100" b="1" spc="220" kern="0" dirty="0">
                <a:solidFill>
                  <a:srgbClr val="FF9900"/>
                </a:solidFill>
                <a:latin typeface="Calibri" pitchFamily="34" charset="0"/>
                <a:ea typeface="Calibri" pitchFamily="34" charset="-122"/>
                <a:cs typeface="Calibri" pitchFamily="34" charset="-120"/>
              </a:rPr>
              <a:t>COMPARISON</a:t>
            </a:r>
            <a:endParaRPr lang="en-US" sz="1100" dirty="0"/>
          </a:p>
        </p:txBody>
      </p:sp>
      <p:sp>
        <p:nvSpPr>
          <p:cNvPr id="3" name="Text 1"/>
          <p:cNvSpPr/>
          <p:nvPr/>
        </p:nvSpPr>
        <p:spPr>
          <a:xfrm>
            <a:off x="566928" y="566928"/>
            <a:ext cx="11057839" cy="50292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Lightsail against the wider market</a:t>
            </a:r>
            <a:endParaRPr lang="en-US" sz="3000" dirty="0"/>
          </a:p>
        </p:txBody>
      </p:sp>
      <p:sp>
        <p:nvSpPr>
          <p:cNvPr id="4" name="Text 2"/>
          <p:cNvSpPr/>
          <p:nvPr/>
        </p:nvSpPr>
        <p:spPr>
          <a:xfrm>
            <a:off x="566928" y="1060704"/>
            <a:ext cx="11057839" cy="274320"/>
          </a:xfrm>
          <a:prstGeom prst="rect">
            <a:avLst/>
          </a:prstGeom>
          <a:noFill/>
          <a:ln/>
        </p:spPr>
        <p:txBody>
          <a:bodyPr wrap="square" lIns="0" tIns="0" rIns="0" bIns="0" rtlCol="0" anchor="ctr"/>
          <a:lstStyle/>
          <a:p>
            <a:pPr algn="l" indent="0" marL="0">
              <a:buNone/>
            </a:pPr>
            <a:r>
              <a:rPr lang="en-US" sz="1350" i="1" dirty="0">
                <a:solidFill>
                  <a:srgbClr val="5A6B7B"/>
                </a:solidFill>
                <a:latin typeface="Calibri" pitchFamily="34" charset="0"/>
                <a:ea typeface="Calibri" pitchFamily="34" charset="-122"/>
                <a:cs typeface="Calibri" pitchFamily="34" charset="-120"/>
              </a:rPr>
              <a:t>Indicative entry pricing, August 2026. Figures are list prices and vary by region.</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5096" cy="914400"/>
        </p:xfrm>
        <a:graphic>
          <a:graphicData uri="http://schemas.openxmlformats.org/drawingml/2006/table">
            <a:tbl>
              <a:tblPr/>
              <a:tblGrid>
                <a:gridCol w="2487168"/>
                <a:gridCol w="2834640"/>
                <a:gridCol w="1965960"/>
                <a:gridCol w="3767328"/>
              </a:tblGrid>
              <a:tr h="56692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Platform</a:t>
                      </a:r>
                      <a:endParaRPr lang="en-US" sz="1200" dirty="0">
                        <a:latin typeface="Calibri" charset="0"/>
                        <a:ea typeface="Calibri" charset="0"/>
                        <a:cs typeface="Calibri" charset="0"/>
                      </a:endParaRPr>
                    </a:p>
                  </a:txBody>
                  <a:tcPr marL="88900" marR="88900" marT="50800" marB="508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232F3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Entry price</a:t>
                      </a:r>
                      <a:endParaRPr lang="en-US" sz="1200" dirty="0">
                        <a:latin typeface="Calibri" charset="0"/>
                        <a:ea typeface="Calibri" charset="0"/>
                        <a:cs typeface="Calibri" charset="0"/>
                      </a:endParaRPr>
                    </a:p>
                  </a:txBody>
                  <a:tcPr marL="88900" marR="88900" marT="50800" marB="508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232F3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You still manage</a:t>
                      </a:r>
                      <a:endParaRPr lang="en-US" sz="1200" dirty="0">
                        <a:latin typeface="Calibri" charset="0"/>
                        <a:ea typeface="Calibri" charset="0"/>
                        <a:cs typeface="Calibri" charset="0"/>
                      </a:endParaRPr>
                    </a:p>
                  </a:txBody>
                  <a:tcPr marL="88900" marR="88900" marT="50800" marB="508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232F3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Distinguishing strength</a:t>
                      </a:r>
                      <a:endParaRPr lang="en-US" sz="1200" dirty="0">
                        <a:latin typeface="Calibri" charset="0"/>
                        <a:ea typeface="Calibri" charset="0"/>
                        <a:cs typeface="Calibri" charset="0"/>
                      </a:endParaRPr>
                    </a:p>
                  </a:txBody>
                  <a:tcPr marL="88900" marR="88900" marT="50800" marB="508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232F3E"/>
                    </a:solidFill>
                  </a:tcPr>
                </a:tc>
              </a:tr>
              <a:tr h="566928">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Amazon Lightsail</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$5 / month (nano, dual-stack)</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OS and application</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Generous transfer allowance; a documented path onto full AWS</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r>
              <a:tr h="566928">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DigitalOcean Droplet</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$4 / month (512 MB); $6 is the practical floor</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OS and application</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Clean developer experience and documentation</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r>
              <a:tr h="566928">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Linode / Akamai Nanode</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$5 / month (1 GB, 25 GB SSD, 1 TB)</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OS and application</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Strong price-to-memory ratio at the entry tier</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r>
              <a:tr h="566928">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Heroku dyno</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$5 Eco (sleeps) · $7 Basic</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Application only</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True PaaS — no server to patch, but add-ons are billed separately</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4F7F9"/>
                    </a:solidFill>
                  </a:tcPr>
                </a:tc>
              </a:tr>
              <a:tr h="566928">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Azure App Service</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Basic B1 around $55 / month</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Application only</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2F3E"/>
                          </a:solidFill>
                          <a:latin typeface="Calibri" pitchFamily="34" charset="0"/>
                          <a:ea typeface="Calibri" pitchFamily="34" charset="-122"/>
                          <a:cs typeface="Calibri" pitchFamily="34" charset="-120"/>
                        </a:rPr>
                        <a:t>Deep integration with the Microsoft estate</a:t>
                      </a:r>
                      <a:endParaRPr lang="en-US" sz="1100" dirty="0">
                        <a:latin typeface="Calibri" charset="0"/>
                        <a:ea typeface="Calibri" charset="0"/>
                        <a:cs typeface="Calibri" charset="0"/>
                      </a:endParaRPr>
                    </a:p>
                  </a:txBody>
                  <a:tcPr marL="88900" marR="889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5138928"/>
            <a:ext cx="11055096" cy="1024128"/>
          </a:xfrm>
          <a:prstGeom prst="roundRect">
            <a:avLst>
              <a:gd name="adj" fmla="val 8036"/>
            </a:avLst>
          </a:prstGeom>
          <a:solidFill>
            <a:srgbClr val="F4F7F9"/>
          </a:solidFill>
          <a:ln w="12700">
            <a:solidFill>
              <a:srgbClr val="00A1C9"/>
            </a:solidFill>
            <a:prstDash val="solid"/>
          </a:ln>
        </p:spPr>
      </p:sp>
      <p:sp>
        <p:nvSpPr>
          <p:cNvPr id="7" name="Text 4"/>
          <p:cNvSpPr/>
          <p:nvPr/>
        </p:nvSpPr>
        <p:spPr>
          <a:xfrm>
            <a:off x="804672" y="5248656"/>
            <a:ext cx="4937760" cy="274320"/>
          </a:xfrm>
          <a:prstGeom prst="rect">
            <a:avLst/>
          </a:prstGeom>
          <a:noFill/>
          <a:ln/>
        </p:spPr>
        <p:txBody>
          <a:bodyPr wrap="square" lIns="0" tIns="0" rIns="0" bIns="0" rtlCol="0" anchor="ctr"/>
          <a:lstStyle/>
          <a:p>
            <a:pPr indent="0" marL="0">
              <a:buNone/>
            </a:pPr>
            <a:r>
              <a:rPr lang="en-US" sz="1400" b="1" dirty="0">
                <a:solidFill>
                  <a:srgbClr val="00A1C9"/>
                </a:solidFill>
                <a:latin typeface="Cambria" pitchFamily="34" charset="0"/>
                <a:ea typeface="Cambria" pitchFamily="34" charset="-122"/>
                <a:cs typeface="Cambria" pitchFamily="34" charset="-120"/>
              </a:rPr>
              <a:t>What actually separates them</a:t>
            </a:r>
            <a:endParaRPr lang="en-US" sz="1400" dirty="0"/>
          </a:p>
        </p:txBody>
      </p:sp>
      <p:sp>
        <p:nvSpPr>
          <p:cNvPr id="8" name="Text 5"/>
          <p:cNvSpPr/>
          <p:nvPr/>
        </p:nvSpPr>
        <p:spPr>
          <a:xfrm>
            <a:off x="804672" y="5522976"/>
            <a:ext cx="10561320" cy="566928"/>
          </a:xfrm>
          <a:prstGeom prst="rect">
            <a:avLst/>
          </a:prstGeom>
          <a:noFill/>
          <a:ln/>
        </p:spPr>
        <p:txBody>
          <a:bodyPr wrap="square" lIns="0" tIns="0" rIns="0" bIns="0" rtlCol="0" anchor="ctr"/>
          <a:lstStyle/>
          <a:p>
            <a:pPr indent="0" marL="0">
              <a:lnSpc>
                <a:spcPct val="112000"/>
              </a:lnSpc>
              <a:buNone/>
            </a:pPr>
            <a:r>
              <a:rPr lang="en-US" sz="1150" dirty="0">
                <a:solidFill>
                  <a:srgbClr val="232F3E"/>
                </a:solidFill>
                <a:latin typeface="Calibri" pitchFamily="34" charset="0"/>
                <a:ea typeface="Calibri" pitchFamily="34" charset="-122"/>
                <a:cs typeface="Calibri" pitchFamily="34" charset="-120"/>
              </a:rPr>
              <a:t>On raw price per gigabyte of RAM, Lightsail is competitive rather than cheapest. It wins on two things a price list does not show: the included data-transfer allowance, which is where independent VPS bills usually break, and the fact that the resource underneath is ordinary AWS — so growing out of Lightsail is a migration inside one account rather than a change of vendor.</a:t>
            </a:r>
            <a:endParaRPr lang="en-US" sz="1150" dirty="0"/>
          </a:p>
        </p:txBody>
      </p:sp>
      <p:sp>
        <p:nvSpPr>
          <p:cNvPr id="9" name="Text 6"/>
          <p:cNvSpPr/>
          <p:nvPr/>
        </p:nvSpPr>
        <p:spPr>
          <a:xfrm>
            <a:off x="566928" y="6437376"/>
            <a:ext cx="7772400" cy="256032"/>
          </a:xfrm>
          <a:prstGeom prst="rect">
            <a:avLst/>
          </a:prstGeom>
          <a:noFill/>
          <a:ln/>
        </p:spPr>
        <p:txBody>
          <a:bodyPr wrap="square" lIns="0" tIns="0" rIns="0" bIns="0" rtlCol="0" anchor="ctr"/>
          <a:lstStyle/>
          <a:p>
            <a:pPr algn="l" indent="0" marL="0">
              <a:buNone/>
            </a:pPr>
            <a:r>
              <a:rPr lang="en-US" sz="950" dirty="0">
                <a:solidFill>
                  <a:srgbClr val="9AA9B5"/>
                </a:solidFill>
                <a:latin typeface="Calibri" pitchFamily="34" charset="0"/>
                <a:ea typeface="Calibri" pitchFamily="34" charset="-122"/>
                <a:cs typeface="Calibri" pitchFamily="34" charset="-120"/>
              </a:rPr>
              <a:t>Amazon Lightsail (PaaS-Lite)  ·  Hridiyansh Shukla  ·  2427030591</a:t>
            </a:r>
            <a:endParaRPr lang="en-US" sz="950" dirty="0"/>
          </a:p>
        </p:txBody>
      </p:sp>
      <p:sp>
        <p:nvSpPr>
          <p:cNvPr id="10" name="Text 7"/>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950" dirty="0">
                <a:solidFill>
                  <a:srgbClr val="9AA9B5"/>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algn="l" indent="0" marL="0">
              <a:buNone/>
            </a:pPr>
            <a:r>
              <a:rPr lang="en-US" sz="1100" b="1" spc="220" kern="0" dirty="0">
                <a:solidFill>
                  <a:srgbClr val="FF9900"/>
                </a:solidFill>
                <a:latin typeface="Calibri" pitchFamily="34" charset="0"/>
                <a:ea typeface="Calibri" pitchFamily="34" charset="-122"/>
                <a:cs typeface="Calibri" pitchFamily="34" charset="-120"/>
              </a:rPr>
              <a:t>DEMONSTRATION</a:t>
            </a:r>
            <a:endParaRPr lang="en-US" sz="1100" dirty="0"/>
          </a:p>
        </p:txBody>
      </p:sp>
      <p:sp>
        <p:nvSpPr>
          <p:cNvPr id="3" name="Text 1"/>
          <p:cNvSpPr/>
          <p:nvPr/>
        </p:nvSpPr>
        <p:spPr>
          <a:xfrm>
            <a:off x="566928" y="566928"/>
            <a:ext cx="11057839" cy="50292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From nothing to a live HTTPS site</a:t>
            </a:r>
            <a:endParaRPr lang="en-US" sz="3000" dirty="0"/>
          </a:p>
        </p:txBody>
      </p:sp>
      <p:pic>
        <p:nvPicPr>
          <p:cNvPr id="4" name="Image 0" descr="/home/user/PBL-Proj/lightsail/assets/fig-deploy-flow.png">    </p:cNvPr>
          <p:cNvPicPr>
            <a:picLocks noChangeAspect="1"/>
          </p:cNvPicPr>
          <p:nvPr/>
        </p:nvPicPr>
        <p:blipFill>
          <a:blip r:embed="rId1"/>
          <a:stretch>
            <a:fillRect/>
          </a:stretch>
        </p:blipFill>
        <p:spPr>
          <a:xfrm>
            <a:off x="566928" y="1417320"/>
            <a:ext cx="11055096" cy="4425696"/>
          </a:xfrm>
          <a:prstGeom prst="rect">
            <a:avLst/>
          </a:prstGeom>
        </p:spPr>
      </p:pic>
      <p:sp>
        <p:nvSpPr>
          <p:cNvPr id="5" name="Text 2"/>
          <p:cNvSpPr/>
          <p:nvPr/>
        </p:nvSpPr>
        <p:spPr>
          <a:xfrm>
            <a:off x="566928" y="5870448"/>
            <a:ext cx="5120640" cy="237744"/>
          </a:xfrm>
          <a:prstGeom prst="rect">
            <a:avLst/>
          </a:prstGeom>
          <a:noFill/>
          <a:ln/>
        </p:spPr>
        <p:txBody>
          <a:bodyPr wrap="square" lIns="0" tIns="0" rIns="0" bIns="0" rtlCol="0" anchor="ctr"/>
          <a:lstStyle/>
          <a:p>
            <a:pPr indent="0" marL="0">
              <a:buNone/>
            </a:pPr>
            <a:r>
              <a:rPr lang="en-US" sz="950" i="1" dirty="0">
                <a:solidFill>
                  <a:srgbClr val="5A6B7B"/>
                </a:solidFill>
                <a:latin typeface="Calibri" pitchFamily="34" charset="0"/>
                <a:ea typeface="Calibri" pitchFamily="34" charset="-122"/>
                <a:cs typeface="Calibri" pitchFamily="34" charset="-120"/>
              </a:rPr>
              <a:t>Figure 5 — The complete deployment path for a production WordPress site.</a:t>
            </a:r>
            <a:endParaRPr lang="en-US" sz="950" dirty="0"/>
          </a:p>
        </p:txBody>
      </p:sp>
      <p:sp>
        <p:nvSpPr>
          <p:cNvPr id="6" name="Text 3"/>
          <p:cNvSpPr/>
          <p:nvPr/>
        </p:nvSpPr>
        <p:spPr>
          <a:xfrm>
            <a:off x="6126480" y="5852160"/>
            <a:ext cx="5495544" cy="219456"/>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Everything above is also a single API call:</a:t>
            </a:r>
            <a:endParaRPr lang="en-US" sz="1000" dirty="0"/>
          </a:p>
        </p:txBody>
      </p:sp>
      <p:sp>
        <p:nvSpPr>
          <p:cNvPr id="7" name="Text 4"/>
          <p:cNvSpPr/>
          <p:nvPr/>
        </p:nvSpPr>
        <p:spPr>
          <a:xfrm>
            <a:off x="5394960" y="6071616"/>
            <a:ext cx="6227064" cy="237744"/>
          </a:xfrm>
          <a:prstGeom prst="rect">
            <a:avLst/>
          </a:prstGeom>
          <a:noFill/>
          <a:ln/>
        </p:spPr>
        <p:txBody>
          <a:bodyPr wrap="square" lIns="0" tIns="0" rIns="0" bIns="0" rtlCol="0" anchor="ctr"/>
          <a:lstStyle/>
          <a:p>
            <a:pPr algn="r" indent="0" marL="0">
              <a:buNone/>
            </a:pPr>
            <a:r>
              <a:rPr lang="en-US" sz="950" b="1" dirty="0">
                <a:solidFill>
                  <a:srgbClr val="232F3E"/>
                </a:solidFill>
                <a:latin typeface="Courier New" pitchFamily="34" charset="0"/>
                <a:ea typeface="Courier New" pitchFamily="34" charset="-122"/>
                <a:cs typeface="Courier New" pitchFamily="34" charset="-120"/>
              </a:rPr>
              <a:t>aws lightsail create-instances --blueprint-id wordpress --bundle-id small_3_0</a:t>
            </a:r>
            <a:endParaRPr lang="en-US" sz="950" dirty="0"/>
          </a:p>
        </p:txBody>
      </p:sp>
      <p:sp>
        <p:nvSpPr>
          <p:cNvPr id="8" name="Text 5"/>
          <p:cNvSpPr/>
          <p:nvPr/>
        </p:nvSpPr>
        <p:spPr>
          <a:xfrm>
            <a:off x="566928" y="6437376"/>
            <a:ext cx="7772400" cy="256032"/>
          </a:xfrm>
          <a:prstGeom prst="rect">
            <a:avLst/>
          </a:prstGeom>
          <a:noFill/>
          <a:ln/>
        </p:spPr>
        <p:txBody>
          <a:bodyPr wrap="square" lIns="0" tIns="0" rIns="0" bIns="0" rtlCol="0" anchor="ctr"/>
          <a:lstStyle/>
          <a:p>
            <a:pPr algn="l" indent="0" marL="0">
              <a:buNone/>
            </a:pPr>
            <a:r>
              <a:rPr lang="en-US" sz="950" dirty="0">
                <a:solidFill>
                  <a:srgbClr val="9AA9B5"/>
                </a:solidFill>
                <a:latin typeface="Calibri" pitchFamily="34" charset="0"/>
                <a:ea typeface="Calibri" pitchFamily="34" charset="-122"/>
                <a:cs typeface="Calibri" pitchFamily="34" charset="-120"/>
              </a:rPr>
              <a:t>Amazon Lightsail (PaaS-Lite)  ·  Hridiyansh Shukla  ·  2427030591</a:t>
            </a:r>
            <a:endParaRPr lang="en-US" sz="950" dirty="0"/>
          </a:p>
        </p:txBody>
      </p:sp>
      <p:sp>
        <p:nvSpPr>
          <p:cNvPr id="9" name="Text 6"/>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950" dirty="0">
                <a:solidFill>
                  <a:srgbClr val="9AA9B5"/>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algn="l" indent="0" marL="0">
              <a:buNone/>
            </a:pPr>
            <a:r>
              <a:rPr lang="en-US" sz="1100" b="1" spc="220" kern="0" dirty="0">
                <a:solidFill>
                  <a:srgbClr val="FF9900"/>
                </a:solidFill>
                <a:latin typeface="Calibri" pitchFamily="34" charset="0"/>
                <a:ea typeface="Calibri" pitchFamily="34" charset="-122"/>
                <a:cs typeface="Calibri" pitchFamily="34" charset="-120"/>
              </a:rPr>
              <a:t>APPLICATION</a:t>
            </a:r>
            <a:endParaRPr lang="en-US" sz="1100" dirty="0"/>
          </a:p>
        </p:txBody>
      </p:sp>
      <p:sp>
        <p:nvSpPr>
          <p:cNvPr id="3" name="Text 1"/>
          <p:cNvSpPr/>
          <p:nvPr/>
        </p:nvSpPr>
        <p:spPr>
          <a:xfrm>
            <a:off x="566928" y="566928"/>
            <a:ext cx="11057839" cy="50292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Where Lightsail earns its place</a:t>
            </a:r>
            <a:endParaRPr lang="en-US" sz="3000" dirty="0"/>
          </a:p>
        </p:txBody>
      </p:sp>
      <p:sp>
        <p:nvSpPr>
          <p:cNvPr id="4" name="Shape 2"/>
          <p:cNvSpPr/>
          <p:nvPr/>
        </p:nvSpPr>
        <p:spPr>
          <a:xfrm>
            <a:off x="566928" y="1481328"/>
            <a:ext cx="3566160" cy="2066544"/>
          </a:xfrm>
          <a:prstGeom prst="roundRect">
            <a:avLst>
              <a:gd name="adj" fmla="val 3982"/>
            </a:avLst>
          </a:prstGeom>
          <a:solidFill>
            <a:srgbClr val="FFFFFF"/>
          </a:solidFill>
          <a:ln w="12700">
            <a:solidFill>
              <a:srgbClr val="D5DEE5"/>
            </a:solidFill>
            <a:prstDash val="solid"/>
          </a:ln>
          <a:effectLst>
            <a:outerShdw sx="100000" sy="100000" kx="0" ky="0" algn="bl" rotWithShape="0" blurRad="101600" dist="25400" dir="5400000">
              <a:srgbClr val="9AA9B5">
                <a:alpha val="25000"/>
              </a:srgbClr>
            </a:outerShdw>
          </a:effectLst>
        </p:spPr>
      </p:sp>
      <p:sp>
        <p:nvSpPr>
          <p:cNvPr id="5" name="Shape 3"/>
          <p:cNvSpPr/>
          <p:nvPr/>
        </p:nvSpPr>
        <p:spPr>
          <a:xfrm>
            <a:off x="841248" y="1755648"/>
            <a:ext cx="621792" cy="621792"/>
          </a:xfrm>
          <a:prstGeom prst="ellipse">
            <a:avLst/>
          </a:prstGeom>
          <a:solidFill>
            <a:srgbClr val="232F3E"/>
          </a:solidFill>
          <a:ln/>
        </p:spPr>
      </p:sp>
      <p:pic>
        <p:nvPicPr>
          <p:cNvPr id="6" name="Image 0" descr="/home/user/PBL-Proj/lightsail/assets/icon-doc.png">    </p:cNvPr>
          <p:cNvPicPr>
            <a:picLocks noChangeAspect="1"/>
          </p:cNvPicPr>
          <p:nvPr/>
        </p:nvPicPr>
        <p:blipFill>
          <a:blip r:embed="rId1"/>
          <a:stretch>
            <a:fillRect/>
          </a:stretch>
        </p:blipFill>
        <p:spPr>
          <a:xfrm>
            <a:off x="1002914" y="1917314"/>
            <a:ext cx="298460" cy="298460"/>
          </a:xfrm>
          <a:prstGeom prst="rect">
            <a:avLst/>
          </a:prstGeom>
        </p:spPr>
      </p:pic>
      <p:sp>
        <p:nvSpPr>
          <p:cNvPr id="7" name="Text 4"/>
          <p:cNvSpPr/>
          <p:nvPr/>
        </p:nvSpPr>
        <p:spPr>
          <a:xfrm>
            <a:off x="841248" y="2505456"/>
            <a:ext cx="3017520" cy="329184"/>
          </a:xfrm>
          <a:prstGeom prst="rect">
            <a:avLst/>
          </a:prstGeom>
          <a:noFill/>
          <a:ln/>
        </p:spPr>
        <p:txBody>
          <a:bodyPr wrap="square" lIns="0" tIns="0" rIns="0" bIns="0" rtlCol="0" anchor="ctr"/>
          <a:lstStyle/>
          <a:p>
            <a:pPr indent="0" marL="0">
              <a:buNone/>
            </a:pPr>
            <a:r>
              <a:rPr lang="en-US" sz="1550" b="1" dirty="0">
                <a:solidFill>
                  <a:srgbClr val="232F3E"/>
                </a:solidFill>
                <a:latin typeface="Cambria" pitchFamily="34" charset="0"/>
                <a:ea typeface="Cambria" pitchFamily="34" charset="-122"/>
                <a:cs typeface="Cambria" pitchFamily="34" charset="-120"/>
              </a:rPr>
              <a:t>Websites and blogs</a:t>
            </a:r>
            <a:endParaRPr lang="en-US" sz="1550" dirty="0"/>
          </a:p>
        </p:txBody>
      </p:sp>
      <p:sp>
        <p:nvSpPr>
          <p:cNvPr id="8" name="Text 5"/>
          <p:cNvSpPr/>
          <p:nvPr/>
        </p:nvSpPr>
        <p:spPr>
          <a:xfrm>
            <a:off x="841248" y="2852928"/>
            <a:ext cx="3017520" cy="685800"/>
          </a:xfrm>
          <a:prstGeom prst="rect">
            <a:avLst/>
          </a:prstGeom>
          <a:noFill/>
          <a:ln/>
        </p:spPr>
        <p:txBody>
          <a:bodyPr wrap="square" lIns="0" tIns="0" rIns="0" bIns="0" rtlCol="0" anchor="ctr"/>
          <a:lstStyle/>
          <a:p>
            <a:pPr indent="0" marL="0">
              <a:lnSpc>
                <a:spcPct val="114000"/>
              </a:lnSpc>
              <a:buNone/>
            </a:pPr>
            <a:r>
              <a:rPr lang="en-US" sz="1150" dirty="0">
                <a:solidFill>
                  <a:srgbClr val="5A6B7B"/>
                </a:solidFill>
                <a:latin typeface="Calibri" pitchFamily="34" charset="0"/>
                <a:ea typeface="Calibri" pitchFamily="34" charset="-122"/>
                <a:cs typeface="Calibri" pitchFamily="34" charset="-120"/>
              </a:rPr>
              <a:t>WordPress, Ghost and Drupal on a bundle whose bandwidth allowance covers ordinary traffic.</a:t>
            </a:r>
            <a:endParaRPr lang="en-US" sz="1150" dirty="0"/>
          </a:p>
        </p:txBody>
      </p:sp>
      <p:sp>
        <p:nvSpPr>
          <p:cNvPr id="9" name="Shape 6"/>
          <p:cNvSpPr/>
          <p:nvPr/>
        </p:nvSpPr>
        <p:spPr>
          <a:xfrm>
            <a:off x="4306824" y="1481328"/>
            <a:ext cx="3566160" cy="2066544"/>
          </a:xfrm>
          <a:prstGeom prst="roundRect">
            <a:avLst>
              <a:gd name="adj" fmla="val 3982"/>
            </a:avLst>
          </a:prstGeom>
          <a:solidFill>
            <a:srgbClr val="FFFFFF"/>
          </a:solidFill>
          <a:ln w="12700">
            <a:solidFill>
              <a:srgbClr val="D5DEE5"/>
            </a:solidFill>
            <a:prstDash val="solid"/>
          </a:ln>
          <a:effectLst>
            <a:outerShdw sx="100000" sy="100000" kx="0" ky="0" algn="bl" rotWithShape="0" blurRad="101600" dist="25400" dir="5400000">
              <a:srgbClr val="9AA9B5">
                <a:alpha val="25000"/>
              </a:srgbClr>
            </a:outerShdw>
          </a:effectLst>
        </p:spPr>
      </p:sp>
      <p:sp>
        <p:nvSpPr>
          <p:cNvPr id="10" name="Shape 7"/>
          <p:cNvSpPr/>
          <p:nvPr/>
        </p:nvSpPr>
        <p:spPr>
          <a:xfrm>
            <a:off x="4581144" y="1755648"/>
            <a:ext cx="621792" cy="621792"/>
          </a:xfrm>
          <a:prstGeom prst="ellipse">
            <a:avLst/>
          </a:prstGeom>
          <a:solidFill>
            <a:srgbClr val="00A1C9"/>
          </a:solidFill>
          <a:ln/>
        </p:spPr>
      </p:sp>
      <p:pic>
        <p:nvPicPr>
          <p:cNvPr id="11" name="Image 1" descr="/home/user/PBL-Proj/lightsail/assets/icon-code.png">    </p:cNvPr>
          <p:cNvPicPr>
            <a:picLocks noChangeAspect="1"/>
          </p:cNvPicPr>
          <p:nvPr/>
        </p:nvPicPr>
        <p:blipFill>
          <a:blip r:embed="rId2"/>
          <a:stretch>
            <a:fillRect/>
          </a:stretch>
        </p:blipFill>
        <p:spPr>
          <a:xfrm>
            <a:off x="4742810" y="1917314"/>
            <a:ext cx="298460" cy="298460"/>
          </a:xfrm>
          <a:prstGeom prst="rect">
            <a:avLst/>
          </a:prstGeom>
        </p:spPr>
      </p:pic>
      <p:sp>
        <p:nvSpPr>
          <p:cNvPr id="12" name="Text 8"/>
          <p:cNvSpPr/>
          <p:nvPr/>
        </p:nvSpPr>
        <p:spPr>
          <a:xfrm>
            <a:off x="4581144" y="2505456"/>
            <a:ext cx="3017520" cy="329184"/>
          </a:xfrm>
          <a:prstGeom prst="rect">
            <a:avLst/>
          </a:prstGeom>
          <a:noFill/>
          <a:ln/>
        </p:spPr>
        <p:txBody>
          <a:bodyPr wrap="square" lIns="0" tIns="0" rIns="0" bIns="0" rtlCol="0" anchor="ctr"/>
          <a:lstStyle/>
          <a:p>
            <a:pPr indent="0" marL="0">
              <a:buNone/>
            </a:pPr>
            <a:r>
              <a:rPr lang="en-US" sz="1550" b="1" dirty="0">
                <a:solidFill>
                  <a:srgbClr val="232F3E"/>
                </a:solidFill>
                <a:latin typeface="Cambria" pitchFamily="34" charset="0"/>
                <a:ea typeface="Cambria" pitchFamily="34" charset="-122"/>
                <a:cs typeface="Cambria" pitchFamily="34" charset="-120"/>
              </a:rPr>
              <a:t>Development and test</a:t>
            </a:r>
            <a:endParaRPr lang="en-US" sz="1550" dirty="0"/>
          </a:p>
        </p:txBody>
      </p:sp>
      <p:sp>
        <p:nvSpPr>
          <p:cNvPr id="13" name="Text 9"/>
          <p:cNvSpPr/>
          <p:nvPr/>
        </p:nvSpPr>
        <p:spPr>
          <a:xfrm>
            <a:off x="4581144" y="2852928"/>
            <a:ext cx="3017520" cy="685800"/>
          </a:xfrm>
          <a:prstGeom prst="rect">
            <a:avLst/>
          </a:prstGeom>
          <a:noFill/>
          <a:ln/>
        </p:spPr>
        <p:txBody>
          <a:bodyPr wrap="square" lIns="0" tIns="0" rIns="0" bIns="0" rtlCol="0" anchor="ctr"/>
          <a:lstStyle/>
          <a:p>
            <a:pPr indent="0" marL="0">
              <a:lnSpc>
                <a:spcPct val="114000"/>
              </a:lnSpc>
              <a:buNone/>
            </a:pPr>
            <a:r>
              <a:rPr lang="en-US" sz="1150" dirty="0">
                <a:solidFill>
                  <a:srgbClr val="5A6B7B"/>
                </a:solidFill>
                <a:latin typeface="Calibri" pitchFamily="34" charset="0"/>
                <a:ea typeface="Calibri" pitchFamily="34" charset="-122"/>
                <a:cs typeface="Calibri" pitchFamily="34" charset="-120"/>
              </a:rPr>
              <a:t>Disposable environments that mirror production and are deleted when the sprint ends.</a:t>
            </a:r>
            <a:endParaRPr lang="en-US" sz="1150" dirty="0"/>
          </a:p>
        </p:txBody>
      </p:sp>
      <p:sp>
        <p:nvSpPr>
          <p:cNvPr id="14" name="Shape 10"/>
          <p:cNvSpPr/>
          <p:nvPr/>
        </p:nvSpPr>
        <p:spPr>
          <a:xfrm>
            <a:off x="8046720" y="1481328"/>
            <a:ext cx="3566160" cy="2066544"/>
          </a:xfrm>
          <a:prstGeom prst="roundRect">
            <a:avLst>
              <a:gd name="adj" fmla="val 3982"/>
            </a:avLst>
          </a:prstGeom>
          <a:solidFill>
            <a:srgbClr val="FFFFFF"/>
          </a:solidFill>
          <a:ln w="12700">
            <a:solidFill>
              <a:srgbClr val="D5DEE5"/>
            </a:solidFill>
            <a:prstDash val="solid"/>
          </a:ln>
          <a:effectLst>
            <a:outerShdw sx="100000" sy="100000" kx="0" ky="0" algn="bl" rotWithShape="0" blurRad="101600" dist="25400" dir="5400000">
              <a:srgbClr val="9AA9B5">
                <a:alpha val="25000"/>
              </a:srgbClr>
            </a:outerShdw>
          </a:effectLst>
        </p:spPr>
      </p:sp>
      <p:sp>
        <p:nvSpPr>
          <p:cNvPr id="15" name="Shape 11"/>
          <p:cNvSpPr/>
          <p:nvPr/>
        </p:nvSpPr>
        <p:spPr>
          <a:xfrm>
            <a:off x="8321040" y="1755648"/>
            <a:ext cx="621792" cy="621792"/>
          </a:xfrm>
          <a:prstGeom prst="ellipse">
            <a:avLst/>
          </a:prstGeom>
          <a:solidFill>
            <a:srgbClr val="232F3E"/>
          </a:solidFill>
          <a:ln/>
        </p:spPr>
      </p:sp>
      <p:pic>
        <p:nvPicPr>
          <p:cNvPr id="16" name="Image 2" descr="/home/user/PBL-Proj/lightsail/assets/icon-wrench.png">    </p:cNvPr>
          <p:cNvPicPr>
            <a:picLocks noChangeAspect="1"/>
          </p:cNvPicPr>
          <p:nvPr/>
        </p:nvPicPr>
        <p:blipFill>
          <a:blip r:embed="rId3"/>
          <a:stretch>
            <a:fillRect/>
          </a:stretch>
        </p:blipFill>
        <p:spPr>
          <a:xfrm>
            <a:off x="8482706" y="1917314"/>
            <a:ext cx="298460" cy="298460"/>
          </a:xfrm>
          <a:prstGeom prst="rect">
            <a:avLst/>
          </a:prstGeom>
        </p:spPr>
      </p:pic>
      <p:sp>
        <p:nvSpPr>
          <p:cNvPr id="17" name="Text 12"/>
          <p:cNvSpPr/>
          <p:nvPr/>
        </p:nvSpPr>
        <p:spPr>
          <a:xfrm>
            <a:off x="8321040" y="2505456"/>
            <a:ext cx="3017520" cy="329184"/>
          </a:xfrm>
          <a:prstGeom prst="rect">
            <a:avLst/>
          </a:prstGeom>
          <a:noFill/>
          <a:ln/>
        </p:spPr>
        <p:txBody>
          <a:bodyPr wrap="square" lIns="0" tIns="0" rIns="0" bIns="0" rtlCol="0" anchor="ctr"/>
          <a:lstStyle/>
          <a:p>
            <a:pPr indent="0" marL="0">
              <a:buNone/>
            </a:pPr>
            <a:r>
              <a:rPr lang="en-US" sz="1550" b="1" dirty="0">
                <a:solidFill>
                  <a:srgbClr val="232F3E"/>
                </a:solidFill>
                <a:latin typeface="Cambria" pitchFamily="34" charset="0"/>
                <a:ea typeface="Cambria" pitchFamily="34" charset="-122"/>
                <a:cs typeface="Cambria" pitchFamily="34" charset="-120"/>
              </a:rPr>
              <a:t>Small business applications</a:t>
            </a:r>
            <a:endParaRPr lang="en-US" sz="1550" dirty="0"/>
          </a:p>
        </p:txBody>
      </p:sp>
      <p:sp>
        <p:nvSpPr>
          <p:cNvPr id="18" name="Text 13"/>
          <p:cNvSpPr/>
          <p:nvPr/>
        </p:nvSpPr>
        <p:spPr>
          <a:xfrm>
            <a:off x="8321040" y="2852928"/>
            <a:ext cx="3017520" cy="685800"/>
          </a:xfrm>
          <a:prstGeom prst="rect">
            <a:avLst/>
          </a:prstGeom>
          <a:noFill/>
          <a:ln/>
        </p:spPr>
        <p:txBody>
          <a:bodyPr wrap="square" lIns="0" tIns="0" rIns="0" bIns="0" rtlCol="0" anchor="ctr"/>
          <a:lstStyle/>
          <a:p>
            <a:pPr indent="0" marL="0">
              <a:lnSpc>
                <a:spcPct val="114000"/>
              </a:lnSpc>
              <a:buNone/>
            </a:pPr>
            <a:r>
              <a:rPr lang="en-US" sz="1150" dirty="0">
                <a:solidFill>
                  <a:srgbClr val="5A6B7B"/>
                </a:solidFill>
                <a:latin typeface="Calibri" pitchFamily="34" charset="0"/>
                <a:ea typeface="Calibri" pitchFamily="34" charset="-122"/>
                <a:cs typeface="Calibri" pitchFamily="34" charset="-120"/>
              </a:rPr>
              <a:t>Line-of-business tools, booking systems and intranets for teams with no operations staff.</a:t>
            </a:r>
            <a:endParaRPr lang="en-US" sz="1150" dirty="0"/>
          </a:p>
        </p:txBody>
      </p:sp>
      <p:sp>
        <p:nvSpPr>
          <p:cNvPr id="19" name="Shape 14"/>
          <p:cNvSpPr/>
          <p:nvPr/>
        </p:nvSpPr>
        <p:spPr>
          <a:xfrm>
            <a:off x="566928" y="3803904"/>
            <a:ext cx="3566160" cy="2066544"/>
          </a:xfrm>
          <a:prstGeom prst="roundRect">
            <a:avLst>
              <a:gd name="adj" fmla="val 3982"/>
            </a:avLst>
          </a:prstGeom>
          <a:solidFill>
            <a:srgbClr val="FFFFFF"/>
          </a:solidFill>
          <a:ln w="12700">
            <a:solidFill>
              <a:srgbClr val="D5DEE5"/>
            </a:solidFill>
            <a:prstDash val="solid"/>
          </a:ln>
          <a:effectLst>
            <a:outerShdw sx="100000" sy="100000" kx="0" ky="0" algn="bl" rotWithShape="0" blurRad="101600" dist="25400" dir="5400000">
              <a:srgbClr val="9AA9B5">
                <a:alpha val="25000"/>
              </a:srgbClr>
            </a:outerShdw>
          </a:effectLst>
        </p:spPr>
      </p:sp>
      <p:sp>
        <p:nvSpPr>
          <p:cNvPr id="20" name="Shape 15"/>
          <p:cNvSpPr/>
          <p:nvPr/>
        </p:nvSpPr>
        <p:spPr>
          <a:xfrm>
            <a:off x="841248" y="4078224"/>
            <a:ext cx="621792" cy="621792"/>
          </a:xfrm>
          <a:prstGeom prst="ellipse">
            <a:avLst/>
          </a:prstGeom>
          <a:solidFill>
            <a:srgbClr val="00A1C9"/>
          </a:solidFill>
          <a:ln/>
        </p:spPr>
      </p:sp>
      <p:pic>
        <p:nvPicPr>
          <p:cNvPr id="21" name="Image 3" descr="/home/user/PBL-Proj/lightsail/assets/icon-cart.png">    </p:cNvPr>
          <p:cNvPicPr>
            <a:picLocks noChangeAspect="1"/>
          </p:cNvPicPr>
          <p:nvPr/>
        </p:nvPicPr>
        <p:blipFill>
          <a:blip r:embed="rId4"/>
          <a:stretch>
            <a:fillRect/>
          </a:stretch>
        </p:blipFill>
        <p:spPr>
          <a:xfrm>
            <a:off x="1002914" y="4239890"/>
            <a:ext cx="298460" cy="298460"/>
          </a:xfrm>
          <a:prstGeom prst="rect">
            <a:avLst/>
          </a:prstGeom>
        </p:spPr>
      </p:pic>
      <p:sp>
        <p:nvSpPr>
          <p:cNvPr id="22" name="Text 16"/>
          <p:cNvSpPr/>
          <p:nvPr/>
        </p:nvSpPr>
        <p:spPr>
          <a:xfrm>
            <a:off x="841248" y="4828032"/>
            <a:ext cx="3017520" cy="329184"/>
          </a:xfrm>
          <a:prstGeom prst="rect">
            <a:avLst/>
          </a:prstGeom>
          <a:noFill/>
          <a:ln/>
        </p:spPr>
        <p:txBody>
          <a:bodyPr wrap="square" lIns="0" tIns="0" rIns="0" bIns="0" rtlCol="0" anchor="ctr"/>
          <a:lstStyle/>
          <a:p>
            <a:pPr indent="0" marL="0">
              <a:buNone/>
            </a:pPr>
            <a:r>
              <a:rPr lang="en-US" sz="1550" b="1" dirty="0">
                <a:solidFill>
                  <a:srgbClr val="232F3E"/>
                </a:solidFill>
                <a:latin typeface="Cambria" pitchFamily="34" charset="0"/>
                <a:ea typeface="Cambria" pitchFamily="34" charset="-122"/>
                <a:cs typeface="Cambria" pitchFamily="34" charset="-120"/>
              </a:rPr>
              <a:t>E-commerce storefronts</a:t>
            </a:r>
            <a:endParaRPr lang="en-US" sz="1550" dirty="0"/>
          </a:p>
        </p:txBody>
      </p:sp>
      <p:sp>
        <p:nvSpPr>
          <p:cNvPr id="23" name="Text 17"/>
          <p:cNvSpPr/>
          <p:nvPr/>
        </p:nvSpPr>
        <p:spPr>
          <a:xfrm>
            <a:off x="841248" y="5175504"/>
            <a:ext cx="3017520" cy="685800"/>
          </a:xfrm>
          <a:prstGeom prst="rect">
            <a:avLst/>
          </a:prstGeom>
          <a:noFill/>
          <a:ln/>
        </p:spPr>
        <p:txBody>
          <a:bodyPr wrap="square" lIns="0" tIns="0" rIns="0" bIns="0" rtlCol="0" anchor="ctr"/>
          <a:lstStyle/>
          <a:p>
            <a:pPr indent="0" marL="0">
              <a:lnSpc>
                <a:spcPct val="114000"/>
              </a:lnSpc>
              <a:buNone/>
            </a:pPr>
            <a:r>
              <a:rPr lang="en-US" sz="1150" dirty="0">
                <a:solidFill>
                  <a:srgbClr val="5A6B7B"/>
                </a:solidFill>
                <a:latin typeface="Calibri" pitchFamily="34" charset="0"/>
                <a:ea typeface="Calibri" pitchFamily="34" charset="-122"/>
                <a:cs typeface="Calibri" pitchFamily="34" charset="-120"/>
              </a:rPr>
              <a:t>Magento and PrestaShop blueprints with a managed database and a CDN in front.</a:t>
            </a:r>
            <a:endParaRPr lang="en-US" sz="1150" dirty="0"/>
          </a:p>
        </p:txBody>
      </p:sp>
      <p:sp>
        <p:nvSpPr>
          <p:cNvPr id="24" name="Shape 18"/>
          <p:cNvSpPr/>
          <p:nvPr/>
        </p:nvSpPr>
        <p:spPr>
          <a:xfrm>
            <a:off x="4306824" y="3803904"/>
            <a:ext cx="3566160" cy="2066544"/>
          </a:xfrm>
          <a:prstGeom prst="roundRect">
            <a:avLst>
              <a:gd name="adj" fmla="val 3982"/>
            </a:avLst>
          </a:prstGeom>
          <a:solidFill>
            <a:srgbClr val="FFFFFF"/>
          </a:solidFill>
          <a:ln w="12700">
            <a:solidFill>
              <a:srgbClr val="D5DEE5"/>
            </a:solidFill>
            <a:prstDash val="solid"/>
          </a:ln>
          <a:effectLst>
            <a:outerShdw sx="100000" sy="100000" kx="0" ky="0" algn="bl" rotWithShape="0" blurRad="101600" dist="25400" dir="5400000">
              <a:srgbClr val="9AA9B5">
                <a:alpha val="25000"/>
              </a:srgbClr>
            </a:outerShdw>
          </a:effectLst>
        </p:spPr>
      </p:sp>
      <p:sp>
        <p:nvSpPr>
          <p:cNvPr id="25" name="Shape 19"/>
          <p:cNvSpPr/>
          <p:nvPr/>
        </p:nvSpPr>
        <p:spPr>
          <a:xfrm>
            <a:off x="4581144" y="4078224"/>
            <a:ext cx="621792" cy="621792"/>
          </a:xfrm>
          <a:prstGeom prst="ellipse">
            <a:avLst/>
          </a:prstGeom>
          <a:solidFill>
            <a:srgbClr val="232F3E"/>
          </a:solidFill>
          <a:ln/>
        </p:spPr>
      </p:sp>
      <p:pic>
        <p:nvPicPr>
          <p:cNvPr id="26" name="Image 4" descr="/home/user/PBL-Proj/lightsail/assets/icon-cap.png">    </p:cNvPr>
          <p:cNvPicPr>
            <a:picLocks noChangeAspect="1"/>
          </p:cNvPicPr>
          <p:nvPr/>
        </p:nvPicPr>
        <p:blipFill>
          <a:blip r:embed="rId5"/>
          <a:stretch>
            <a:fillRect/>
          </a:stretch>
        </p:blipFill>
        <p:spPr>
          <a:xfrm>
            <a:off x="4742810" y="4239890"/>
            <a:ext cx="298460" cy="298460"/>
          </a:xfrm>
          <a:prstGeom prst="rect">
            <a:avLst/>
          </a:prstGeom>
        </p:spPr>
      </p:pic>
      <p:sp>
        <p:nvSpPr>
          <p:cNvPr id="27" name="Text 20"/>
          <p:cNvSpPr/>
          <p:nvPr/>
        </p:nvSpPr>
        <p:spPr>
          <a:xfrm>
            <a:off x="4581144" y="4828032"/>
            <a:ext cx="3017520" cy="329184"/>
          </a:xfrm>
          <a:prstGeom prst="rect">
            <a:avLst/>
          </a:prstGeom>
          <a:noFill/>
          <a:ln/>
        </p:spPr>
        <p:txBody>
          <a:bodyPr wrap="square" lIns="0" tIns="0" rIns="0" bIns="0" rtlCol="0" anchor="ctr"/>
          <a:lstStyle/>
          <a:p>
            <a:pPr indent="0" marL="0">
              <a:buNone/>
            </a:pPr>
            <a:r>
              <a:rPr lang="en-US" sz="1550" b="1" dirty="0">
                <a:solidFill>
                  <a:srgbClr val="232F3E"/>
                </a:solidFill>
                <a:latin typeface="Cambria" pitchFamily="34" charset="0"/>
                <a:ea typeface="Cambria" pitchFamily="34" charset="-122"/>
                <a:cs typeface="Cambria" pitchFamily="34" charset="-120"/>
              </a:rPr>
              <a:t>Learning and coursework</a:t>
            </a:r>
            <a:endParaRPr lang="en-US" sz="1550" dirty="0"/>
          </a:p>
        </p:txBody>
      </p:sp>
      <p:sp>
        <p:nvSpPr>
          <p:cNvPr id="28" name="Text 21"/>
          <p:cNvSpPr/>
          <p:nvPr/>
        </p:nvSpPr>
        <p:spPr>
          <a:xfrm>
            <a:off x="4581144" y="5175504"/>
            <a:ext cx="3017520" cy="685800"/>
          </a:xfrm>
          <a:prstGeom prst="rect">
            <a:avLst/>
          </a:prstGeom>
          <a:noFill/>
          <a:ln/>
        </p:spPr>
        <p:txBody>
          <a:bodyPr wrap="square" lIns="0" tIns="0" rIns="0" bIns="0" rtlCol="0" anchor="ctr"/>
          <a:lstStyle/>
          <a:p>
            <a:pPr indent="0" marL="0">
              <a:lnSpc>
                <a:spcPct val="114000"/>
              </a:lnSpc>
              <a:buNone/>
            </a:pPr>
            <a:r>
              <a:rPr lang="en-US" sz="1150" dirty="0">
                <a:solidFill>
                  <a:srgbClr val="5A6B7B"/>
                </a:solidFill>
                <a:latin typeface="Calibri" pitchFamily="34" charset="0"/>
                <a:ea typeface="Calibri" pitchFamily="34" charset="-122"/>
                <a:cs typeface="Calibri" pitchFamily="34" charset="-120"/>
              </a:rPr>
              <a:t>A genuine cloud server for the price of a coffee — the fastest route into AWS for a student.</a:t>
            </a:r>
            <a:endParaRPr lang="en-US" sz="1150" dirty="0"/>
          </a:p>
        </p:txBody>
      </p:sp>
      <p:sp>
        <p:nvSpPr>
          <p:cNvPr id="29" name="Shape 22"/>
          <p:cNvSpPr/>
          <p:nvPr/>
        </p:nvSpPr>
        <p:spPr>
          <a:xfrm>
            <a:off x="8046720" y="3803904"/>
            <a:ext cx="3566160" cy="2066544"/>
          </a:xfrm>
          <a:prstGeom prst="roundRect">
            <a:avLst>
              <a:gd name="adj" fmla="val 3982"/>
            </a:avLst>
          </a:prstGeom>
          <a:solidFill>
            <a:srgbClr val="FFFFFF"/>
          </a:solidFill>
          <a:ln w="12700">
            <a:solidFill>
              <a:srgbClr val="D5DEE5"/>
            </a:solidFill>
            <a:prstDash val="solid"/>
          </a:ln>
          <a:effectLst>
            <a:outerShdw sx="100000" sy="100000" kx="0" ky="0" algn="bl" rotWithShape="0" blurRad="101600" dist="25400" dir="5400000">
              <a:srgbClr val="9AA9B5">
                <a:alpha val="25000"/>
              </a:srgbClr>
            </a:outerShdw>
          </a:effectLst>
        </p:spPr>
      </p:sp>
      <p:sp>
        <p:nvSpPr>
          <p:cNvPr id="30" name="Shape 23"/>
          <p:cNvSpPr/>
          <p:nvPr/>
        </p:nvSpPr>
        <p:spPr>
          <a:xfrm>
            <a:off x="8321040" y="4078224"/>
            <a:ext cx="621792" cy="621792"/>
          </a:xfrm>
          <a:prstGeom prst="ellipse">
            <a:avLst/>
          </a:prstGeom>
          <a:solidFill>
            <a:srgbClr val="00A1C9"/>
          </a:solidFill>
          <a:ln/>
        </p:spPr>
      </p:sp>
      <p:pic>
        <p:nvPicPr>
          <p:cNvPr id="31" name="Image 5" descr="/home/user/PBL-Proj/lightsail/assets/icon-gauge.png">    </p:cNvPr>
          <p:cNvPicPr>
            <a:picLocks noChangeAspect="1"/>
          </p:cNvPicPr>
          <p:nvPr/>
        </p:nvPicPr>
        <p:blipFill>
          <a:blip r:embed="rId6"/>
          <a:stretch>
            <a:fillRect/>
          </a:stretch>
        </p:blipFill>
        <p:spPr>
          <a:xfrm>
            <a:off x="8482706" y="4239890"/>
            <a:ext cx="298460" cy="298460"/>
          </a:xfrm>
          <a:prstGeom prst="rect">
            <a:avLst/>
          </a:prstGeom>
        </p:spPr>
      </p:pic>
      <p:sp>
        <p:nvSpPr>
          <p:cNvPr id="32" name="Text 24"/>
          <p:cNvSpPr/>
          <p:nvPr/>
        </p:nvSpPr>
        <p:spPr>
          <a:xfrm>
            <a:off x="8321040" y="4828032"/>
            <a:ext cx="3017520" cy="329184"/>
          </a:xfrm>
          <a:prstGeom prst="rect">
            <a:avLst/>
          </a:prstGeom>
          <a:noFill/>
          <a:ln/>
        </p:spPr>
        <p:txBody>
          <a:bodyPr wrap="square" lIns="0" tIns="0" rIns="0" bIns="0" rtlCol="0" anchor="ctr"/>
          <a:lstStyle/>
          <a:p>
            <a:pPr indent="0" marL="0">
              <a:buNone/>
            </a:pPr>
            <a:r>
              <a:rPr lang="en-US" sz="1550" b="1" dirty="0">
                <a:solidFill>
                  <a:srgbClr val="232F3E"/>
                </a:solidFill>
                <a:latin typeface="Cambria" pitchFamily="34" charset="0"/>
                <a:ea typeface="Cambria" pitchFamily="34" charset="-122"/>
                <a:cs typeface="Cambria" pitchFamily="34" charset="-120"/>
              </a:rPr>
              <a:t>Research computing</a:t>
            </a:r>
            <a:endParaRPr lang="en-US" sz="1550" dirty="0"/>
          </a:p>
        </p:txBody>
      </p:sp>
      <p:sp>
        <p:nvSpPr>
          <p:cNvPr id="33" name="Text 25"/>
          <p:cNvSpPr/>
          <p:nvPr/>
        </p:nvSpPr>
        <p:spPr>
          <a:xfrm>
            <a:off x="8321040" y="5175504"/>
            <a:ext cx="3017520" cy="685800"/>
          </a:xfrm>
          <a:prstGeom prst="rect">
            <a:avLst/>
          </a:prstGeom>
          <a:noFill/>
          <a:ln/>
        </p:spPr>
        <p:txBody>
          <a:bodyPr wrap="square" lIns="0" tIns="0" rIns="0" bIns="0" rtlCol="0" anchor="ctr"/>
          <a:lstStyle/>
          <a:p>
            <a:pPr indent="0" marL="0">
              <a:lnSpc>
                <a:spcPct val="114000"/>
              </a:lnSpc>
              <a:buNone/>
            </a:pPr>
            <a:r>
              <a:rPr lang="en-US" sz="1150" dirty="0">
                <a:solidFill>
                  <a:srgbClr val="5A6B7B"/>
                </a:solidFill>
                <a:latin typeface="Calibri" pitchFamily="34" charset="0"/>
                <a:ea typeface="Calibri" pitchFamily="34" charset="-122"/>
                <a:cs typeface="Calibri" pitchFamily="34" charset="-120"/>
              </a:rPr>
              <a:t>Lightsail for Research packages CPU and GPU workstations with the same fixed-price model.</a:t>
            </a:r>
            <a:endParaRPr lang="en-US" sz="1150" dirty="0"/>
          </a:p>
        </p:txBody>
      </p:sp>
      <p:sp>
        <p:nvSpPr>
          <p:cNvPr id="34" name="Text 26"/>
          <p:cNvSpPr/>
          <p:nvPr/>
        </p:nvSpPr>
        <p:spPr>
          <a:xfrm>
            <a:off x="566928" y="5961888"/>
            <a:ext cx="11055096" cy="292608"/>
          </a:xfrm>
          <a:prstGeom prst="rect">
            <a:avLst/>
          </a:prstGeom>
          <a:noFill/>
          <a:ln/>
        </p:spPr>
        <p:txBody>
          <a:bodyPr wrap="square" lIns="0" tIns="0" rIns="0" bIns="0" rtlCol="0" anchor="ctr"/>
          <a:lstStyle/>
          <a:p>
            <a:pPr indent="0" marL="0">
              <a:buNone/>
            </a:pPr>
            <a:r>
              <a:rPr lang="en-US" sz="1150" i="1" dirty="0">
                <a:solidFill>
                  <a:srgbClr val="232F3E"/>
                </a:solidFill>
                <a:latin typeface="Calibri" pitchFamily="34" charset="0"/>
                <a:ea typeface="Calibri" pitchFamily="34" charset="-122"/>
                <a:cs typeface="Calibri" pitchFamily="34" charset="-120"/>
              </a:rPr>
              <a:t>The common thread is a workload whose ceiling is known in advance. Lightsail is a poor fit the moment demand becomes genuinely unpredictable.</a:t>
            </a:r>
            <a:endParaRPr lang="en-US" sz="1150" dirty="0"/>
          </a:p>
        </p:txBody>
      </p:sp>
      <p:sp>
        <p:nvSpPr>
          <p:cNvPr id="35" name="Text 27"/>
          <p:cNvSpPr/>
          <p:nvPr/>
        </p:nvSpPr>
        <p:spPr>
          <a:xfrm>
            <a:off x="566928" y="6437376"/>
            <a:ext cx="7772400" cy="256032"/>
          </a:xfrm>
          <a:prstGeom prst="rect">
            <a:avLst/>
          </a:prstGeom>
          <a:noFill/>
          <a:ln/>
        </p:spPr>
        <p:txBody>
          <a:bodyPr wrap="square" lIns="0" tIns="0" rIns="0" bIns="0" rtlCol="0" anchor="ctr"/>
          <a:lstStyle/>
          <a:p>
            <a:pPr algn="l" indent="0" marL="0">
              <a:buNone/>
            </a:pPr>
            <a:r>
              <a:rPr lang="en-US" sz="950" dirty="0">
                <a:solidFill>
                  <a:srgbClr val="9AA9B5"/>
                </a:solidFill>
                <a:latin typeface="Calibri" pitchFamily="34" charset="0"/>
                <a:ea typeface="Calibri" pitchFamily="34" charset="-122"/>
                <a:cs typeface="Calibri" pitchFamily="34" charset="-120"/>
              </a:rPr>
              <a:t>Amazon Lightsail (PaaS-Lite)  ·  Hridiyansh Shukla  ·  2427030591</a:t>
            </a:r>
            <a:endParaRPr lang="en-US" sz="950" dirty="0"/>
          </a:p>
        </p:txBody>
      </p:sp>
      <p:sp>
        <p:nvSpPr>
          <p:cNvPr id="36" name="Text 28"/>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950" dirty="0">
                <a:solidFill>
                  <a:srgbClr val="9AA9B5"/>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algn="l" indent="0" marL="0">
              <a:buNone/>
            </a:pPr>
            <a:r>
              <a:rPr lang="en-US" sz="1100" b="1" spc="220" kern="0" dirty="0">
                <a:solidFill>
                  <a:srgbClr val="FF9900"/>
                </a:solidFill>
                <a:latin typeface="Calibri" pitchFamily="34" charset="0"/>
                <a:ea typeface="Calibri" pitchFamily="34" charset="-122"/>
                <a:cs typeface="Calibri" pitchFamily="34" charset="-120"/>
              </a:rPr>
              <a:t>CRITIQUE</a:t>
            </a:r>
            <a:endParaRPr lang="en-US" sz="1100" dirty="0"/>
          </a:p>
        </p:txBody>
      </p:sp>
      <p:sp>
        <p:nvSpPr>
          <p:cNvPr id="3" name="Text 1"/>
          <p:cNvSpPr/>
          <p:nvPr/>
        </p:nvSpPr>
        <p:spPr>
          <a:xfrm>
            <a:off x="566928" y="566928"/>
            <a:ext cx="11057839" cy="50292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What you give up for the simplicity</a:t>
            </a:r>
            <a:endParaRPr lang="en-US" sz="3000" dirty="0"/>
          </a:p>
        </p:txBody>
      </p:sp>
      <p:sp>
        <p:nvSpPr>
          <p:cNvPr id="4" name="Shape 2"/>
          <p:cNvSpPr/>
          <p:nvPr/>
        </p:nvSpPr>
        <p:spPr>
          <a:xfrm>
            <a:off x="566928" y="1444752"/>
            <a:ext cx="5440680" cy="3977640"/>
          </a:xfrm>
          <a:prstGeom prst="roundRect">
            <a:avLst>
              <a:gd name="adj" fmla="val 2069"/>
            </a:avLst>
          </a:prstGeom>
          <a:solidFill>
            <a:srgbClr val="FFFFFF"/>
          </a:solidFill>
          <a:ln w="12700">
            <a:solidFill>
              <a:srgbClr val="A8342B"/>
            </a:solidFill>
            <a:prstDash val="solid"/>
          </a:ln>
          <a:effectLst>
            <a:outerShdw sx="100000" sy="100000" kx="0" ky="0" algn="bl" rotWithShape="0" blurRad="101600" dist="25400" dir="5400000">
              <a:srgbClr val="9AA9B5">
                <a:alpha val="25000"/>
              </a:srgbClr>
            </a:outerShdw>
          </a:effectLst>
        </p:spPr>
      </p:sp>
      <p:sp>
        <p:nvSpPr>
          <p:cNvPr id="5" name="Shape 3"/>
          <p:cNvSpPr/>
          <p:nvPr/>
        </p:nvSpPr>
        <p:spPr>
          <a:xfrm>
            <a:off x="841248" y="1664208"/>
            <a:ext cx="512064" cy="512064"/>
          </a:xfrm>
          <a:prstGeom prst="ellipse">
            <a:avLst/>
          </a:prstGeom>
          <a:solidFill>
            <a:srgbClr val="A8342B"/>
          </a:solidFill>
          <a:ln/>
        </p:spPr>
      </p:sp>
      <p:pic>
        <p:nvPicPr>
          <p:cNvPr id="6" name="Image 0" descr="/home/user/PBL-Proj/lightsail/assets/icon-warn.png">    </p:cNvPr>
          <p:cNvPicPr>
            <a:picLocks noChangeAspect="1"/>
          </p:cNvPicPr>
          <p:nvPr/>
        </p:nvPicPr>
        <p:blipFill>
          <a:blip r:embed="rId1"/>
          <a:stretch>
            <a:fillRect/>
          </a:stretch>
        </p:blipFill>
        <p:spPr>
          <a:xfrm>
            <a:off x="974385" y="1797345"/>
            <a:ext cx="245791" cy="245791"/>
          </a:xfrm>
          <a:prstGeom prst="rect">
            <a:avLst/>
          </a:prstGeom>
        </p:spPr>
      </p:pic>
      <p:sp>
        <p:nvSpPr>
          <p:cNvPr id="7" name="Text 4"/>
          <p:cNvSpPr/>
          <p:nvPr/>
        </p:nvSpPr>
        <p:spPr>
          <a:xfrm>
            <a:off x="1481328" y="1719072"/>
            <a:ext cx="4206240" cy="310896"/>
          </a:xfrm>
          <a:prstGeom prst="rect">
            <a:avLst/>
          </a:prstGeom>
          <a:noFill/>
          <a:ln/>
        </p:spPr>
        <p:txBody>
          <a:bodyPr wrap="square" lIns="0" tIns="0" rIns="0" bIns="0" rtlCol="0" anchor="ctr"/>
          <a:lstStyle/>
          <a:p>
            <a:pPr indent="0" marL="0">
              <a:buNone/>
            </a:pPr>
            <a:r>
              <a:rPr lang="en-US" sz="1700" b="1" dirty="0">
                <a:solidFill>
                  <a:srgbClr val="232F3E"/>
                </a:solidFill>
                <a:latin typeface="Cambria" pitchFamily="34" charset="0"/>
                <a:ea typeface="Cambria" pitchFamily="34" charset="-122"/>
                <a:cs typeface="Cambria" pitchFamily="34" charset="-120"/>
              </a:rPr>
              <a:t>Architectural limits</a:t>
            </a:r>
            <a:endParaRPr lang="en-US" sz="1700" dirty="0"/>
          </a:p>
        </p:txBody>
      </p:sp>
      <p:sp>
        <p:nvSpPr>
          <p:cNvPr id="8" name="Text 5"/>
          <p:cNvSpPr/>
          <p:nvPr/>
        </p:nvSpPr>
        <p:spPr>
          <a:xfrm>
            <a:off x="859536" y="2377440"/>
            <a:ext cx="4846320" cy="2926080"/>
          </a:xfrm>
          <a:prstGeom prst="rect">
            <a:avLst/>
          </a:prstGeom>
          <a:noFill/>
          <a:ln/>
        </p:spPr>
        <p:txBody>
          <a:bodyPr wrap="square" lIns="0" tIns="0" rIns="0" bIns="0" rtlCol="0" anchor="t"/>
          <a:lstStyle/>
          <a:p>
            <a:pPr marL="342900" indent="-342900">
              <a:lnSpc>
                <a:spcPct val="105000"/>
              </a:lnSpc>
              <a:spcAft>
                <a:spcPts val="900"/>
              </a:spcAft>
              <a:buSzPct val="100000"/>
              <a:buChar char="●"/>
            </a:pPr>
            <a:r>
              <a:rPr lang="en-US" sz="1200" dirty="0">
                <a:solidFill>
                  <a:srgbClr val="232F3E"/>
                </a:solidFill>
                <a:latin typeface="Calibri" pitchFamily="34" charset="0"/>
                <a:ea typeface="Calibri" pitchFamily="34" charset="-122"/>
                <a:cs typeface="Calibri" pitchFamily="34" charset="-120"/>
              </a:rPr>
              <a:t>No auto scaling for instances — capacity is a manual decision</a:t>
            </a:r>
            <a:endParaRPr lang="en-US" sz="1200" dirty="0"/>
          </a:p>
          <a:p>
            <a:pPr marL="342900" indent="-342900">
              <a:lnSpc>
                <a:spcPct val="105000"/>
              </a:lnSpc>
              <a:spcAft>
                <a:spcPts val="900"/>
              </a:spcAft>
              <a:buSzPct val="100000"/>
              <a:buChar char="●"/>
            </a:pPr>
            <a:r>
              <a:rPr lang="en-US" sz="1200" dirty="0">
                <a:solidFill>
                  <a:srgbClr val="232F3E"/>
                </a:solidFill>
                <a:latin typeface="Calibri" pitchFamily="34" charset="0"/>
                <a:ea typeface="Calibri" pitchFamily="34" charset="-122"/>
                <a:cs typeface="Calibri" pitchFamily="34" charset="-120"/>
              </a:rPr>
              <a:t>No Reserved Instances, Savings Plans or Spot pricing</a:t>
            </a:r>
            <a:endParaRPr lang="en-US" sz="1200" dirty="0"/>
          </a:p>
          <a:p>
            <a:pPr marL="342900" indent="-342900">
              <a:lnSpc>
                <a:spcPct val="105000"/>
              </a:lnSpc>
              <a:spcAft>
                <a:spcPts val="900"/>
              </a:spcAft>
              <a:buSzPct val="100000"/>
              <a:buChar char="●"/>
            </a:pPr>
            <a:r>
              <a:rPr lang="en-US" sz="1200" dirty="0">
                <a:solidFill>
                  <a:srgbClr val="232F3E"/>
                </a:solidFill>
                <a:latin typeface="Calibri" pitchFamily="34" charset="0"/>
                <a:ea typeface="Calibri" pitchFamily="34" charset="-122"/>
                <a:cs typeface="Calibri" pitchFamily="34" charset="-120"/>
              </a:rPr>
              <a:t>Coarse IAM; unsuitable where least-privilege access is audited</a:t>
            </a:r>
            <a:endParaRPr lang="en-US" sz="1200" dirty="0"/>
          </a:p>
          <a:p>
            <a:pPr marL="342900" indent="-342900">
              <a:lnSpc>
                <a:spcPct val="105000"/>
              </a:lnSpc>
              <a:spcAft>
                <a:spcPts val="900"/>
              </a:spcAft>
              <a:buSzPct val="100000"/>
              <a:buChar char="●"/>
            </a:pPr>
            <a:r>
              <a:rPr lang="en-US" sz="1200" dirty="0">
                <a:solidFill>
                  <a:srgbClr val="232F3E"/>
                </a:solidFill>
                <a:latin typeface="Calibri" pitchFamily="34" charset="0"/>
                <a:ea typeface="Calibri" pitchFamily="34" charset="-122"/>
                <a:cs typeface="Calibri" pitchFamily="34" charset="-120"/>
              </a:rPr>
              <a:t>Integration with the wider AWS estate goes through VPC peering only</a:t>
            </a:r>
            <a:endParaRPr lang="en-US" sz="1200" dirty="0"/>
          </a:p>
          <a:p>
            <a:pPr marL="342900" indent="-342900">
              <a:lnSpc>
                <a:spcPct val="105000"/>
              </a:lnSpc>
              <a:spcAft>
                <a:spcPts val="900"/>
              </a:spcAft>
              <a:buSzPct val="100000"/>
              <a:buChar char="●"/>
            </a:pPr>
            <a:r>
              <a:rPr lang="en-US" sz="1200" dirty="0">
                <a:solidFill>
                  <a:srgbClr val="232F3E"/>
                </a:solidFill>
                <a:latin typeface="Calibri" pitchFamily="34" charset="0"/>
                <a:ea typeface="Calibri" pitchFamily="34" charset="-122"/>
                <a:cs typeface="Calibri" pitchFamily="34" charset="-120"/>
              </a:rPr>
              <a:t>Entry bundles run on burstable CPU — sustained load throttles</a:t>
            </a:r>
            <a:endParaRPr lang="en-US" sz="1200" dirty="0"/>
          </a:p>
        </p:txBody>
      </p:sp>
      <p:sp>
        <p:nvSpPr>
          <p:cNvPr id="9" name="Shape 6"/>
          <p:cNvSpPr/>
          <p:nvPr/>
        </p:nvSpPr>
        <p:spPr>
          <a:xfrm>
            <a:off x="6400800" y="1444752"/>
            <a:ext cx="5221224" cy="3977640"/>
          </a:xfrm>
          <a:prstGeom prst="roundRect">
            <a:avLst>
              <a:gd name="adj" fmla="val 2069"/>
            </a:avLst>
          </a:prstGeom>
          <a:solidFill>
            <a:srgbClr val="FFFFFF"/>
          </a:solidFill>
          <a:ln w="12700">
            <a:solidFill>
              <a:srgbClr val="FF9900"/>
            </a:solidFill>
            <a:prstDash val="solid"/>
          </a:ln>
          <a:effectLst>
            <a:outerShdw sx="100000" sy="100000" kx="0" ky="0" algn="bl" rotWithShape="0" blurRad="101600" dist="25400" dir="5400000">
              <a:srgbClr val="9AA9B5">
                <a:alpha val="25000"/>
              </a:srgbClr>
            </a:outerShdw>
          </a:effectLst>
        </p:spPr>
      </p:sp>
      <p:sp>
        <p:nvSpPr>
          <p:cNvPr id="10" name="Shape 7"/>
          <p:cNvSpPr/>
          <p:nvPr/>
        </p:nvSpPr>
        <p:spPr>
          <a:xfrm>
            <a:off x="6675120" y="1664208"/>
            <a:ext cx="512064" cy="512064"/>
          </a:xfrm>
          <a:prstGeom prst="ellipse">
            <a:avLst/>
          </a:prstGeom>
          <a:solidFill>
            <a:srgbClr val="FF9900"/>
          </a:solidFill>
          <a:ln/>
        </p:spPr>
      </p:sp>
      <p:pic>
        <p:nvPicPr>
          <p:cNvPr id="11" name="Image 1" descr="/home/user/PBL-Proj/lightsail/assets/icon-tag.png">    </p:cNvPr>
          <p:cNvPicPr>
            <a:picLocks noChangeAspect="1"/>
          </p:cNvPicPr>
          <p:nvPr/>
        </p:nvPicPr>
        <p:blipFill>
          <a:blip r:embed="rId2"/>
          <a:stretch>
            <a:fillRect/>
          </a:stretch>
        </p:blipFill>
        <p:spPr>
          <a:xfrm>
            <a:off x="6808257" y="1797345"/>
            <a:ext cx="245791" cy="245791"/>
          </a:xfrm>
          <a:prstGeom prst="rect">
            <a:avLst/>
          </a:prstGeom>
        </p:spPr>
      </p:pic>
      <p:sp>
        <p:nvSpPr>
          <p:cNvPr id="12" name="Text 8"/>
          <p:cNvSpPr/>
          <p:nvPr/>
        </p:nvSpPr>
        <p:spPr>
          <a:xfrm>
            <a:off x="7315200" y="1719072"/>
            <a:ext cx="4023360" cy="310896"/>
          </a:xfrm>
          <a:prstGeom prst="rect">
            <a:avLst/>
          </a:prstGeom>
          <a:noFill/>
          <a:ln/>
        </p:spPr>
        <p:txBody>
          <a:bodyPr wrap="square" lIns="0" tIns="0" rIns="0" bIns="0" rtlCol="0" anchor="ctr"/>
          <a:lstStyle/>
          <a:p>
            <a:pPr indent="0" marL="0">
              <a:buNone/>
            </a:pPr>
            <a:r>
              <a:rPr lang="en-US" sz="1700" b="1" dirty="0">
                <a:solidFill>
                  <a:srgbClr val="232F3E"/>
                </a:solidFill>
                <a:latin typeface="Cambria" pitchFamily="34" charset="0"/>
                <a:ea typeface="Cambria" pitchFamily="34" charset="-122"/>
                <a:cs typeface="Cambria" pitchFamily="34" charset="-120"/>
              </a:rPr>
              <a:t>Operational and commercial limits</a:t>
            </a:r>
            <a:endParaRPr lang="en-US" sz="1700" dirty="0"/>
          </a:p>
        </p:txBody>
      </p:sp>
      <p:sp>
        <p:nvSpPr>
          <p:cNvPr id="13" name="Text 9"/>
          <p:cNvSpPr/>
          <p:nvPr/>
        </p:nvSpPr>
        <p:spPr>
          <a:xfrm>
            <a:off x="6693408" y="2377440"/>
            <a:ext cx="4663440" cy="2926080"/>
          </a:xfrm>
          <a:prstGeom prst="rect">
            <a:avLst/>
          </a:prstGeom>
          <a:noFill/>
          <a:ln/>
        </p:spPr>
        <p:txBody>
          <a:bodyPr wrap="square" lIns="0" tIns="0" rIns="0" bIns="0" rtlCol="0" anchor="t"/>
          <a:lstStyle/>
          <a:p>
            <a:pPr marL="342900" indent="-342900">
              <a:lnSpc>
                <a:spcPct val="105000"/>
              </a:lnSpc>
              <a:spcAft>
                <a:spcPts val="900"/>
              </a:spcAft>
              <a:buSzPct val="100000"/>
              <a:buChar char="●"/>
            </a:pPr>
            <a:r>
              <a:rPr lang="en-US" sz="1200" dirty="0">
                <a:solidFill>
                  <a:srgbClr val="232F3E"/>
                </a:solidFill>
                <a:latin typeface="Calibri" pitchFamily="34" charset="0"/>
                <a:ea typeface="Calibri" pitchFamily="34" charset="-122"/>
                <a:cs typeface="Calibri" pitchFamily="34" charset="-120"/>
              </a:rPr>
              <a:t>Default quotas: 20 instances, 5 static IPs and 6 DNS zones per account</a:t>
            </a:r>
            <a:endParaRPr lang="en-US" sz="1200" dirty="0"/>
          </a:p>
          <a:p>
            <a:pPr marL="342900" indent="-342900">
              <a:lnSpc>
                <a:spcPct val="105000"/>
              </a:lnSpc>
              <a:spcAft>
                <a:spcPts val="900"/>
              </a:spcAft>
              <a:buSzPct val="100000"/>
              <a:buChar char="●"/>
            </a:pPr>
            <a:r>
              <a:rPr lang="en-US" sz="1200" dirty="0">
                <a:solidFill>
                  <a:srgbClr val="232F3E"/>
                </a:solidFill>
                <a:latin typeface="Calibri" pitchFamily="34" charset="0"/>
                <a:ea typeface="Calibri" pitchFamily="34" charset="-122"/>
                <a:cs typeface="Calibri" pitchFamily="34" charset="-120"/>
              </a:rPr>
              <a:t>Exceeding the transfer allowance is billed per gigabyte</a:t>
            </a:r>
            <a:endParaRPr lang="en-US" sz="1200" dirty="0"/>
          </a:p>
          <a:p>
            <a:pPr marL="342900" indent="-342900">
              <a:lnSpc>
                <a:spcPct val="105000"/>
              </a:lnSpc>
              <a:spcAft>
                <a:spcPts val="900"/>
              </a:spcAft>
              <a:buSzPct val="100000"/>
              <a:buChar char="●"/>
            </a:pPr>
            <a:r>
              <a:rPr lang="en-US" sz="1200" dirty="0">
                <a:solidFill>
                  <a:srgbClr val="232F3E"/>
                </a:solidFill>
                <a:latin typeface="Calibri" pitchFamily="34" charset="0"/>
                <a:ea typeface="Calibri" pitchFamily="34" charset="-122"/>
                <a:cs typeface="Calibri" pitchFamily="34" charset="-120"/>
              </a:rPr>
              <a:t>Patching the OS and application inside a blueprint remains your job</a:t>
            </a:r>
            <a:endParaRPr lang="en-US" sz="1200" dirty="0"/>
          </a:p>
          <a:p>
            <a:pPr marL="342900" indent="-342900">
              <a:lnSpc>
                <a:spcPct val="105000"/>
              </a:lnSpc>
              <a:spcAft>
                <a:spcPts val="900"/>
              </a:spcAft>
              <a:buSzPct val="100000"/>
              <a:buChar char="●"/>
            </a:pPr>
            <a:r>
              <a:rPr lang="en-US" sz="1200" dirty="0">
                <a:solidFill>
                  <a:srgbClr val="232F3E"/>
                </a:solidFill>
                <a:latin typeface="Calibri" pitchFamily="34" charset="0"/>
                <a:ea typeface="Calibri" pitchFamily="34" charset="-122"/>
                <a:cs typeface="Calibri" pitchFamily="34" charset="-120"/>
              </a:rPr>
              <a:t>Bitnami-packaged blueprints are being retired through 2026–2027</a:t>
            </a:r>
            <a:endParaRPr lang="en-US" sz="1200" dirty="0"/>
          </a:p>
          <a:p>
            <a:pPr marL="342900" indent="-342900">
              <a:lnSpc>
                <a:spcPct val="105000"/>
              </a:lnSpc>
              <a:spcAft>
                <a:spcPts val="900"/>
              </a:spcAft>
              <a:buSzPct val="100000"/>
              <a:buChar char="●"/>
            </a:pPr>
            <a:r>
              <a:rPr lang="en-US" sz="1200" dirty="0">
                <a:solidFill>
                  <a:srgbClr val="232F3E"/>
                </a:solidFill>
                <a:latin typeface="Calibri" pitchFamily="34" charset="0"/>
                <a:ea typeface="Calibri" pitchFamily="34" charset="-122"/>
                <a:cs typeface="Calibri" pitchFamily="34" charset="-120"/>
              </a:rPr>
              <a:t>Not available in every AWS Region, unlike EC2</a:t>
            </a:r>
            <a:endParaRPr lang="en-US" sz="1200" dirty="0"/>
          </a:p>
        </p:txBody>
      </p:sp>
      <p:sp>
        <p:nvSpPr>
          <p:cNvPr id="14" name="Shape 10"/>
          <p:cNvSpPr/>
          <p:nvPr/>
        </p:nvSpPr>
        <p:spPr>
          <a:xfrm>
            <a:off x="566928" y="5596128"/>
            <a:ext cx="11055096" cy="694944"/>
          </a:xfrm>
          <a:prstGeom prst="roundRect">
            <a:avLst>
              <a:gd name="adj" fmla="val 11842"/>
            </a:avLst>
          </a:prstGeom>
          <a:solidFill>
            <a:srgbClr val="232F3E"/>
          </a:solidFill>
          <a:ln w="12700">
            <a:solidFill>
              <a:srgbClr val="232F3E"/>
            </a:solidFill>
            <a:prstDash val="solid"/>
          </a:ln>
        </p:spPr>
      </p:sp>
      <p:sp>
        <p:nvSpPr>
          <p:cNvPr id="15" name="Text 11"/>
          <p:cNvSpPr/>
          <p:nvPr/>
        </p:nvSpPr>
        <p:spPr>
          <a:xfrm>
            <a:off x="795528" y="5596128"/>
            <a:ext cx="10607040" cy="69494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None of these is a defect. They are the deliberate cost of a fixed price — and each one is a signal that the workload may have outgrown the service.</a:t>
            </a:r>
            <a:endParaRPr lang="en-US" sz="1250" dirty="0"/>
          </a:p>
        </p:txBody>
      </p:sp>
      <p:sp>
        <p:nvSpPr>
          <p:cNvPr id="16" name="Text 12"/>
          <p:cNvSpPr/>
          <p:nvPr/>
        </p:nvSpPr>
        <p:spPr>
          <a:xfrm>
            <a:off x="566928" y="6437376"/>
            <a:ext cx="7772400" cy="256032"/>
          </a:xfrm>
          <a:prstGeom prst="rect">
            <a:avLst/>
          </a:prstGeom>
          <a:noFill/>
          <a:ln/>
        </p:spPr>
        <p:txBody>
          <a:bodyPr wrap="square" lIns="0" tIns="0" rIns="0" bIns="0" rtlCol="0" anchor="ctr"/>
          <a:lstStyle/>
          <a:p>
            <a:pPr algn="l" indent="0" marL="0">
              <a:buNone/>
            </a:pPr>
            <a:r>
              <a:rPr lang="en-US" sz="950" dirty="0">
                <a:solidFill>
                  <a:srgbClr val="9AA9B5"/>
                </a:solidFill>
                <a:latin typeface="Calibri" pitchFamily="34" charset="0"/>
                <a:ea typeface="Calibri" pitchFamily="34" charset="-122"/>
                <a:cs typeface="Calibri" pitchFamily="34" charset="-120"/>
              </a:rPr>
              <a:t>Amazon Lightsail (PaaS-Lite)  ·  Hridiyansh Shukla  ·  2427030591</a:t>
            </a:r>
            <a:endParaRPr lang="en-US" sz="950" dirty="0"/>
          </a:p>
        </p:txBody>
      </p:sp>
      <p:sp>
        <p:nvSpPr>
          <p:cNvPr id="17" name="Text 13"/>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950" dirty="0">
                <a:solidFill>
                  <a:srgbClr val="9AA9B5"/>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algn="l" indent="0" marL="0">
              <a:buNone/>
            </a:pPr>
            <a:r>
              <a:rPr lang="en-US" sz="1100" b="1" spc="220" kern="0" dirty="0">
                <a:solidFill>
                  <a:srgbClr val="FF9900"/>
                </a:solidFill>
                <a:latin typeface="Calibri" pitchFamily="34" charset="0"/>
                <a:ea typeface="Calibri" pitchFamily="34" charset="-122"/>
                <a:cs typeface="Calibri" pitchFamily="34" charset="-120"/>
              </a:rPr>
              <a:t>LIFECYCLE</a:t>
            </a:r>
            <a:endParaRPr lang="en-US" sz="1100" dirty="0"/>
          </a:p>
        </p:txBody>
      </p:sp>
      <p:sp>
        <p:nvSpPr>
          <p:cNvPr id="3" name="Text 1"/>
          <p:cNvSpPr/>
          <p:nvPr/>
        </p:nvSpPr>
        <p:spPr>
          <a:xfrm>
            <a:off x="566928" y="566928"/>
            <a:ext cx="11057839" cy="50292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Knowing when to leave — and how</a:t>
            </a:r>
            <a:endParaRPr lang="en-US" sz="3000" dirty="0"/>
          </a:p>
        </p:txBody>
      </p:sp>
      <p:pic>
        <p:nvPicPr>
          <p:cNvPr id="4" name="Image 0" descr="/home/user/PBL-Proj/lightsail/assets/fig-growth.png">    </p:cNvPr>
          <p:cNvPicPr>
            <a:picLocks noChangeAspect="1"/>
          </p:cNvPicPr>
          <p:nvPr/>
        </p:nvPicPr>
        <p:blipFill>
          <a:blip r:embed="rId1"/>
          <a:stretch>
            <a:fillRect/>
          </a:stretch>
        </p:blipFill>
        <p:spPr>
          <a:xfrm>
            <a:off x="566928" y="1481328"/>
            <a:ext cx="11055096" cy="4142232"/>
          </a:xfrm>
          <a:prstGeom prst="rect">
            <a:avLst/>
          </a:prstGeom>
        </p:spPr>
      </p:pic>
      <p:sp>
        <p:nvSpPr>
          <p:cNvPr id="5" name="Text 2"/>
          <p:cNvSpPr/>
          <p:nvPr/>
        </p:nvSpPr>
        <p:spPr>
          <a:xfrm>
            <a:off x="566928" y="5705856"/>
            <a:ext cx="11055096" cy="237744"/>
          </a:xfrm>
          <a:prstGeom prst="rect">
            <a:avLst/>
          </a:prstGeom>
          <a:noFill/>
          <a:ln/>
        </p:spPr>
        <p:txBody>
          <a:bodyPr wrap="square" lIns="0" tIns="0" rIns="0" bIns="0" rtlCol="0" anchor="ctr"/>
          <a:lstStyle/>
          <a:p>
            <a:pPr indent="0" marL="0">
              <a:buNone/>
            </a:pPr>
            <a:r>
              <a:rPr lang="en-US" sz="950" i="1" dirty="0">
                <a:solidFill>
                  <a:srgbClr val="5A6B7B"/>
                </a:solidFill>
                <a:latin typeface="Calibri" pitchFamily="34" charset="0"/>
                <a:ea typeface="Calibri" pitchFamily="34" charset="-122"/>
                <a:cs typeface="Calibri" pitchFamily="34" charset="-120"/>
              </a:rPr>
              <a:t>Figure 6 — The decision boundary, and the built-in migration route across it.</a:t>
            </a:r>
            <a:endParaRPr lang="en-US" sz="950" dirty="0"/>
          </a:p>
        </p:txBody>
      </p:sp>
      <p:sp>
        <p:nvSpPr>
          <p:cNvPr id="6" name="Text 3"/>
          <p:cNvSpPr/>
          <p:nvPr/>
        </p:nvSpPr>
        <p:spPr>
          <a:xfrm>
            <a:off x="566928" y="5998464"/>
            <a:ext cx="11055096" cy="274320"/>
          </a:xfrm>
          <a:prstGeom prst="rect">
            <a:avLst/>
          </a:prstGeom>
          <a:noFill/>
          <a:ln/>
        </p:spPr>
        <p:txBody>
          <a:bodyPr wrap="square" lIns="0" tIns="0" rIns="0" bIns="0" rtlCol="0" anchor="ctr"/>
          <a:lstStyle/>
          <a:p>
            <a:pPr indent="0" marL="0">
              <a:buNone/>
            </a:pPr>
            <a:r>
              <a:rPr lang="en-US" sz="1200" b="1" i="1" dirty="0">
                <a:solidFill>
                  <a:srgbClr val="232F3E"/>
                </a:solidFill>
                <a:latin typeface="Calibri" pitchFamily="34" charset="0"/>
                <a:ea typeface="Calibri" pitchFamily="34" charset="-122"/>
                <a:cs typeface="Calibri" pitchFamily="34" charset="-120"/>
              </a:rPr>
              <a:t>This is the case for Lightsail over an independent VPS: the exit is a supported AWS workflow, not a rebuild elsewhere.</a:t>
            </a:r>
            <a:endParaRPr lang="en-US" sz="1200" dirty="0"/>
          </a:p>
        </p:txBody>
      </p:sp>
      <p:sp>
        <p:nvSpPr>
          <p:cNvPr id="7" name="Text 4"/>
          <p:cNvSpPr/>
          <p:nvPr/>
        </p:nvSpPr>
        <p:spPr>
          <a:xfrm>
            <a:off x="566928" y="6437376"/>
            <a:ext cx="7772400" cy="256032"/>
          </a:xfrm>
          <a:prstGeom prst="rect">
            <a:avLst/>
          </a:prstGeom>
          <a:noFill/>
          <a:ln/>
        </p:spPr>
        <p:txBody>
          <a:bodyPr wrap="square" lIns="0" tIns="0" rIns="0" bIns="0" rtlCol="0" anchor="ctr"/>
          <a:lstStyle/>
          <a:p>
            <a:pPr algn="l" indent="0" marL="0">
              <a:buNone/>
            </a:pPr>
            <a:r>
              <a:rPr lang="en-US" sz="950" dirty="0">
                <a:solidFill>
                  <a:srgbClr val="9AA9B5"/>
                </a:solidFill>
                <a:latin typeface="Calibri" pitchFamily="34" charset="0"/>
                <a:ea typeface="Calibri" pitchFamily="34" charset="-122"/>
                <a:cs typeface="Calibri" pitchFamily="34" charset="-120"/>
              </a:rPr>
              <a:t>Amazon Lightsail (PaaS-Lite)  ·  Hridiyansh Shukla  ·  2427030591</a:t>
            </a:r>
            <a:endParaRPr lang="en-US" sz="950" dirty="0"/>
          </a:p>
        </p:txBody>
      </p:sp>
      <p:sp>
        <p:nvSpPr>
          <p:cNvPr id="8" name="Text 5"/>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950" dirty="0">
                <a:solidFill>
                  <a:srgbClr val="9AA9B5"/>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algn="l" indent="0" marL="0">
              <a:buNone/>
            </a:pPr>
            <a:r>
              <a:rPr lang="en-US" sz="1100" b="1" spc="220" kern="0" dirty="0">
                <a:solidFill>
                  <a:srgbClr val="FF9900"/>
                </a:solidFill>
                <a:latin typeface="Calibri" pitchFamily="34" charset="0"/>
                <a:ea typeface="Calibri" pitchFamily="34" charset="-122"/>
                <a:cs typeface="Calibri" pitchFamily="34" charset="-120"/>
              </a:rPr>
              <a:t>CONCLUSION</a:t>
            </a:r>
            <a:endParaRPr lang="en-US" sz="1100" dirty="0"/>
          </a:p>
        </p:txBody>
      </p:sp>
      <p:sp>
        <p:nvSpPr>
          <p:cNvPr id="3" name="Text 1"/>
          <p:cNvSpPr/>
          <p:nvPr/>
        </p:nvSpPr>
        <p:spPr>
          <a:xfrm>
            <a:off x="566928" y="566928"/>
            <a:ext cx="11057839" cy="50292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Four things worth remembering</a:t>
            </a:r>
            <a:endParaRPr lang="en-US" sz="3000" dirty="0"/>
          </a:p>
        </p:txBody>
      </p:sp>
      <p:sp>
        <p:nvSpPr>
          <p:cNvPr id="4" name="Shape 2"/>
          <p:cNvSpPr/>
          <p:nvPr/>
        </p:nvSpPr>
        <p:spPr>
          <a:xfrm>
            <a:off x="566928" y="1481328"/>
            <a:ext cx="11055096" cy="1078992"/>
          </a:xfrm>
          <a:prstGeom prst="roundRect">
            <a:avLst>
              <a:gd name="adj" fmla="val 6780"/>
            </a:avLst>
          </a:prstGeom>
          <a:solidFill>
            <a:srgbClr val="33475B"/>
          </a:solidFill>
          <a:ln w="12700">
            <a:solidFill>
              <a:srgbClr val="4A5D70"/>
            </a:solidFill>
            <a:prstDash val="solid"/>
          </a:ln>
        </p:spPr>
      </p:sp>
      <p:sp>
        <p:nvSpPr>
          <p:cNvPr id="5" name="Shape 3"/>
          <p:cNvSpPr/>
          <p:nvPr/>
        </p:nvSpPr>
        <p:spPr>
          <a:xfrm>
            <a:off x="841248" y="1764792"/>
            <a:ext cx="512064" cy="512064"/>
          </a:xfrm>
          <a:prstGeom prst="ellipse">
            <a:avLst/>
          </a:prstGeom>
          <a:solidFill>
            <a:srgbClr val="FF9900"/>
          </a:solidFill>
          <a:ln/>
        </p:spPr>
      </p:sp>
      <p:sp>
        <p:nvSpPr>
          <p:cNvPr id="6" name="Text 4"/>
          <p:cNvSpPr/>
          <p:nvPr/>
        </p:nvSpPr>
        <p:spPr>
          <a:xfrm>
            <a:off x="841248" y="1764792"/>
            <a:ext cx="512064" cy="512064"/>
          </a:xfrm>
          <a:prstGeom prst="rect">
            <a:avLst/>
          </a:prstGeom>
          <a:noFill/>
          <a:ln/>
        </p:spPr>
        <p:txBody>
          <a:bodyPr wrap="square" lIns="0" tIns="0" rIns="0" bIns="0" rtlCol="0" anchor="ctr"/>
          <a:lstStyle/>
          <a:p>
            <a:pPr algn="ctr" indent="0" marL="0">
              <a:buNone/>
            </a:pPr>
            <a:r>
              <a:rPr lang="en-US" sz="1900" b="1" dirty="0">
                <a:solidFill>
                  <a:srgbClr val="232F3E"/>
                </a:solidFill>
                <a:latin typeface="Cambria" pitchFamily="34" charset="0"/>
                <a:ea typeface="Cambria" pitchFamily="34" charset="-122"/>
                <a:cs typeface="Cambria" pitchFamily="34" charset="-120"/>
              </a:rPr>
              <a:t>1</a:t>
            </a:r>
            <a:endParaRPr lang="en-US" sz="1900" dirty="0"/>
          </a:p>
        </p:txBody>
      </p:sp>
      <p:sp>
        <p:nvSpPr>
          <p:cNvPr id="7" name="Text 5"/>
          <p:cNvSpPr/>
          <p:nvPr/>
        </p:nvSpPr>
        <p:spPr>
          <a:xfrm>
            <a:off x="1536192" y="1664208"/>
            <a:ext cx="9875520" cy="32918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Lightsail sells predictability, not power</a:t>
            </a:r>
            <a:endParaRPr lang="en-US" sz="1700" dirty="0"/>
          </a:p>
        </p:txBody>
      </p:sp>
      <p:sp>
        <p:nvSpPr>
          <p:cNvPr id="8" name="Text 6"/>
          <p:cNvSpPr/>
          <p:nvPr/>
        </p:nvSpPr>
        <p:spPr>
          <a:xfrm>
            <a:off x="1536192" y="2011680"/>
            <a:ext cx="9875520" cy="438912"/>
          </a:xfrm>
          <a:prstGeom prst="rect">
            <a:avLst/>
          </a:prstGeom>
          <a:noFill/>
          <a:ln/>
        </p:spPr>
        <p:txBody>
          <a:bodyPr wrap="square" lIns="0" tIns="0" rIns="0" bIns="0" rtlCol="0" anchor="ctr"/>
          <a:lstStyle/>
          <a:p>
            <a:pPr indent="0" marL="0">
              <a:buNone/>
            </a:pPr>
            <a:r>
              <a:rPr lang="en-US" sz="1250" dirty="0">
                <a:solidFill>
                  <a:srgbClr val="C4CFD8"/>
                </a:solidFill>
                <a:latin typeface="Calibri" pitchFamily="34" charset="0"/>
                <a:ea typeface="Calibri" pitchFamily="34" charset="-122"/>
                <a:cs typeface="Calibri" pitchFamily="34" charset="-120"/>
              </a:rPr>
              <a:t>The bundle is a price you know before you deploy. Everything else follows from that one commercial decision.</a:t>
            </a:r>
            <a:endParaRPr lang="en-US" sz="1250" dirty="0"/>
          </a:p>
        </p:txBody>
      </p:sp>
      <p:sp>
        <p:nvSpPr>
          <p:cNvPr id="9" name="Shape 7"/>
          <p:cNvSpPr/>
          <p:nvPr/>
        </p:nvSpPr>
        <p:spPr>
          <a:xfrm>
            <a:off x="566928" y="2670048"/>
            <a:ext cx="11055096" cy="1078992"/>
          </a:xfrm>
          <a:prstGeom prst="roundRect">
            <a:avLst>
              <a:gd name="adj" fmla="val 6780"/>
            </a:avLst>
          </a:prstGeom>
          <a:solidFill>
            <a:srgbClr val="33475B"/>
          </a:solidFill>
          <a:ln w="12700">
            <a:solidFill>
              <a:srgbClr val="4A5D70"/>
            </a:solidFill>
            <a:prstDash val="solid"/>
          </a:ln>
        </p:spPr>
      </p:sp>
      <p:sp>
        <p:nvSpPr>
          <p:cNvPr id="10" name="Shape 8"/>
          <p:cNvSpPr/>
          <p:nvPr/>
        </p:nvSpPr>
        <p:spPr>
          <a:xfrm>
            <a:off x="841248" y="2953512"/>
            <a:ext cx="512064" cy="512064"/>
          </a:xfrm>
          <a:prstGeom prst="ellipse">
            <a:avLst/>
          </a:prstGeom>
          <a:solidFill>
            <a:srgbClr val="FF9900"/>
          </a:solidFill>
          <a:ln/>
        </p:spPr>
      </p:sp>
      <p:sp>
        <p:nvSpPr>
          <p:cNvPr id="11" name="Text 9"/>
          <p:cNvSpPr/>
          <p:nvPr/>
        </p:nvSpPr>
        <p:spPr>
          <a:xfrm>
            <a:off x="841248" y="2953512"/>
            <a:ext cx="512064" cy="512064"/>
          </a:xfrm>
          <a:prstGeom prst="rect">
            <a:avLst/>
          </a:prstGeom>
          <a:noFill/>
          <a:ln/>
        </p:spPr>
        <p:txBody>
          <a:bodyPr wrap="square" lIns="0" tIns="0" rIns="0" bIns="0" rtlCol="0" anchor="ctr"/>
          <a:lstStyle/>
          <a:p>
            <a:pPr algn="ctr" indent="0" marL="0">
              <a:buNone/>
            </a:pPr>
            <a:r>
              <a:rPr lang="en-US" sz="1900" b="1" dirty="0">
                <a:solidFill>
                  <a:srgbClr val="232F3E"/>
                </a:solidFill>
                <a:latin typeface="Cambria" pitchFamily="34" charset="0"/>
                <a:ea typeface="Cambria" pitchFamily="34" charset="-122"/>
                <a:cs typeface="Cambria" pitchFamily="34" charset="-120"/>
              </a:rPr>
              <a:t>2</a:t>
            </a:r>
            <a:endParaRPr lang="en-US" sz="1900" dirty="0"/>
          </a:p>
        </p:txBody>
      </p:sp>
      <p:sp>
        <p:nvSpPr>
          <p:cNvPr id="12" name="Text 10"/>
          <p:cNvSpPr/>
          <p:nvPr/>
        </p:nvSpPr>
        <p:spPr>
          <a:xfrm>
            <a:off x="1536192" y="2852928"/>
            <a:ext cx="9875520" cy="32918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It is PaaS-Lite, not PaaS</a:t>
            </a:r>
            <a:endParaRPr lang="en-US" sz="1700" dirty="0"/>
          </a:p>
        </p:txBody>
      </p:sp>
      <p:sp>
        <p:nvSpPr>
          <p:cNvPr id="13" name="Text 11"/>
          <p:cNvSpPr/>
          <p:nvPr/>
        </p:nvSpPr>
        <p:spPr>
          <a:xfrm>
            <a:off x="1536192" y="3200400"/>
            <a:ext cx="9875520" cy="438912"/>
          </a:xfrm>
          <a:prstGeom prst="rect">
            <a:avLst/>
          </a:prstGeom>
          <a:noFill/>
          <a:ln/>
        </p:spPr>
        <p:txBody>
          <a:bodyPr wrap="square" lIns="0" tIns="0" rIns="0" bIns="0" rtlCol="0" anchor="ctr"/>
          <a:lstStyle/>
          <a:p>
            <a:pPr indent="0" marL="0">
              <a:buNone/>
            </a:pPr>
            <a:r>
              <a:rPr lang="en-US" sz="1250" dirty="0">
                <a:solidFill>
                  <a:srgbClr val="C4CFD8"/>
                </a:solidFill>
                <a:latin typeface="Calibri" pitchFamily="34" charset="0"/>
                <a:ea typeface="Calibri" pitchFamily="34" charset="-122"/>
                <a:cs typeface="Calibri" pitchFamily="34" charset="-120"/>
              </a:rPr>
              <a:t>AWS pre-builds the operating system and runtime, then still gives you root. Convenience on day one, control on day two.</a:t>
            </a:r>
            <a:endParaRPr lang="en-US" sz="1250" dirty="0"/>
          </a:p>
        </p:txBody>
      </p:sp>
      <p:sp>
        <p:nvSpPr>
          <p:cNvPr id="14" name="Shape 12"/>
          <p:cNvSpPr/>
          <p:nvPr/>
        </p:nvSpPr>
        <p:spPr>
          <a:xfrm>
            <a:off x="566928" y="3858768"/>
            <a:ext cx="11055096" cy="1078992"/>
          </a:xfrm>
          <a:prstGeom prst="roundRect">
            <a:avLst>
              <a:gd name="adj" fmla="val 6780"/>
            </a:avLst>
          </a:prstGeom>
          <a:solidFill>
            <a:srgbClr val="33475B"/>
          </a:solidFill>
          <a:ln w="12700">
            <a:solidFill>
              <a:srgbClr val="4A5D70"/>
            </a:solidFill>
            <a:prstDash val="solid"/>
          </a:ln>
        </p:spPr>
      </p:sp>
      <p:sp>
        <p:nvSpPr>
          <p:cNvPr id="15" name="Shape 13"/>
          <p:cNvSpPr/>
          <p:nvPr/>
        </p:nvSpPr>
        <p:spPr>
          <a:xfrm>
            <a:off x="841248" y="4142232"/>
            <a:ext cx="512064" cy="512064"/>
          </a:xfrm>
          <a:prstGeom prst="ellipse">
            <a:avLst/>
          </a:prstGeom>
          <a:solidFill>
            <a:srgbClr val="FF9900"/>
          </a:solidFill>
          <a:ln/>
        </p:spPr>
      </p:sp>
      <p:sp>
        <p:nvSpPr>
          <p:cNvPr id="16" name="Text 14"/>
          <p:cNvSpPr/>
          <p:nvPr/>
        </p:nvSpPr>
        <p:spPr>
          <a:xfrm>
            <a:off x="841248" y="4142232"/>
            <a:ext cx="512064" cy="512064"/>
          </a:xfrm>
          <a:prstGeom prst="rect">
            <a:avLst/>
          </a:prstGeom>
          <a:noFill/>
          <a:ln/>
        </p:spPr>
        <p:txBody>
          <a:bodyPr wrap="square" lIns="0" tIns="0" rIns="0" bIns="0" rtlCol="0" anchor="ctr"/>
          <a:lstStyle/>
          <a:p>
            <a:pPr algn="ctr" indent="0" marL="0">
              <a:buNone/>
            </a:pPr>
            <a:r>
              <a:rPr lang="en-US" sz="1900" b="1" dirty="0">
                <a:solidFill>
                  <a:srgbClr val="232F3E"/>
                </a:solidFill>
                <a:latin typeface="Cambria" pitchFamily="34" charset="0"/>
                <a:ea typeface="Cambria" pitchFamily="34" charset="-122"/>
                <a:cs typeface="Cambria" pitchFamily="34" charset="-120"/>
              </a:rPr>
              <a:t>3</a:t>
            </a:r>
            <a:endParaRPr lang="en-US" sz="1900" dirty="0"/>
          </a:p>
        </p:txBody>
      </p:sp>
      <p:sp>
        <p:nvSpPr>
          <p:cNvPr id="17" name="Text 15"/>
          <p:cNvSpPr/>
          <p:nvPr/>
        </p:nvSpPr>
        <p:spPr>
          <a:xfrm>
            <a:off x="1536192" y="4041648"/>
            <a:ext cx="9875520" cy="32918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The saving is in the bandwidth</a:t>
            </a:r>
            <a:endParaRPr lang="en-US" sz="1700" dirty="0"/>
          </a:p>
        </p:txBody>
      </p:sp>
      <p:sp>
        <p:nvSpPr>
          <p:cNvPr id="18" name="Text 16"/>
          <p:cNvSpPr/>
          <p:nvPr/>
        </p:nvSpPr>
        <p:spPr>
          <a:xfrm>
            <a:off x="1536192" y="4389120"/>
            <a:ext cx="9875520" cy="438912"/>
          </a:xfrm>
          <a:prstGeom prst="rect">
            <a:avLst/>
          </a:prstGeom>
          <a:noFill/>
          <a:ln/>
        </p:spPr>
        <p:txBody>
          <a:bodyPr wrap="square" lIns="0" tIns="0" rIns="0" bIns="0" rtlCol="0" anchor="ctr"/>
          <a:lstStyle/>
          <a:p>
            <a:pPr indent="0" marL="0">
              <a:buNone/>
            </a:pPr>
            <a:r>
              <a:rPr lang="en-US" sz="1250" dirty="0">
                <a:solidFill>
                  <a:srgbClr val="C4CFD8"/>
                </a:solidFill>
                <a:latin typeface="Calibri" pitchFamily="34" charset="0"/>
                <a:ea typeface="Calibri" pitchFamily="34" charset="-122"/>
                <a:cs typeface="Calibri" pitchFamily="34" charset="-120"/>
              </a:rPr>
              <a:t>Compute is competitively priced; the included data-transfer allowance is where the fixed model genuinely pays.</a:t>
            </a:r>
            <a:endParaRPr lang="en-US" sz="1250" dirty="0"/>
          </a:p>
        </p:txBody>
      </p:sp>
      <p:sp>
        <p:nvSpPr>
          <p:cNvPr id="19" name="Shape 17"/>
          <p:cNvSpPr/>
          <p:nvPr/>
        </p:nvSpPr>
        <p:spPr>
          <a:xfrm>
            <a:off x="566928" y="5047488"/>
            <a:ext cx="11055096" cy="1078992"/>
          </a:xfrm>
          <a:prstGeom prst="roundRect">
            <a:avLst>
              <a:gd name="adj" fmla="val 6780"/>
            </a:avLst>
          </a:prstGeom>
          <a:solidFill>
            <a:srgbClr val="33475B"/>
          </a:solidFill>
          <a:ln w="12700">
            <a:solidFill>
              <a:srgbClr val="4A5D70"/>
            </a:solidFill>
            <a:prstDash val="solid"/>
          </a:ln>
        </p:spPr>
      </p:sp>
      <p:sp>
        <p:nvSpPr>
          <p:cNvPr id="20" name="Shape 18"/>
          <p:cNvSpPr/>
          <p:nvPr/>
        </p:nvSpPr>
        <p:spPr>
          <a:xfrm>
            <a:off x="841248" y="5330952"/>
            <a:ext cx="512064" cy="512064"/>
          </a:xfrm>
          <a:prstGeom prst="ellipse">
            <a:avLst/>
          </a:prstGeom>
          <a:solidFill>
            <a:srgbClr val="FF9900"/>
          </a:solidFill>
          <a:ln/>
        </p:spPr>
      </p:sp>
      <p:sp>
        <p:nvSpPr>
          <p:cNvPr id="21" name="Text 19"/>
          <p:cNvSpPr/>
          <p:nvPr/>
        </p:nvSpPr>
        <p:spPr>
          <a:xfrm>
            <a:off x="841248" y="5330952"/>
            <a:ext cx="512064" cy="512064"/>
          </a:xfrm>
          <a:prstGeom prst="rect">
            <a:avLst/>
          </a:prstGeom>
          <a:noFill/>
          <a:ln/>
        </p:spPr>
        <p:txBody>
          <a:bodyPr wrap="square" lIns="0" tIns="0" rIns="0" bIns="0" rtlCol="0" anchor="ctr"/>
          <a:lstStyle/>
          <a:p>
            <a:pPr algn="ctr" indent="0" marL="0">
              <a:buNone/>
            </a:pPr>
            <a:r>
              <a:rPr lang="en-US" sz="1900" b="1" dirty="0">
                <a:solidFill>
                  <a:srgbClr val="232F3E"/>
                </a:solidFill>
                <a:latin typeface="Cambria" pitchFamily="34" charset="0"/>
                <a:ea typeface="Cambria" pitchFamily="34" charset="-122"/>
                <a:cs typeface="Cambria" pitchFamily="34" charset="-120"/>
              </a:rPr>
              <a:t>4</a:t>
            </a:r>
            <a:endParaRPr lang="en-US" sz="1900" dirty="0"/>
          </a:p>
        </p:txBody>
      </p:sp>
      <p:sp>
        <p:nvSpPr>
          <p:cNvPr id="22" name="Text 20"/>
          <p:cNvSpPr/>
          <p:nvPr/>
        </p:nvSpPr>
        <p:spPr>
          <a:xfrm>
            <a:off x="1536192" y="5230368"/>
            <a:ext cx="9875520" cy="32918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Its limits are its exit signs</a:t>
            </a:r>
            <a:endParaRPr lang="en-US" sz="1700" dirty="0"/>
          </a:p>
        </p:txBody>
      </p:sp>
      <p:sp>
        <p:nvSpPr>
          <p:cNvPr id="23" name="Text 21"/>
          <p:cNvSpPr/>
          <p:nvPr/>
        </p:nvSpPr>
        <p:spPr>
          <a:xfrm>
            <a:off x="1536192" y="5577840"/>
            <a:ext cx="9875520" cy="438912"/>
          </a:xfrm>
          <a:prstGeom prst="rect">
            <a:avLst/>
          </a:prstGeom>
          <a:noFill/>
          <a:ln/>
        </p:spPr>
        <p:txBody>
          <a:bodyPr wrap="square" lIns="0" tIns="0" rIns="0" bIns="0" rtlCol="0" anchor="ctr"/>
          <a:lstStyle/>
          <a:p>
            <a:pPr indent="0" marL="0">
              <a:buNone/>
            </a:pPr>
            <a:r>
              <a:rPr lang="en-US" sz="1250" dirty="0">
                <a:solidFill>
                  <a:srgbClr val="C4CFD8"/>
                </a:solidFill>
                <a:latin typeface="Calibri" pitchFamily="34" charset="0"/>
                <a:ea typeface="Calibri" pitchFamily="34" charset="-122"/>
                <a:cs typeface="Calibri" pitchFamily="34" charset="-120"/>
              </a:rPr>
              <a:t>No auto scaling, no Savings Plans, coarse IAM. When those start to hurt, snapshot and export to EC2.</a:t>
            </a:r>
            <a:endParaRPr lang="en-US" sz="1250" dirty="0"/>
          </a:p>
        </p:txBody>
      </p:sp>
      <p:sp>
        <p:nvSpPr>
          <p:cNvPr id="24" name="Text 22"/>
          <p:cNvSpPr/>
          <p:nvPr/>
        </p:nvSpPr>
        <p:spPr>
          <a:xfrm>
            <a:off x="566928" y="6144768"/>
            <a:ext cx="11055096" cy="365760"/>
          </a:xfrm>
          <a:prstGeom prst="rect">
            <a:avLst/>
          </a:prstGeom>
          <a:noFill/>
          <a:ln/>
        </p:spPr>
        <p:txBody>
          <a:bodyPr wrap="square" lIns="0" tIns="0" rIns="0" bIns="0" rtlCol="0" anchor="ctr"/>
          <a:lstStyle/>
          <a:p>
            <a:pPr algn="ctr" indent="0" marL="0">
              <a:buNone/>
            </a:pPr>
            <a:r>
              <a:rPr lang="en-US" sz="1800" b="1" i="1" dirty="0">
                <a:solidFill>
                  <a:srgbClr val="FF9900"/>
                </a:solidFill>
                <a:latin typeface="Cambria" pitchFamily="34" charset="0"/>
                <a:ea typeface="Cambria" pitchFamily="34" charset="-122"/>
                <a:cs typeface="Cambria" pitchFamily="34" charset="-120"/>
              </a:rPr>
              <a:t>Thank you  ·  Questions welcome</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algn="l" indent="0" marL="0">
              <a:buNone/>
            </a:pPr>
            <a:r>
              <a:rPr lang="en-US" sz="1100" b="1" spc="220" kern="0" dirty="0">
                <a:solidFill>
                  <a:srgbClr val="FF9900"/>
                </a:solidFill>
                <a:latin typeface="Calibri" pitchFamily="34" charset="0"/>
                <a:ea typeface="Calibri" pitchFamily="34" charset="-122"/>
                <a:cs typeface="Calibri" pitchFamily="34" charset="-120"/>
              </a:rPr>
              <a:t>SOURCES</a:t>
            </a:r>
            <a:endParaRPr lang="en-US" sz="1100" dirty="0"/>
          </a:p>
        </p:txBody>
      </p:sp>
      <p:sp>
        <p:nvSpPr>
          <p:cNvPr id="3" name="Text 1"/>
          <p:cNvSpPr/>
          <p:nvPr/>
        </p:nvSpPr>
        <p:spPr>
          <a:xfrm>
            <a:off x="566928" y="566928"/>
            <a:ext cx="11057839" cy="50292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References</a:t>
            </a:r>
            <a:endParaRPr lang="en-US" sz="3000" dirty="0"/>
          </a:p>
        </p:txBody>
      </p:sp>
      <p:sp>
        <p:nvSpPr>
          <p:cNvPr id="4" name="Text 2"/>
          <p:cNvSpPr/>
          <p:nvPr/>
        </p:nvSpPr>
        <p:spPr>
          <a:xfrm>
            <a:off x="566928" y="1060704"/>
            <a:ext cx="11057839" cy="274320"/>
          </a:xfrm>
          <a:prstGeom prst="rect">
            <a:avLst/>
          </a:prstGeom>
          <a:noFill/>
          <a:ln/>
        </p:spPr>
        <p:txBody>
          <a:bodyPr wrap="square" lIns="0" tIns="0" rIns="0" bIns="0" rtlCol="0" anchor="ctr"/>
          <a:lstStyle/>
          <a:p>
            <a:pPr algn="l" indent="0" marL="0">
              <a:buNone/>
            </a:pPr>
            <a:r>
              <a:rPr lang="en-US" sz="1350" i="1" dirty="0">
                <a:solidFill>
                  <a:srgbClr val="5A6B7B"/>
                </a:solidFill>
                <a:latin typeface="Calibri" pitchFamily="34" charset="0"/>
                <a:ea typeface="Calibri" pitchFamily="34" charset="-122"/>
                <a:cs typeface="Calibri" pitchFamily="34" charset="-120"/>
              </a:rPr>
              <a:t>All pricing and feature claims verified against these sources in August 2026.</a:t>
            </a:r>
            <a:endParaRPr lang="en-US" sz="1350" dirty="0"/>
          </a:p>
        </p:txBody>
      </p:sp>
      <p:sp>
        <p:nvSpPr>
          <p:cNvPr id="5" name="Text 3"/>
          <p:cNvSpPr/>
          <p:nvPr/>
        </p:nvSpPr>
        <p:spPr>
          <a:xfrm>
            <a:off x="566928" y="1737360"/>
            <a:ext cx="11055096" cy="4206240"/>
          </a:xfrm>
          <a:prstGeom prst="rect">
            <a:avLst/>
          </a:prstGeom>
          <a:noFill/>
          <a:ln/>
        </p:spPr>
        <p:txBody>
          <a:bodyPr wrap="square" lIns="0" tIns="0" rIns="0" bIns="0" rtlCol="0" anchor="ctr"/>
          <a:lstStyle/>
          <a:p>
            <a:pPr marL="342900" indent="-342900">
              <a:lnSpc>
                <a:spcPct val="106000"/>
              </a:lnSpc>
              <a:spcAft>
                <a:spcPts val="600"/>
              </a:spcAft>
              <a:buSzPct val="100000"/>
              <a:buFont typeface="+mj-lt"/>
              <a:buAutoNum type="arabicPeriod" startAt="1"/>
            </a:pPr>
            <a:r>
              <a:rPr lang="en-US" sz="1150" dirty="0">
                <a:solidFill>
                  <a:srgbClr val="232F3E"/>
                </a:solidFill>
                <a:latin typeface="Calibri" pitchFamily="34" charset="0"/>
                <a:ea typeface="Calibri" pitchFamily="34" charset="-122"/>
                <a:cs typeface="Calibri" pitchFamily="34" charset="-120"/>
              </a:rPr>
              <a:t>Amazon Web Services. Amazon Lightsail — Pricing. aws.amazon.com/lightsail/pricing</a:t>
            </a:r>
            <a:endParaRPr lang="en-US" sz="1150" dirty="0"/>
          </a:p>
          <a:p>
            <a:pPr marL="342900" indent="-342900">
              <a:lnSpc>
                <a:spcPct val="106000"/>
              </a:lnSpc>
              <a:spcAft>
                <a:spcPts val="600"/>
              </a:spcAft>
              <a:buSzPct val="100000"/>
              <a:buFont typeface="+mj-lt"/>
              <a:buAutoNum type="arabicPeriod" startAt="1"/>
            </a:pPr>
            <a:r>
              <a:rPr lang="en-US" sz="1150" dirty="0">
                <a:solidFill>
                  <a:srgbClr val="232F3E"/>
                </a:solidFill>
                <a:latin typeface="Calibri" pitchFamily="34" charset="0"/>
                <a:ea typeface="Calibri" pitchFamily="34" charset="-122"/>
                <a:cs typeface="Calibri" pitchFamily="34" charset="-120"/>
              </a:rPr>
              <a:t>Amazon Web Services. Amazon Lightsail User Guide: instance bundles, blueprints, buckets, container services, and account quotas. docs.aws.amazon.com/lightsail</a:t>
            </a:r>
            <a:endParaRPr lang="en-US" sz="1150" dirty="0"/>
          </a:p>
          <a:p>
            <a:pPr marL="342900" indent="-342900">
              <a:lnSpc>
                <a:spcPct val="106000"/>
              </a:lnSpc>
              <a:spcAft>
                <a:spcPts val="600"/>
              </a:spcAft>
              <a:buSzPct val="100000"/>
              <a:buFont typeface="+mj-lt"/>
              <a:buAutoNum type="arabicPeriod" startAt="1"/>
            </a:pPr>
            <a:r>
              <a:rPr lang="en-US" sz="1150" dirty="0">
                <a:solidFill>
                  <a:srgbClr val="232F3E"/>
                </a:solidFill>
                <a:latin typeface="Calibri" pitchFamily="34" charset="0"/>
                <a:ea typeface="Calibri" pitchFamily="34" charset="-122"/>
                <a:cs typeface="Calibri" pitchFamily="34" charset="-120"/>
              </a:rPr>
              <a:t>Amazon Web Services. “Announcing memory-optimized instance bundles for Amazon Lightsail”, What's New, 2 February 2026.</a:t>
            </a:r>
            <a:endParaRPr lang="en-US" sz="1150" dirty="0"/>
          </a:p>
          <a:p>
            <a:pPr marL="342900" indent="-342900">
              <a:lnSpc>
                <a:spcPct val="106000"/>
              </a:lnSpc>
              <a:spcAft>
                <a:spcPts val="600"/>
              </a:spcAft>
              <a:buSzPct val="100000"/>
              <a:buFont typeface="+mj-lt"/>
              <a:buAutoNum type="arabicPeriod" startAt="1"/>
            </a:pPr>
            <a:r>
              <a:rPr lang="en-US" sz="1150" dirty="0">
                <a:solidFill>
                  <a:srgbClr val="232F3E"/>
                </a:solidFill>
                <a:latin typeface="Calibri" pitchFamily="34" charset="0"/>
                <a:ea typeface="Calibri" pitchFamily="34" charset="-122"/>
                <a:cs typeface="Calibri" pitchFamily="34" charset="-120"/>
              </a:rPr>
              <a:t>Amazon Web Services. “Announcing compute-optimized instance bundles for Amazon Lightsail”, What's New, April 2026.</a:t>
            </a:r>
            <a:endParaRPr lang="en-US" sz="1150" dirty="0"/>
          </a:p>
          <a:p>
            <a:pPr marL="342900" indent="-342900">
              <a:lnSpc>
                <a:spcPct val="106000"/>
              </a:lnSpc>
              <a:spcAft>
                <a:spcPts val="600"/>
              </a:spcAft>
              <a:buSzPct val="100000"/>
              <a:buFont typeface="+mj-lt"/>
              <a:buAutoNum type="arabicPeriod" startAt="1"/>
            </a:pPr>
            <a:r>
              <a:rPr lang="en-US" sz="1150" dirty="0">
                <a:solidFill>
                  <a:srgbClr val="232F3E"/>
                </a:solidFill>
                <a:latin typeface="Calibri" pitchFamily="34" charset="0"/>
                <a:ea typeface="Calibri" pitchFamily="34" charset="-122"/>
                <a:cs typeface="Calibri" pitchFamily="34" charset="-120"/>
              </a:rPr>
              <a:t>Amazon Web Services. “Amazon Lightsail expands blueprint selection with updated support for Node.js, LAMP and Ruby on Rails blueprints”, What's New, January 2026.</a:t>
            </a:r>
            <a:endParaRPr lang="en-US" sz="1150" dirty="0"/>
          </a:p>
          <a:p>
            <a:pPr marL="342900" indent="-342900">
              <a:lnSpc>
                <a:spcPct val="106000"/>
              </a:lnSpc>
              <a:spcAft>
                <a:spcPts val="600"/>
              </a:spcAft>
              <a:buSzPct val="100000"/>
              <a:buFont typeface="+mj-lt"/>
              <a:buAutoNum type="arabicPeriod" startAt="1"/>
            </a:pPr>
            <a:r>
              <a:rPr lang="en-US" sz="1150" dirty="0">
                <a:solidFill>
                  <a:srgbClr val="232F3E"/>
                </a:solidFill>
                <a:latin typeface="Calibri" pitchFamily="34" charset="0"/>
                <a:ea typeface="Calibri" pitchFamily="34" charset="-122"/>
                <a:cs typeface="Calibri" pitchFamily="34" charset="-120"/>
              </a:rPr>
              <a:t>Amazon Web Services. “Amazon Lightsail is now available in three additional AWS Regions”, What's New, June 2026.</a:t>
            </a:r>
            <a:endParaRPr lang="en-US" sz="1150" dirty="0"/>
          </a:p>
          <a:p>
            <a:pPr marL="342900" indent="-342900">
              <a:lnSpc>
                <a:spcPct val="106000"/>
              </a:lnSpc>
              <a:spcAft>
                <a:spcPts val="600"/>
              </a:spcAft>
              <a:buSzPct val="100000"/>
              <a:buFont typeface="+mj-lt"/>
              <a:buAutoNum type="arabicPeriod" startAt="1"/>
            </a:pPr>
            <a:r>
              <a:rPr lang="en-US" sz="1150" dirty="0">
                <a:solidFill>
                  <a:srgbClr val="232F3E"/>
                </a:solidFill>
                <a:latin typeface="Calibri" pitchFamily="34" charset="0"/>
                <a:ea typeface="Calibri" pitchFamily="34" charset="-122"/>
                <a:cs typeface="Calibri" pitchFamily="34" charset="-120"/>
              </a:rPr>
              <a:t>Amazon Web Services. Lightsail documentation: “Blueprints packaged by Bitnami” — deprecation schedule, 2026–2027.</a:t>
            </a:r>
            <a:endParaRPr lang="en-US" sz="1150" dirty="0"/>
          </a:p>
          <a:p>
            <a:pPr marL="342900" indent="-342900">
              <a:lnSpc>
                <a:spcPct val="106000"/>
              </a:lnSpc>
              <a:spcAft>
                <a:spcPts val="600"/>
              </a:spcAft>
              <a:buSzPct val="100000"/>
              <a:buFont typeface="+mj-lt"/>
              <a:buAutoNum type="arabicPeriod" startAt="1"/>
            </a:pPr>
            <a:r>
              <a:rPr lang="en-US" sz="1150" dirty="0">
                <a:solidFill>
                  <a:srgbClr val="232F3E"/>
                </a:solidFill>
                <a:latin typeface="Calibri" pitchFamily="34" charset="0"/>
                <a:ea typeface="Calibri" pitchFamily="34" charset="-122"/>
                <a:cs typeface="Calibri" pitchFamily="34" charset="-120"/>
              </a:rPr>
              <a:t>Amazon Web Services. Lightsail documentation: “Export Lightsail snapshots to Amazon EC2” and the Upgrade to EC2 wizard.</a:t>
            </a:r>
            <a:endParaRPr lang="en-US" sz="1150" dirty="0"/>
          </a:p>
          <a:p>
            <a:pPr marL="342900" indent="-342900">
              <a:lnSpc>
                <a:spcPct val="106000"/>
              </a:lnSpc>
              <a:spcAft>
                <a:spcPts val="600"/>
              </a:spcAft>
              <a:buSzPct val="100000"/>
              <a:buFont typeface="+mj-lt"/>
              <a:buAutoNum type="arabicPeriod" startAt="1"/>
            </a:pPr>
            <a:r>
              <a:rPr lang="en-US" sz="1150" dirty="0">
                <a:solidFill>
                  <a:srgbClr val="232F3E"/>
                </a:solidFill>
                <a:latin typeface="Calibri" pitchFamily="34" charset="0"/>
                <a:ea typeface="Calibri" pitchFamily="34" charset="-122"/>
                <a:cs typeface="Calibri" pitchFamily="34" charset="-120"/>
              </a:rPr>
              <a:t>AWS re:Post. “Compare Amazon EC2 and Amazon Lightsail”, AWS Knowledge Center.</a:t>
            </a:r>
            <a:endParaRPr lang="en-US" sz="1150" dirty="0"/>
          </a:p>
          <a:p>
            <a:pPr marL="342900" indent="-342900">
              <a:lnSpc>
                <a:spcPct val="106000"/>
              </a:lnSpc>
              <a:spcAft>
                <a:spcPts val="600"/>
              </a:spcAft>
              <a:buSzPct val="100000"/>
              <a:buFont typeface="+mj-lt"/>
              <a:buAutoNum type="arabicPeriod" startAt="1"/>
            </a:pPr>
            <a:r>
              <a:rPr lang="en-US" sz="1150" dirty="0">
                <a:solidFill>
                  <a:srgbClr val="232F3E"/>
                </a:solidFill>
                <a:latin typeface="Calibri" pitchFamily="34" charset="0"/>
                <a:ea typeface="Calibri" pitchFamily="34" charset="-122"/>
                <a:cs typeface="Calibri" pitchFamily="34" charset="-120"/>
              </a:rPr>
              <a:t>Amazon Web Services. Amazon EC2 On-Demand Pricing and Amazon EBS Pricing, us-east-1 (used for the Figure 3 cost model).</a:t>
            </a:r>
            <a:endParaRPr lang="en-US" sz="1150" dirty="0"/>
          </a:p>
          <a:p>
            <a:pPr marL="342900" indent="-342900">
              <a:lnSpc>
                <a:spcPct val="106000"/>
              </a:lnSpc>
              <a:spcAft>
                <a:spcPts val="600"/>
              </a:spcAft>
              <a:buSzPct val="100000"/>
              <a:buFont typeface="+mj-lt"/>
              <a:buAutoNum type="arabicPeriod" startAt="1"/>
            </a:pPr>
            <a:r>
              <a:rPr lang="en-US" sz="1150" dirty="0">
                <a:solidFill>
                  <a:srgbClr val="232F3E"/>
                </a:solidFill>
                <a:latin typeface="Calibri" pitchFamily="34" charset="0"/>
                <a:ea typeface="Calibri" pitchFamily="34" charset="-122"/>
                <a:cs typeface="Calibri" pitchFamily="34" charset="-120"/>
              </a:rPr>
              <a:t>DigitalOcean, Akamai (Linode), Heroku and Microsoft Azure published price lists, consulted August 2026 for Slide 14.</a:t>
            </a:r>
            <a:endParaRPr lang="en-US" sz="1150" dirty="0"/>
          </a:p>
        </p:txBody>
      </p:sp>
      <p:sp>
        <p:nvSpPr>
          <p:cNvPr id="6" name="Text 4"/>
          <p:cNvSpPr/>
          <p:nvPr/>
        </p:nvSpPr>
        <p:spPr>
          <a:xfrm>
            <a:off x="566928" y="6053328"/>
            <a:ext cx="11055096" cy="292608"/>
          </a:xfrm>
          <a:prstGeom prst="rect">
            <a:avLst/>
          </a:prstGeom>
          <a:noFill/>
          <a:ln/>
        </p:spPr>
        <p:txBody>
          <a:bodyPr wrap="square" lIns="0" tIns="0" rIns="0" bIns="0" rtlCol="0" anchor="ctr"/>
          <a:lstStyle/>
          <a:p>
            <a:pPr algn="ctr" indent="0" marL="0">
              <a:buNone/>
            </a:pPr>
            <a:r>
              <a:rPr lang="en-US" sz="1150" i="1" dirty="0">
                <a:solidFill>
                  <a:srgbClr val="5A6B7B"/>
                </a:solidFill>
                <a:latin typeface="Calibri" pitchFamily="34" charset="0"/>
                <a:ea typeface="Calibri" pitchFamily="34" charset="-122"/>
                <a:cs typeface="Calibri" pitchFamily="34" charset="-120"/>
              </a:rPr>
              <a:t>Prepared by Hridiyansh Shukla  ·  Registration No. 2427030591  ·  August 2026</a:t>
            </a:r>
            <a:endParaRPr lang="en-US" sz="1150" dirty="0"/>
          </a:p>
        </p:txBody>
      </p:sp>
      <p:sp>
        <p:nvSpPr>
          <p:cNvPr id="7" name="Text 5"/>
          <p:cNvSpPr/>
          <p:nvPr/>
        </p:nvSpPr>
        <p:spPr>
          <a:xfrm>
            <a:off x="566928" y="6437376"/>
            <a:ext cx="7772400" cy="256032"/>
          </a:xfrm>
          <a:prstGeom prst="rect">
            <a:avLst/>
          </a:prstGeom>
          <a:noFill/>
          <a:ln/>
        </p:spPr>
        <p:txBody>
          <a:bodyPr wrap="square" lIns="0" tIns="0" rIns="0" bIns="0" rtlCol="0" anchor="ctr"/>
          <a:lstStyle/>
          <a:p>
            <a:pPr algn="l" indent="0" marL="0">
              <a:buNone/>
            </a:pPr>
            <a:r>
              <a:rPr lang="en-US" sz="950" dirty="0">
                <a:solidFill>
                  <a:srgbClr val="9AA9B5"/>
                </a:solidFill>
                <a:latin typeface="Calibri" pitchFamily="34" charset="0"/>
                <a:ea typeface="Calibri" pitchFamily="34" charset="-122"/>
                <a:cs typeface="Calibri" pitchFamily="34" charset="-120"/>
              </a:rPr>
              <a:t>Amazon Lightsail (PaaS-Lite)  ·  Hridiyansh Shukla  ·  2427030591</a:t>
            </a:r>
            <a:endParaRPr lang="en-US" sz="950" dirty="0"/>
          </a:p>
        </p:txBody>
      </p:sp>
      <p:sp>
        <p:nvSpPr>
          <p:cNvPr id="8" name="Text 6"/>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950" dirty="0">
                <a:solidFill>
                  <a:srgbClr val="9AA9B5"/>
                </a:solidFill>
                <a:latin typeface="Calibri" pitchFamily="34" charset="0"/>
                <a:ea typeface="Calibri" pitchFamily="34" charset="-122"/>
                <a:cs typeface="Calibri" pitchFamily="34" charset="-120"/>
              </a:rPr>
              <a:t>20</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Reg. No. 2427030591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Amazon Lightsail (PaaS-Lite) — Cloud Infrastructure</dc:title>
  <dc:subject>PptxGenJS Presentation</dc:subject>
  <dc:creator>Hridiyansh Shukla</dc:creator>
  <cp:lastModifiedBy>Hridiyansh Shukla</cp:lastModifiedBy>
  <cp:revision>1</cp:revision>
  <dcterms:created xsi:type="dcterms:W3CDTF">2026-08-17T19:32:06Z</dcterms:created>
  <dcterms:modified xsi:type="dcterms:W3CDTF">2026-08-17T19:32:06Z</dcterms:modified>
</cp:coreProperties>
</file>